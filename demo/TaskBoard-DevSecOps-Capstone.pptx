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043cffe-dbd8-8bb0-e7d6-f529f65beec9}">
          <p14:sldIdLst>
            <p14:sldId id="256"/>
            <p14:sldId id="257"/>
          </p14:sldIdLst>
        </p14:section>
        <p14:section name="Application" id="{31c6d1f9-f7d1-d43e-5826-28fe3738fec0}">
          <p14:sldIdLst>
            <p14:sldId id="258"/>
            <p14:sldId id="259"/>
          </p14:sldIdLst>
        </p14:section>
        <p14:section name="Architecture" id="{f4b56cba-cf8e-7861-41c9-0f9b5b7a406d}">
          <p14:sldIdLst>
            <p14:sldId id="260"/>
          </p14:sldIdLst>
        </p14:section>
        <p14:section name="Pipeline" id="{a448d9ec-ff34-935f-dc28-3e34cd0c05fb}">
          <p14:sldIdLst>
            <p14:sldId id="261"/>
            <p14:sldId id="262"/>
            <p14:sldId id="263"/>
          </p14:sldIdLst>
        </p14:section>
        <p14:section name="Infrastructure" id="{9194fbf2-f2fe-9022-58ed-d1e1f94456ff}">
          <p14:sldIdLst>
            <p14:sldId id="264"/>
            <p14:sldId id="265"/>
            <p14:sldId id="266"/>
            <p14:sldId id="267"/>
          </p14:sldIdLst>
        </p14:section>
        <p14:section name="Operations" id="{bf80f5dd-01bc-e87a-6e7a-9f55214b52d9}">
          <p14:sldIdLst>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goal: not a tool tour, but one real application carried through every DevOps layer — tests, containers, CI/CD, security scanning, infrastructure as code, Kubernetes, GitOps and monitoring. Everything you will see in the demo is automated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summarise the project. 16 automated tests gate every build. Both images are free of fixable high and critical vulnerabilities. Terraform plans 61 AWS resources. And under a load test the autoscaler really did scale the API from 2 to 4 pods.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dashboard: KPI cards from the stats endpoint, the filterable task table, advancing status with PUT, deleting with DELETE, creating with the modal. On the right are the REST endpoints — more than the four required. The table is created by an Alembic migration; because every pod runs migrations at start-up, I added a Postgres advisory lock so two pods starting together queue instead of racing.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grouped by job. Everything is pinned: Python and npm dependencies, base images, Terraform providers via the lock file, and the Trivy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delivery chain from a git push to an image in GHCR tagged with the commit SHA. Right: what Terraform builds in AWS — a VPC with public and private subnets and an EKS cluster. Inside, Traefik routes slash to the React frontend and slash-api to FastAPI; FastAPI talks to PostgreSQL on an EBS volume. Prometheus scrapes the API's metrics and Grafana visualises them. Argo CD keeps the cluster in sync with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Stage one is the quality gate. Stage two builds each image once, scans it with Trivy and only then pushes to GHCR — pull requests run this without pushing. Stage three proves the Helm chart actually deploys: a throwaway kind cluster pulls the new images and a smoke test exercises create, read, update and delete. Stage four records the new tag in Git so Argo CD rolls it out. Tags are the commit SHA, so every running pod is traceable to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CVE explanation the rubric asks for. The first scan failed: four high findings in the backend and forty-four in the frontend. The backend ones were urllib3, msgpack and setuptools — but they live inside pip's own vendored copy, not in our application. Since the API never installs anything at runtime, the right fix was to remove pip from the runtime image. The frontend findings were Alpine packages that already had fixes, so upgrading packages in the runtime stage cleared them. Both images now pass with zero fixable high or critical vulnerabilities. Also: an older Trivy reported a phantom pcre2 issue that wasn't in the image — keep scanners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Dockerfiles are multi-stage, so build tooling never ships. Both run as non-root users; the frontend uses the unprivileged Nginx image listening on 8080 so it doesn't need root to bind a port. Compose starts services in order using health checks, so the backend never runs migrations against a database that isn't accepting connections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creates the VPC with two public and two private subnets across two availability zones, a NAT gateway, and an EKS cluster with a managed node group. The original code would not have worked: the HCL was not even parseable, and EKS 1.31 is no longer offered. I also added the EBS CSI driver — without it the database volume never binds — and metrics-server for the autoscaler. terraform plan shows 61 resources. Credentials come from the AWS CLI, never from files, and terraform destroy tears it all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Helm chart deploys backend, frontend and Postgres with ClusterIP services, an Ingress that routes slash to the frontend and slash-api to the backend, and an autoscaler. Values files switch between local k3d, dev and production. Pods run hardened under Pod Security Admission. Two subtle fixes: Postgres uses the Recreate strategy because a ReadWriteOnce volume can't be attached to two pods during a rolling update, and the backend Deployment omits replicas while the HPA is on, so Helm and Argo CD don't fight the autoscaler. I used Traefik because the community ingress-nginx project was retired in March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never runs kubectl against production. It records the new image tag in Git, and Argo CD, running inside the cluster, pulls that change and applies it. Self-heal reverts manual drift, prune removes deleted resources, and rollback is just a git revert. Show the Argo CD UI: the application is Synced and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evidence from the public repo: the first pipeline run with every stage green, and Argo CD synced to the commit the pipeline wrote. The image tag in GHCR is the commit SHA. Self-heal was tested by scaling a deployment by hand; Argo CD put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A ServiceMonitor in the Helm chart tells the Prometheus Operator to scrape every backend pod — when the autoscaler added pods, they appeared as targets automatically. The Grafana dashboard is code inside the chart, loaded by Grafana's sidecar. During the demo, run the load test and watch request rate and latency move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HPA events from the local cluster. Under the load test, CPU crossed the 60 percent target and the autoscaler added a third and then a fourth backend pod. Show kubectl get hpa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repository looked complete but would not have run end to end. These are twelve concrete defects I found by actually running every layer, each with its fix. Pick two or three to tell as stories — for example the init container that waited forever because the container user had no passwd entry, or the React modal that never closed because the event's currentTarget is cleared after an await.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I'd take to a real team, and what I'd do next to make this production-grade.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walkthrough in this order: push a commit and show the Actions run, then terraform plan and the AWS console, Argo CD, kubectl, Prometheus targets and Grafana with the load test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0182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658368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429000"/>
            <a:ext cx="6035040" cy="12801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TaskBoard · DevSecOps Capstone · Krish Jaiswal</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slideLayout" Target="../slideLayouts/slideLayout3.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6583680" cy="1371600"/>
          </a:xfrm>
          <a:prstGeom prst="rect">
            <a:avLst/>
          </a:prstGeom>
          <a:noFill/>
          <a:ln/>
        </p:spPr>
        <p:txBody>
          <a:bodyPr wrap="square" lIns="0" tIns="0" rIns="0" bIns="0" rtlCol="0" anchor="b"/>
          <a:lstStyle/>
          <a:p>
            <a:pPr algn="l" indent="0" marL="0">
              <a:buNone/>
            </a:pPr>
            <a:r>
              <a:rPr lang="en-US" sz="5400" b="1" dirty="0">
                <a:solidFill>
                  <a:schemeClr val="bg1"/>
                </a:solidFill>
              </a:rPr>
              <a:t>TaskBoard</a:t>
            </a:r>
            <a:endParaRPr lang="en-US" sz="5400" dirty="0"/>
          </a:p>
        </p:txBody>
      </p:sp>
      <p:sp>
        <p:nvSpPr>
          <p:cNvPr id="3" name="Text 0"/>
          <p:cNvSpPr/>
          <p:nvPr>
            <p:ph idx="101" type="body" hasCustomPrompt="1"/>
          </p:nvPr>
        </p:nvSpPr>
        <p:spPr>
          <a:xfrm>
            <a:off x="548640" y="3429000"/>
            <a:ext cx="6035040" cy="1280160"/>
          </a:xfrm>
          <a:prstGeom prst="rect">
            <a:avLst/>
          </a:prstGeom>
          <a:noFill/>
          <a:ln/>
        </p:spPr>
        <p:txBody>
          <a:bodyPr wrap="square" lIns="0" tIns="0" rIns="0" bIns="0" rtlCol="0" anchor="t"/>
          <a:lstStyle/>
          <a:p>
            <a:pPr algn="l" indent="0" marL="0">
              <a:buNone/>
            </a:pPr>
            <a:r>
              <a:rPr lang="en-US" sz="2000" dirty="0">
                <a:solidFill>
                  <a:schemeClr val="accent6"/>
                </a:solidFill>
              </a:rPr>
              <a:t>Shipping a full-stack app from a laptop to a secured, monitored, autoscaled Kubernetes cluster on AWS</a:t>
            </a:r>
            <a:endParaRPr lang="en-US" sz="2000" dirty="0"/>
          </a:p>
        </p:txBody>
      </p:sp>
      <p:sp>
        <p:nvSpPr>
          <p:cNvPr id="4" name="title-badge-circle"/>
          <p:cNvSpPr/>
          <p:nvPr/>
        </p:nvSpPr>
        <p:spPr>
          <a:xfrm>
            <a:off x="548640" y="1143000"/>
            <a:ext cx="502920" cy="502920"/>
          </a:xfrm>
          <a:prstGeom prst="ellipse">
            <a:avLst/>
          </a:prstGeom>
          <a:solidFill>
            <a:schemeClr val="accent1"/>
          </a:solidFill>
          <a:ln w="12700">
            <a:solidFill>
              <a:schemeClr val="accent1"/>
            </a:solidFill>
            <a:prstDash val="solid"/>
          </a:ln>
        </p:spPr>
      </p:sp>
      <p:pic>
        <p:nvPicPr>
          <p:cNvPr id="5" name="title-badge-icon" descr="preencoded.png">    </p:cNvPr>
          <p:cNvPicPr>
            <a:picLocks noChangeAspect="1"/>
          </p:cNvPicPr>
          <p:nvPr/>
        </p:nvPicPr>
        <p:blipFill>
          <a:blip r:embed="rId1"/>
          <a:stretch>
            <a:fillRect/>
          </a:stretch>
        </p:blipFill>
        <p:spPr>
          <a:xfrm>
            <a:off x="674370" y="1268730"/>
            <a:ext cx="251460" cy="251460"/>
          </a:xfrm>
          <a:prstGeom prst="rect">
            <a:avLst/>
          </a:prstGeom>
        </p:spPr>
      </p:pic>
      <p:sp>
        <p:nvSpPr>
          <p:cNvPr id="6" name="Text 3"/>
          <p:cNvSpPr txBox="1"/>
          <p:nvPr/>
        </p:nvSpPr>
        <p:spPr>
          <a:xfrm>
            <a:off x="1234440" y="1216152"/>
            <a:ext cx="36576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DEVSECOPS CAPSTONE</a:t>
            </a:r>
            <a:endParaRPr lang="en-US" sz="1400" dirty="0"/>
          </a:p>
        </p:txBody>
      </p:sp>
      <p:sp>
        <p:nvSpPr>
          <p:cNvPr id="7" name="Text 4"/>
          <p:cNvSpPr txBox="1"/>
          <p:nvPr/>
        </p:nvSpPr>
        <p:spPr>
          <a:xfrm>
            <a:off x="548640" y="5669280"/>
            <a:ext cx="5486400" cy="365760"/>
          </a:xfrm>
          <a:prstGeom prst="rect">
            <a:avLst/>
          </a:prstGeom>
          <a:noFill/>
          <a:ln/>
        </p:spPr>
        <p:txBody>
          <a:bodyPr wrap="square" lIns="0" tIns="0" rIns="0" bIns="0" rtlCol="0" anchor="t"/>
          <a:lstStyle/>
          <a:p>
            <a:pPr indent="0" marL="0">
              <a:buNone/>
            </a:pPr>
            <a:r>
              <a:rPr lang="en-US" sz="1600" dirty="0">
                <a:solidFill>
                  <a:schemeClr val="bg1"/>
                </a:solidFill>
              </a:rPr>
              <a:t>Krish Jaiswal  ·  October 2026</a:t>
            </a:r>
            <a:endParaRPr lang="en-US" sz="1600" dirty="0"/>
          </a:p>
        </p:txBody>
      </p:sp>
      <p:pic>
        <p:nvPicPr>
          <p:cNvPr id="8" name="title-screenshot" descr="/Users/healthbay/Desktop/capstone/devsecops-python/demo/screenshots/app-after-create.png">    </p:cNvPr>
          <p:cNvPicPr>
            <a:picLocks noChangeAspect="1"/>
          </p:cNvPicPr>
          <p:nvPr/>
        </p:nvPicPr>
        <p:blipFill>
          <a:blip r:embed="rId2"/>
          <a:stretch>
            <a:fillRect/>
          </a:stretch>
        </p:blipFill>
        <p:spPr>
          <a:xfrm>
            <a:off x="7086600" y="1234440"/>
            <a:ext cx="4572000" cy="2857500"/>
          </a:xfrm>
          <a:prstGeom prst="rect">
            <a:avLst/>
          </a:prstGeom>
          <a:effectLst>
            <a:outerShdw sx="100000" sy="100000" kx="0" ky="0" algn="bl" rotWithShape="0" blurRad="152400" dist="38100" dir="5400000">
              <a:srgbClr val="101828">
                <a:alpha val="25000"/>
              </a:srgbClr>
            </a:outerShdw>
          </a:effectLst>
        </p:spPr>
      </p:pic>
      <p:sp>
        <p:nvSpPr>
          <p:cNvPr id="9" name="Text 5"/>
          <p:cNvSpPr txBox="1"/>
          <p:nvPr/>
        </p:nvSpPr>
        <p:spPr>
          <a:xfrm>
            <a:off x="7086600" y="4343400"/>
            <a:ext cx="4572000" cy="731520"/>
          </a:xfrm>
          <a:prstGeom prst="rect">
            <a:avLst/>
          </a:prstGeom>
          <a:noFill/>
          <a:ln/>
        </p:spPr>
        <p:txBody>
          <a:bodyPr wrap="square" lIns="0" tIns="0" rIns="0" bIns="0" rtlCol="0" anchor="t"/>
          <a:lstStyle/>
          <a:p>
            <a:pPr indent="0" marL="0">
              <a:buNone/>
            </a:pPr>
            <a:r>
              <a:rPr lang="en-US" sz="1100" dirty="0">
                <a:solidFill>
                  <a:schemeClr val="accent6"/>
                </a:solidFill>
              </a:rPr>
              <a:t>React · FastAPI · PostgreSQL · Docker · GitHub Actions · Trivy · Terraform · EKS · Helm · Argo CD · Prometheus · Grafana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One app, every layer automated</a:t>
            </a:r>
            <a:endParaRPr lang="en-US" sz="3400" dirty="0"/>
          </a:p>
        </p:txBody>
      </p:sp>
      <p:sp>
        <p:nvSpPr>
          <p:cNvPr id="3" name="Text 1"/>
          <p:cNvSpPr txBox="1"/>
          <p:nvPr/>
        </p:nvSpPr>
        <p:spPr>
          <a:xfrm>
            <a:off x="548640" y="1371600"/>
            <a:ext cx="4206240" cy="2926080"/>
          </a:xfrm>
          <a:prstGeom prst="rect">
            <a:avLst/>
          </a:prstGeom>
          <a:noFill/>
          <a:ln/>
        </p:spPr>
        <p:txBody>
          <a:bodyPr wrap="square" lIns="0" tIns="0" rIns="0" bIns="0" rtlCol="0" anchor="t"/>
          <a:lstStyle/>
          <a:p>
            <a:pPr indent="0" marL="0">
              <a:buNone/>
            </a:pPr>
            <a:r>
              <a:rPr lang="en-US" sz="1800" dirty="0">
                <a:solidFill>
                  <a:schemeClr val="tx1"/>
                </a:solidFill>
              </a:rPr>
              <a:t>TaskBoard is a SaaS-style task manager: a React dashboard, a FastAPI REST API and PostgreSQL.</a:t>
            </a:r>
            <a:endParaRPr lang="en-US" sz="1800" dirty="0"/>
          </a:p>
          <a:p>
            <a:pPr indent="0" marL="0">
              <a:buNone/>
            </a:pPr>
            <a:r>
              <a:rPr lang="en-US" sz="800" dirty="0">
                <a:solidFill>
                  <a:schemeClr val="tx1"/>
                </a:solidFill>
              </a:rPr>
              <a:t> </a:t>
            </a:r>
            <a:endParaRPr lang="en-US" sz="1800" dirty="0"/>
          </a:p>
          <a:p>
            <a:pPr indent="0" marL="0">
              <a:buNone/>
            </a:pPr>
            <a:r>
              <a:rPr lang="en-US" sz="1800" dirty="0">
                <a:solidFill>
                  <a:schemeClr val="tx1"/>
                </a:solidFill>
              </a:rPr>
              <a:t>The point is the journey: every commit is tested, built into a non-root image, scanned for CVEs, published with its commit SHA, deployed by Helm, synced by Argo CD and observed in Grafana.</a:t>
            </a:r>
            <a:endParaRPr lang="en-US" sz="1800" dirty="0"/>
          </a:p>
        </p:txBody>
      </p:sp>
      <p:sp>
        <p:nvSpPr>
          <p:cNvPr id="4" name="stat-card-0"/>
          <p:cNvSpPr/>
          <p:nvPr/>
        </p:nvSpPr>
        <p:spPr>
          <a:xfrm>
            <a:off x="5212080" y="1371600"/>
            <a:ext cx="3017520" cy="1965960"/>
          </a:xfrm>
          <a:prstGeom prst="roundRect">
            <a:avLst>
              <a:gd name="adj" fmla="val 5581"/>
            </a:avLst>
          </a:prstGeom>
          <a:solidFill>
            <a:schemeClr val="bg2"/>
          </a:solidFill>
          <a:ln w="12700">
            <a:solidFill>
              <a:schemeClr val="bg2"/>
            </a:solidFill>
            <a:prstDash val="solid"/>
          </a:ln>
        </p:spPr>
      </p:sp>
      <p:sp>
        <p:nvSpPr>
          <p:cNvPr id="5" name="Text 3"/>
          <p:cNvSpPr txBox="1"/>
          <p:nvPr/>
        </p:nvSpPr>
        <p:spPr>
          <a:xfrm>
            <a:off x="5486400" y="1600200"/>
            <a:ext cx="2560320" cy="914400"/>
          </a:xfrm>
          <a:prstGeom prst="rect">
            <a:avLst/>
          </a:prstGeom>
          <a:noFill/>
          <a:ln/>
        </p:spPr>
        <p:txBody>
          <a:bodyPr wrap="square" lIns="0" tIns="0" rIns="0" bIns="0" rtlCol="0" anchor="ctr"/>
          <a:lstStyle/>
          <a:p>
            <a:pPr indent="0" marL="0">
              <a:buNone/>
            </a:pPr>
            <a:r>
              <a:rPr lang="en-US" sz="4800" b="1" dirty="0">
                <a:solidFill>
                  <a:schemeClr val="accent1"/>
                </a:solidFill>
              </a:rPr>
              <a:t>16</a:t>
            </a:r>
            <a:endParaRPr lang="en-US" sz="4800" dirty="0"/>
          </a:p>
        </p:txBody>
      </p:sp>
      <p:sp>
        <p:nvSpPr>
          <p:cNvPr id="6" name="Text 4"/>
          <p:cNvSpPr txBox="1"/>
          <p:nvPr/>
        </p:nvSpPr>
        <p:spPr>
          <a:xfrm>
            <a:off x="5486400" y="2560320"/>
            <a:ext cx="2514600" cy="640080"/>
          </a:xfrm>
          <a:prstGeom prst="rect">
            <a:avLst/>
          </a:prstGeom>
          <a:noFill/>
          <a:ln/>
        </p:spPr>
        <p:txBody>
          <a:bodyPr wrap="square" lIns="0" tIns="0" rIns="0" bIns="0" rtlCol="0" anchor="t"/>
          <a:lstStyle/>
          <a:p>
            <a:pPr indent="0" marL="0">
              <a:buNone/>
            </a:pPr>
            <a:r>
              <a:rPr lang="en-US" sz="1400" dirty="0">
                <a:solidFill>
                  <a:schemeClr val="tx2"/>
                </a:solidFill>
              </a:rPr>
              <a:t>pytest tests passing on an isolated in-memory DB</a:t>
            </a:r>
            <a:endParaRPr lang="en-US" sz="1400" dirty="0"/>
          </a:p>
        </p:txBody>
      </p:sp>
      <p:sp>
        <p:nvSpPr>
          <p:cNvPr id="7" name="stat-card-1"/>
          <p:cNvSpPr/>
          <p:nvPr/>
        </p:nvSpPr>
        <p:spPr>
          <a:xfrm>
            <a:off x="8458200" y="1371600"/>
            <a:ext cx="3017520" cy="1965960"/>
          </a:xfrm>
          <a:prstGeom prst="roundRect">
            <a:avLst>
              <a:gd name="adj" fmla="val 5581"/>
            </a:avLst>
          </a:prstGeom>
          <a:solidFill>
            <a:schemeClr val="bg2"/>
          </a:solidFill>
          <a:ln w="12700">
            <a:solidFill>
              <a:schemeClr val="bg2"/>
            </a:solidFill>
            <a:prstDash val="solid"/>
          </a:ln>
        </p:spPr>
      </p:sp>
      <p:sp>
        <p:nvSpPr>
          <p:cNvPr id="8" name="Text 6"/>
          <p:cNvSpPr txBox="1"/>
          <p:nvPr/>
        </p:nvSpPr>
        <p:spPr>
          <a:xfrm>
            <a:off x="8732520" y="1600200"/>
            <a:ext cx="2560320" cy="914400"/>
          </a:xfrm>
          <a:prstGeom prst="rect">
            <a:avLst/>
          </a:prstGeom>
          <a:noFill/>
          <a:ln/>
        </p:spPr>
        <p:txBody>
          <a:bodyPr wrap="square" lIns="0" tIns="0" rIns="0" bIns="0" rtlCol="0" anchor="ctr"/>
          <a:lstStyle/>
          <a:p>
            <a:pPr indent="0" marL="0">
              <a:buNone/>
            </a:pPr>
            <a:r>
              <a:rPr lang="en-US" sz="4800" b="1" dirty="0">
                <a:solidFill>
                  <a:schemeClr val="accent1"/>
                </a:solidFill>
              </a:rPr>
              <a:t>0</a:t>
            </a:r>
            <a:endParaRPr lang="en-US" sz="4800" dirty="0"/>
          </a:p>
        </p:txBody>
      </p:sp>
      <p:sp>
        <p:nvSpPr>
          <p:cNvPr id="9" name="Text 7"/>
          <p:cNvSpPr txBox="1"/>
          <p:nvPr/>
        </p:nvSpPr>
        <p:spPr>
          <a:xfrm>
            <a:off x="8732520" y="2560320"/>
            <a:ext cx="2514600" cy="640080"/>
          </a:xfrm>
          <a:prstGeom prst="rect">
            <a:avLst/>
          </a:prstGeom>
          <a:noFill/>
          <a:ln/>
        </p:spPr>
        <p:txBody>
          <a:bodyPr wrap="square" lIns="0" tIns="0" rIns="0" bIns="0" rtlCol="0" anchor="t"/>
          <a:lstStyle/>
          <a:p>
            <a:pPr indent="0" marL="0">
              <a:buNone/>
            </a:pPr>
            <a:r>
              <a:rPr lang="en-US" sz="1400" dirty="0">
                <a:solidFill>
                  <a:schemeClr val="tx2"/>
                </a:solidFill>
              </a:rPr>
              <a:t>fixable HIGH / CRITICAL CVEs in both images (Trivy)</a:t>
            </a:r>
            <a:endParaRPr lang="en-US" sz="1400" dirty="0"/>
          </a:p>
        </p:txBody>
      </p:sp>
      <p:sp>
        <p:nvSpPr>
          <p:cNvPr id="10" name="stat-card-2"/>
          <p:cNvSpPr/>
          <p:nvPr/>
        </p:nvSpPr>
        <p:spPr>
          <a:xfrm>
            <a:off x="5212080" y="3611880"/>
            <a:ext cx="3017520" cy="1965960"/>
          </a:xfrm>
          <a:prstGeom prst="roundRect">
            <a:avLst>
              <a:gd name="adj" fmla="val 5581"/>
            </a:avLst>
          </a:prstGeom>
          <a:solidFill>
            <a:schemeClr val="bg2"/>
          </a:solidFill>
          <a:ln w="12700">
            <a:solidFill>
              <a:schemeClr val="bg2"/>
            </a:solidFill>
            <a:prstDash val="solid"/>
          </a:ln>
        </p:spPr>
      </p:sp>
      <p:sp>
        <p:nvSpPr>
          <p:cNvPr id="11" name="Text 9"/>
          <p:cNvSpPr txBox="1"/>
          <p:nvPr/>
        </p:nvSpPr>
        <p:spPr>
          <a:xfrm>
            <a:off x="5486400" y="3840480"/>
            <a:ext cx="2560320" cy="914400"/>
          </a:xfrm>
          <a:prstGeom prst="rect">
            <a:avLst/>
          </a:prstGeom>
          <a:noFill/>
          <a:ln/>
        </p:spPr>
        <p:txBody>
          <a:bodyPr wrap="square" lIns="0" tIns="0" rIns="0" bIns="0" rtlCol="0" anchor="ctr"/>
          <a:lstStyle/>
          <a:p>
            <a:pPr indent="0" marL="0">
              <a:buNone/>
            </a:pPr>
            <a:r>
              <a:rPr lang="en-US" sz="4800" b="1" dirty="0">
                <a:solidFill>
                  <a:schemeClr val="accent3"/>
                </a:solidFill>
              </a:rPr>
              <a:t>61</a:t>
            </a:r>
            <a:endParaRPr lang="en-US" sz="4800" dirty="0"/>
          </a:p>
        </p:txBody>
      </p:sp>
      <p:sp>
        <p:nvSpPr>
          <p:cNvPr id="12" name="Text 10"/>
          <p:cNvSpPr txBox="1"/>
          <p:nvPr/>
        </p:nvSpPr>
        <p:spPr>
          <a:xfrm>
            <a:off x="5486400" y="4800600"/>
            <a:ext cx="2514600" cy="640080"/>
          </a:xfrm>
          <a:prstGeom prst="rect">
            <a:avLst/>
          </a:prstGeom>
          <a:noFill/>
          <a:ln/>
        </p:spPr>
        <p:txBody>
          <a:bodyPr wrap="square" lIns="0" tIns="0" rIns="0" bIns="0" rtlCol="0" anchor="t"/>
          <a:lstStyle/>
          <a:p>
            <a:pPr indent="0" marL="0">
              <a:buNone/>
            </a:pPr>
            <a:r>
              <a:rPr lang="en-US" sz="1400" dirty="0">
                <a:solidFill>
                  <a:schemeClr val="tx2"/>
                </a:solidFill>
              </a:rPr>
              <a:t>AWS resources in the Terraform plan (VPC + EKS)</a:t>
            </a:r>
            <a:endParaRPr lang="en-US" sz="1400" dirty="0"/>
          </a:p>
        </p:txBody>
      </p:sp>
      <p:sp>
        <p:nvSpPr>
          <p:cNvPr id="13" name="stat-card-3"/>
          <p:cNvSpPr/>
          <p:nvPr/>
        </p:nvSpPr>
        <p:spPr>
          <a:xfrm>
            <a:off x="8458200" y="3611880"/>
            <a:ext cx="3017520" cy="1965960"/>
          </a:xfrm>
          <a:prstGeom prst="roundRect">
            <a:avLst>
              <a:gd name="adj" fmla="val 5581"/>
            </a:avLst>
          </a:prstGeom>
          <a:solidFill>
            <a:schemeClr val="bg2"/>
          </a:solidFill>
          <a:ln w="12700">
            <a:solidFill>
              <a:schemeClr val="bg2"/>
            </a:solidFill>
            <a:prstDash val="solid"/>
          </a:ln>
        </p:spPr>
      </p:sp>
      <p:sp>
        <p:nvSpPr>
          <p:cNvPr id="14" name="Text 12"/>
          <p:cNvSpPr txBox="1"/>
          <p:nvPr/>
        </p:nvSpPr>
        <p:spPr>
          <a:xfrm>
            <a:off x="8732520" y="3840480"/>
            <a:ext cx="2560320" cy="914400"/>
          </a:xfrm>
          <a:prstGeom prst="rect">
            <a:avLst/>
          </a:prstGeom>
          <a:noFill/>
          <a:ln/>
        </p:spPr>
        <p:txBody>
          <a:bodyPr wrap="square" lIns="0" tIns="0" rIns="0" bIns="0" rtlCol="0" anchor="ctr"/>
          <a:lstStyle/>
          <a:p>
            <a:pPr indent="0" marL="0">
              <a:buNone/>
            </a:pPr>
            <a:r>
              <a:rPr lang="en-US" sz="4800" b="1" dirty="0">
                <a:solidFill>
                  <a:schemeClr val="accent2"/>
                </a:solidFill>
              </a:rPr>
              <a:t>2 → 4</a:t>
            </a:r>
            <a:endParaRPr lang="en-US" sz="4800" dirty="0"/>
          </a:p>
        </p:txBody>
      </p:sp>
      <p:sp>
        <p:nvSpPr>
          <p:cNvPr id="15" name="Text 13"/>
          <p:cNvSpPr txBox="1"/>
          <p:nvPr/>
        </p:nvSpPr>
        <p:spPr>
          <a:xfrm>
            <a:off x="8732520" y="4800600"/>
            <a:ext cx="2514600" cy="640080"/>
          </a:xfrm>
          <a:prstGeom prst="rect">
            <a:avLst/>
          </a:prstGeom>
          <a:noFill/>
          <a:ln/>
        </p:spPr>
        <p:txBody>
          <a:bodyPr wrap="square" lIns="0" tIns="0" rIns="0" bIns="0" rtlCol="0" anchor="t"/>
          <a:lstStyle/>
          <a:p>
            <a:pPr indent="0" marL="0">
              <a:buNone/>
            </a:pPr>
            <a:r>
              <a:rPr lang="en-US" sz="1400" dirty="0">
                <a:solidFill>
                  <a:schemeClr val="tx2"/>
                </a:solidFill>
              </a:rPr>
              <a:t>backend pods, autoscaled by the HPA under load</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The application: React + FastAPI + PostgreSQL</a:t>
            </a:r>
            <a:endParaRPr lang="en-US" sz="3400" dirty="0"/>
          </a:p>
        </p:txBody>
      </p:sp>
      <p:pic>
        <p:nvPicPr>
          <p:cNvPr id="3" name="app-screenshot" descr="/Users/healthbay/Desktop/capstone/devsecops-python/demo/screenshots/app-k8s-ingress.png">    </p:cNvPr>
          <p:cNvPicPr>
            <a:picLocks noChangeAspect="1"/>
          </p:cNvPicPr>
          <p:nvPr/>
        </p:nvPicPr>
        <p:blipFill>
          <a:blip r:embed="rId1"/>
          <a:stretch>
            <a:fillRect/>
          </a:stretch>
        </p:blipFill>
        <p:spPr>
          <a:xfrm>
            <a:off x="548640" y="1371600"/>
            <a:ext cx="6583680" cy="4114800"/>
          </a:xfrm>
          <a:prstGeom prst="rect">
            <a:avLst/>
          </a:prstGeom>
          <a:effectLst>
            <a:outerShdw sx="100000" sy="100000" kx="0" ky="0" algn="bl" rotWithShape="0" blurRad="152400" dist="38100" dir="5400000">
              <a:srgbClr val="101828">
                <a:alpha val="25000"/>
              </a:srgbClr>
            </a:outerShdw>
          </a:effectLst>
        </p:spPr>
      </p:pic>
      <p:sp>
        <p:nvSpPr>
          <p:cNvPr id="4" name="method-0"/>
          <p:cNvSpPr/>
          <p:nvPr/>
        </p:nvSpPr>
        <p:spPr>
          <a:xfrm>
            <a:off x="7498080" y="1408176"/>
            <a:ext cx="868680" cy="310896"/>
          </a:xfrm>
          <a:prstGeom prst="roundRect">
            <a:avLst>
              <a:gd name="adj" fmla="val 17647"/>
            </a:avLst>
          </a:prstGeom>
          <a:solidFill>
            <a:schemeClr val="accent1"/>
          </a:solidFill>
          <a:ln w="12700">
            <a:solidFill>
              <a:schemeClr val="accent1"/>
            </a:solidFill>
            <a:prstDash val="solid"/>
          </a:ln>
        </p:spPr>
      </p:sp>
      <p:sp>
        <p:nvSpPr>
          <p:cNvPr id="5" name="Text 2"/>
          <p:cNvSpPr txBox="1"/>
          <p:nvPr/>
        </p:nvSpPr>
        <p:spPr>
          <a:xfrm>
            <a:off x="7498080" y="1408176"/>
            <a:ext cx="868680" cy="310896"/>
          </a:xfrm>
          <a:prstGeom prst="rect">
            <a:avLst/>
          </a:prstGeom>
          <a:noFill/>
          <a:ln/>
        </p:spPr>
        <p:txBody>
          <a:bodyPr wrap="square" lIns="0" tIns="0" rIns="0" bIns="0" rtlCol="0" anchor="ctr"/>
          <a:lstStyle/>
          <a:p>
            <a:pPr algn="ctr" indent="0" marL="0">
              <a:buNone/>
            </a:pPr>
            <a:r>
              <a:rPr lang="en-US" sz="1100" b="1" dirty="0">
                <a:solidFill>
                  <a:schemeClr val="bg1"/>
                </a:solidFill>
              </a:rPr>
              <a:t>GET</a:t>
            </a:r>
            <a:endParaRPr lang="en-US" sz="1100" dirty="0"/>
          </a:p>
        </p:txBody>
      </p:sp>
      <p:sp>
        <p:nvSpPr>
          <p:cNvPr id="6" name="Text 3"/>
          <p:cNvSpPr txBox="1"/>
          <p:nvPr/>
        </p:nvSpPr>
        <p:spPr>
          <a:xfrm>
            <a:off x="8503920" y="1353312"/>
            <a:ext cx="3200400" cy="27432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/api/tasks</a:t>
            </a:r>
            <a:endParaRPr lang="en-US" sz="1300" dirty="0"/>
          </a:p>
        </p:txBody>
      </p:sp>
      <p:sp>
        <p:nvSpPr>
          <p:cNvPr id="7" name="Text 4"/>
          <p:cNvSpPr txBox="1"/>
          <p:nvPr/>
        </p:nvSpPr>
        <p:spPr>
          <a:xfrm>
            <a:off x="8503920" y="1618488"/>
            <a:ext cx="3200400" cy="256032"/>
          </a:xfrm>
          <a:prstGeom prst="rect">
            <a:avLst/>
          </a:prstGeom>
          <a:noFill/>
          <a:ln/>
        </p:spPr>
        <p:txBody>
          <a:bodyPr wrap="square" lIns="0" tIns="0" rIns="0" bIns="0" rtlCol="0" anchor="t"/>
          <a:lstStyle/>
          <a:p>
            <a:pPr indent="0" marL="0">
              <a:buNone/>
            </a:pPr>
            <a:r>
              <a:rPr lang="en-US" sz="1100" dirty="0">
                <a:solidFill>
                  <a:schemeClr val="tx2"/>
                </a:solidFill>
              </a:rPr>
              <a:t>list, newest first</a:t>
            </a:r>
            <a:endParaRPr lang="en-US" sz="1100" dirty="0"/>
          </a:p>
        </p:txBody>
      </p:sp>
      <p:sp>
        <p:nvSpPr>
          <p:cNvPr id="8" name="method-1"/>
          <p:cNvSpPr/>
          <p:nvPr/>
        </p:nvSpPr>
        <p:spPr>
          <a:xfrm>
            <a:off x="7498080" y="1975104"/>
            <a:ext cx="868680" cy="310896"/>
          </a:xfrm>
          <a:prstGeom prst="roundRect">
            <a:avLst>
              <a:gd name="adj" fmla="val 17647"/>
            </a:avLst>
          </a:prstGeom>
          <a:solidFill>
            <a:schemeClr val="accent1"/>
          </a:solidFill>
          <a:ln w="12700">
            <a:solidFill>
              <a:schemeClr val="accent1"/>
            </a:solidFill>
            <a:prstDash val="solid"/>
          </a:ln>
        </p:spPr>
      </p:sp>
      <p:sp>
        <p:nvSpPr>
          <p:cNvPr id="9" name="Text 6"/>
          <p:cNvSpPr txBox="1"/>
          <p:nvPr/>
        </p:nvSpPr>
        <p:spPr>
          <a:xfrm>
            <a:off x="7498080" y="1975104"/>
            <a:ext cx="868680" cy="310896"/>
          </a:xfrm>
          <a:prstGeom prst="rect">
            <a:avLst/>
          </a:prstGeom>
          <a:noFill/>
          <a:ln/>
        </p:spPr>
        <p:txBody>
          <a:bodyPr wrap="square" lIns="0" tIns="0" rIns="0" bIns="0" rtlCol="0" anchor="ctr"/>
          <a:lstStyle/>
          <a:p>
            <a:pPr algn="ctr" indent="0" marL="0">
              <a:buNone/>
            </a:pPr>
            <a:r>
              <a:rPr lang="en-US" sz="1100" b="1" dirty="0">
                <a:solidFill>
                  <a:schemeClr val="bg1"/>
                </a:solidFill>
              </a:rPr>
              <a:t>GET</a:t>
            </a:r>
            <a:endParaRPr lang="en-US" sz="1100" dirty="0"/>
          </a:p>
        </p:txBody>
      </p:sp>
      <p:sp>
        <p:nvSpPr>
          <p:cNvPr id="10" name="Text 7"/>
          <p:cNvSpPr txBox="1"/>
          <p:nvPr/>
        </p:nvSpPr>
        <p:spPr>
          <a:xfrm>
            <a:off x="8503920" y="1920240"/>
            <a:ext cx="3200400" cy="27432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/api/tasks/{id}</a:t>
            </a:r>
            <a:endParaRPr lang="en-US" sz="1300" dirty="0"/>
          </a:p>
        </p:txBody>
      </p:sp>
      <p:sp>
        <p:nvSpPr>
          <p:cNvPr id="11" name="Text 8"/>
          <p:cNvSpPr txBox="1"/>
          <p:nvPr/>
        </p:nvSpPr>
        <p:spPr>
          <a:xfrm>
            <a:off x="8503920" y="2185416"/>
            <a:ext cx="3200400" cy="256032"/>
          </a:xfrm>
          <a:prstGeom prst="rect">
            <a:avLst/>
          </a:prstGeom>
          <a:noFill/>
          <a:ln/>
        </p:spPr>
        <p:txBody>
          <a:bodyPr wrap="square" lIns="0" tIns="0" rIns="0" bIns="0" rtlCol="0" anchor="t"/>
          <a:lstStyle/>
          <a:p>
            <a:pPr indent="0" marL="0">
              <a:buNone/>
            </a:pPr>
            <a:r>
              <a:rPr lang="en-US" sz="1100" dirty="0">
                <a:solidFill>
                  <a:schemeClr val="tx2"/>
                </a:solidFill>
              </a:rPr>
              <a:t>one task (404 if missing)</a:t>
            </a:r>
            <a:endParaRPr lang="en-US" sz="1100" dirty="0"/>
          </a:p>
        </p:txBody>
      </p:sp>
      <p:sp>
        <p:nvSpPr>
          <p:cNvPr id="12" name="method-2"/>
          <p:cNvSpPr/>
          <p:nvPr/>
        </p:nvSpPr>
        <p:spPr>
          <a:xfrm>
            <a:off x="7498080" y="2542032"/>
            <a:ext cx="868680" cy="310896"/>
          </a:xfrm>
          <a:prstGeom prst="roundRect">
            <a:avLst>
              <a:gd name="adj" fmla="val 17647"/>
            </a:avLst>
          </a:prstGeom>
          <a:solidFill>
            <a:schemeClr val="accent3"/>
          </a:solidFill>
          <a:ln w="12700">
            <a:solidFill>
              <a:schemeClr val="accent3"/>
            </a:solidFill>
            <a:prstDash val="solid"/>
          </a:ln>
        </p:spPr>
      </p:sp>
      <p:sp>
        <p:nvSpPr>
          <p:cNvPr id="13" name="Text 10"/>
          <p:cNvSpPr txBox="1"/>
          <p:nvPr/>
        </p:nvSpPr>
        <p:spPr>
          <a:xfrm>
            <a:off x="7498080" y="2542032"/>
            <a:ext cx="868680" cy="310896"/>
          </a:xfrm>
          <a:prstGeom prst="rect">
            <a:avLst/>
          </a:prstGeom>
          <a:noFill/>
          <a:ln/>
        </p:spPr>
        <p:txBody>
          <a:bodyPr wrap="square" lIns="0" tIns="0" rIns="0" bIns="0" rtlCol="0" anchor="ctr"/>
          <a:lstStyle/>
          <a:p>
            <a:pPr algn="ctr" indent="0" marL="0">
              <a:buNone/>
            </a:pPr>
            <a:r>
              <a:rPr lang="en-US" sz="1100" b="1" dirty="0">
                <a:solidFill>
                  <a:schemeClr val="bg1"/>
                </a:solidFill>
              </a:rPr>
              <a:t>POST</a:t>
            </a:r>
            <a:endParaRPr lang="en-US" sz="1100" dirty="0"/>
          </a:p>
        </p:txBody>
      </p:sp>
      <p:sp>
        <p:nvSpPr>
          <p:cNvPr id="14" name="Text 11"/>
          <p:cNvSpPr txBox="1"/>
          <p:nvPr/>
        </p:nvSpPr>
        <p:spPr>
          <a:xfrm>
            <a:off x="8503920" y="2487168"/>
            <a:ext cx="3200400" cy="27432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/api/tasks</a:t>
            </a:r>
            <a:endParaRPr lang="en-US" sz="1300" dirty="0"/>
          </a:p>
        </p:txBody>
      </p:sp>
      <p:sp>
        <p:nvSpPr>
          <p:cNvPr id="15" name="Text 12"/>
          <p:cNvSpPr txBox="1"/>
          <p:nvPr/>
        </p:nvSpPr>
        <p:spPr>
          <a:xfrm>
            <a:off x="8503920" y="2752344"/>
            <a:ext cx="3200400" cy="256032"/>
          </a:xfrm>
          <a:prstGeom prst="rect">
            <a:avLst/>
          </a:prstGeom>
          <a:noFill/>
          <a:ln/>
        </p:spPr>
        <p:txBody>
          <a:bodyPr wrap="square" lIns="0" tIns="0" rIns="0" bIns="0" rtlCol="0" anchor="t"/>
          <a:lstStyle/>
          <a:p>
            <a:pPr indent="0" marL="0">
              <a:buNone/>
            </a:pPr>
            <a:r>
              <a:rPr lang="en-US" sz="1100" dirty="0">
                <a:solidFill>
                  <a:schemeClr val="tx2"/>
                </a:solidFill>
              </a:rPr>
              <a:t>create, validated</a:t>
            </a:r>
            <a:endParaRPr lang="en-US" sz="1100" dirty="0"/>
          </a:p>
        </p:txBody>
      </p:sp>
      <p:sp>
        <p:nvSpPr>
          <p:cNvPr id="16" name="method-3"/>
          <p:cNvSpPr/>
          <p:nvPr/>
        </p:nvSpPr>
        <p:spPr>
          <a:xfrm>
            <a:off x="7498080" y="3108960"/>
            <a:ext cx="868680" cy="310896"/>
          </a:xfrm>
          <a:prstGeom prst="roundRect">
            <a:avLst>
              <a:gd name="adj" fmla="val 17647"/>
            </a:avLst>
          </a:prstGeom>
          <a:solidFill>
            <a:schemeClr val="accent2"/>
          </a:solidFill>
          <a:ln w="12700">
            <a:solidFill>
              <a:schemeClr val="accent2"/>
            </a:solidFill>
            <a:prstDash val="solid"/>
          </a:ln>
        </p:spPr>
      </p:sp>
      <p:sp>
        <p:nvSpPr>
          <p:cNvPr id="17" name="Text 14"/>
          <p:cNvSpPr txBox="1"/>
          <p:nvPr/>
        </p:nvSpPr>
        <p:spPr>
          <a:xfrm>
            <a:off x="7498080" y="3108960"/>
            <a:ext cx="868680" cy="310896"/>
          </a:xfrm>
          <a:prstGeom prst="rect">
            <a:avLst/>
          </a:prstGeom>
          <a:noFill/>
          <a:ln/>
        </p:spPr>
        <p:txBody>
          <a:bodyPr wrap="square" lIns="0" tIns="0" rIns="0" bIns="0" rtlCol="0" anchor="ctr"/>
          <a:lstStyle/>
          <a:p>
            <a:pPr algn="ctr" indent="0" marL="0">
              <a:buNone/>
            </a:pPr>
            <a:r>
              <a:rPr lang="en-US" sz="1100" b="1" dirty="0">
                <a:solidFill>
                  <a:schemeClr val="bg1"/>
                </a:solidFill>
              </a:rPr>
              <a:t>PUT</a:t>
            </a:r>
            <a:endParaRPr lang="en-US" sz="1100" dirty="0"/>
          </a:p>
        </p:txBody>
      </p:sp>
      <p:sp>
        <p:nvSpPr>
          <p:cNvPr id="18" name="Text 15"/>
          <p:cNvSpPr txBox="1"/>
          <p:nvPr/>
        </p:nvSpPr>
        <p:spPr>
          <a:xfrm>
            <a:off x="8503920" y="3054096"/>
            <a:ext cx="3200400" cy="27432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/api/tasks/{id}</a:t>
            </a:r>
            <a:endParaRPr lang="en-US" sz="1300" dirty="0"/>
          </a:p>
        </p:txBody>
      </p:sp>
      <p:sp>
        <p:nvSpPr>
          <p:cNvPr id="19" name="Text 16"/>
          <p:cNvSpPr txBox="1"/>
          <p:nvPr/>
        </p:nvSpPr>
        <p:spPr>
          <a:xfrm>
            <a:off x="8503920" y="3319272"/>
            <a:ext cx="3200400" cy="256032"/>
          </a:xfrm>
          <a:prstGeom prst="rect">
            <a:avLst/>
          </a:prstGeom>
          <a:noFill/>
          <a:ln/>
        </p:spPr>
        <p:txBody>
          <a:bodyPr wrap="square" lIns="0" tIns="0" rIns="0" bIns="0" rtlCol="0" anchor="t"/>
          <a:lstStyle/>
          <a:p>
            <a:pPr indent="0" marL="0">
              <a:buNone/>
            </a:pPr>
            <a:r>
              <a:rPr lang="en-US" sz="1100" dirty="0">
                <a:solidFill>
                  <a:schemeClr val="tx2"/>
                </a:solidFill>
              </a:rPr>
              <a:t>partial update</a:t>
            </a:r>
            <a:endParaRPr lang="en-US" sz="1100" dirty="0"/>
          </a:p>
        </p:txBody>
      </p:sp>
      <p:sp>
        <p:nvSpPr>
          <p:cNvPr id="20" name="method-4"/>
          <p:cNvSpPr/>
          <p:nvPr/>
        </p:nvSpPr>
        <p:spPr>
          <a:xfrm>
            <a:off x="7498080" y="3675888"/>
            <a:ext cx="868680" cy="310896"/>
          </a:xfrm>
          <a:prstGeom prst="roundRect">
            <a:avLst>
              <a:gd name="adj" fmla="val 17647"/>
            </a:avLst>
          </a:prstGeom>
          <a:solidFill>
            <a:schemeClr val="accent4"/>
          </a:solidFill>
          <a:ln w="12700">
            <a:solidFill>
              <a:schemeClr val="accent4"/>
            </a:solidFill>
            <a:prstDash val="solid"/>
          </a:ln>
        </p:spPr>
      </p:sp>
      <p:sp>
        <p:nvSpPr>
          <p:cNvPr id="21" name="Text 18"/>
          <p:cNvSpPr txBox="1"/>
          <p:nvPr/>
        </p:nvSpPr>
        <p:spPr>
          <a:xfrm>
            <a:off x="7498080" y="3675888"/>
            <a:ext cx="868680" cy="310896"/>
          </a:xfrm>
          <a:prstGeom prst="rect">
            <a:avLst/>
          </a:prstGeom>
          <a:noFill/>
          <a:ln/>
        </p:spPr>
        <p:txBody>
          <a:bodyPr wrap="square" lIns="0" tIns="0" rIns="0" bIns="0" rtlCol="0" anchor="ctr"/>
          <a:lstStyle/>
          <a:p>
            <a:pPr algn="ctr" indent="0" marL="0">
              <a:buNone/>
            </a:pPr>
            <a:r>
              <a:rPr lang="en-US" sz="1100" b="1" dirty="0">
                <a:solidFill>
                  <a:schemeClr val="bg1"/>
                </a:solidFill>
              </a:rPr>
              <a:t>DELETE</a:t>
            </a:r>
            <a:endParaRPr lang="en-US" sz="1100" dirty="0"/>
          </a:p>
        </p:txBody>
      </p:sp>
      <p:sp>
        <p:nvSpPr>
          <p:cNvPr id="22" name="Text 19"/>
          <p:cNvSpPr txBox="1"/>
          <p:nvPr/>
        </p:nvSpPr>
        <p:spPr>
          <a:xfrm>
            <a:off x="8503920" y="3621024"/>
            <a:ext cx="3200400" cy="27432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/api/tasks/{id}</a:t>
            </a:r>
            <a:endParaRPr lang="en-US" sz="1300" dirty="0"/>
          </a:p>
        </p:txBody>
      </p:sp>
      <p:sp>
        <p:nvSpPr>
          <p:cNvPr id="23" name="Text 20"/>
          <p:cNvSpPr txBox="1"/>
          <p:nvPr/>
        </p:nvSpPr>
        <p:spPr>
          <a:xfrm>
            <a:off x="8503920" y="3886200"/>
            <a:ext cx="3200400" cy="256032"/>
          </a:xfrm>
          <a:prstGeom prst="rect">
            <a:avLst/>
          </a:prstGeom>
          <a:noFill/>
          <a:ln/>
        </p:spPr>
        <p:txBody>
          <a:bodyPr wrap="square" lIns="0" tIns="0" rIns="0" bIns="0" rtlCol="0" anchor="t"/>
          <a:lstStyle/>
          <a:p>
            <a:pPr indent="0" marL="0">
              <a:buNone/>
            </a:pPr>
            <a:r>
              <a:rPr lang="en-US" sz="1100" dirty="0">
                <a:solidFill>
                  <a:schemeClr val="tx2"/>
                </a:solidFill>
              </a:rPr>
              <a:t>remove (204)</a:t>
            </a:r>
            <a:endParaRPr lang="en-US" sz="1100" dirty="0"/>
          </a:p>
        </p:txBody>
      </p:sp>
      <p:sp>
        <p:nvSpPr>
          <p:cNvPr id="24" name="method-5"/>
          <p:cNvSpPr/>
          <p:nvPr/>
        </p:nvSpPr>
        <p:spPr>
          <a:xfrm>
            <a:off x="7498080" y="4242816"/>
            <a:ext cx="868680" cy="310896"/>
          </a:xfrm>
          <a:prstGeom prst="roundRect">
            <a:avLst>
              <a:gd name="adj" fmla="val 17647"/>
            </a:avLst>
          </a:prstGeom>
          <a:solidFill>
            <a:schemeClr val="accent1"/>
          </a:solidFill>
          <a:ln w="12700">
            <a:solidFill>
              <a:schemeClr val="accent1"/>
            </a:solidFill>
            <a:prstDash val="solid"/>
          </a:ln>
        </p:spPr>
      </p:sp>
      <p:sp>
        <p:nvSpPr>
          <p:cNvPr id="25" name="Text 22"/>
          <p:cNvSpPr txBox="1"/>
          <p:nvPr/>
        </p:nvSpPr>
        <p:spPr>
          <a:xfrm>
            <a:off x="7498080" y="4242816"/>
            <a:ext cx="868680" cy="310896"/>
          </a:xfrm>
          <a:prstGeom prst="rect">
            <a:avLst/>
          </a:prstGeom>
          <a:noFill/>
          <a:ln/>
        </p:spPr>
        <p:txBody>
          <a:bodyPr wrap="square" lIns="0" tIns="0" rIns="0" bIns="0" rtlCol="0" anchor="ctr"/>
          <a:lstStyle/>
          <a:p>
            <a:pPr algn="ctr" indent="0" marL="0">
              <a:buNone/>
            </a:pPr>
            <a:r>
              <a:rPr lang="en-US" sz="1100" b="1" dirty="0">
                <a:solidFill>
                  <a:schemeClr val="bg1"/>
                </a:solidFill>
              </a:rPr>
              <a:t>GET</a:t>
            </a:r>
            <a:endParaRPr lang="en-US" sz="1100" dirty="0"/>
          </a:p>
        </p:txBody>
      </p:sp>
      <p:sp>
        <p:nvSpPr>
          <p:cNvPr id="26" name="Text 23"/>
          <p:cNvSpPr txBox="1"/>
          <p:nvPr/>
        </p:nvSpPr>
        <p:spPr>
          <a:xfrm>
            <a:off x="8503920" y="4187952"/>
            <a:ext cx="3200400" cy="27432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/api/tasks/stats</a:t>
            </a:r>
            <a:endParaRPr lang="en-US" sz="1300" dirty="0"/>
          </a:p>
        </p:txBody>
      </p:sp>
      <p:sp>
        <p:nvSpPr>
          <p:cNvPr id="27" name="Text 24"/>
          <p:cNvSpPr txBox="1"/>
          <p:nvPr/>
        </p:nvSpPr>
        <p:spPr>
          <a:xfrm>
            <a:off x="8503920" y="4453128"/>
            <a:ext cx="3200400" cy="256032"/>
          </a:xfrm>
          <a:prstGeom prst="rect">
            <a:avLst/>
          </a:prstGeom>
          <a:noFill/>
          <a:ln/>
        </p:spPr>
        <p:txBody>
          <a:bodyPr wrap="square" lIns="0" tIns="0" rIns="0" bIns="0" rtlCol="0" anchor="t"/>
          <a:lstStyle/>
          <a:p>
            <a:pPr indent="0" marL="0">
              <a:buNone/>
            </a:pPr>
            <a:r>
              <a:rPr lang="en-US" sz="1100" dirty="0">
                <a:solidFill>
                  <a:schemeClr val="tx2"/>
                </a:solidFill>
              </a:rPr>
              <a:t>KPI card counts</a:t>
            </a:r>
            <a:endParaRPr lang="en-US" sz="1100" dirty="0"/>
          </a:p>
        </p:txBody>
      </p:sp>
      <p:sp>
        <p:nvSpPr>
          <p:cNvPr id="28" name="method-6"/>
          <p:cNvSpPr/>
          <p:nvPr/>
        </p:nvSpPr>
        <p:spPr>
          <a:xfrm>
            <a:off x="7498080" y="4809744"/>
            <a:ext cx="868680" cy="310896"/>
          </a:xfrm>
          <a:prstGeom prst="roundRect">
            <a:avLst>
              <a:gd name="adj" fmla="val 17647"/>
            </a:avLst>
          </a:prstGeom>
          <a:solidFill>
            <a:schemeClr val="accent1"/>
          </a:solidFill>
          <a:ln w="12700">
            <a:solidFill>
              <a:schemeClr val="accent1"/>
            </a:solidFill>
            <a:prstDash val="solid"/>
          </a:ln>
        </p:spPr>
      </p:sp>
      <p:sp>
        <p:nvSpPr>
          <p:cNvPr id="29" name="Text 26"/>
          <p:cNvSpPr txBox="1"/>
          <p:nvPr/>
        </p:nvSpPr>
        <p:spPr>
          <a:xfrm>
            <a:off x="7498080" y="4809744"/>
            <a:ext cx="868680" cy="310896"/>
          </a:xfrm>
          <a:prstGeom prst="rect">
            <a:avLst/>
          </a:prstGeom>
          <a:noFill/>
          <a:ln/>
        </p:spPr>
        <p:txBody>
          <a:bodyPr wrap="square" lIns="0" tIns="0" rIns="0" bIns="0" rtlCol="0" anchor="ctr"/>
          <a:lstStyle/>
          <a:p>
            <a:pPr algn="ctr" indent="0" marL="0">
              <a:buNone/>
            </a:pPr>
            <a:r>
              <a:rPr lang="en-US" sz="1100" b="1" dirty="0">
                <a:solidFill>
                  <a:schemeClr val="bg1"/>
                </a:solidFill>
              </a:rPr>
              <a:t>GET</a:t>
            </a:r>
            <a:endParaRPr lang="en-US" sz="1100" dirty="0"/>
          </a:p>
        </p:txBody>
      </p:sp>
      <p:sp>
        <p:nvSpPr>
          <p:cNvPr id="30" name="Text 27"/>
          <p:cNvSpPr txBox="1"/>
          <p:nvPr/>
        </p:nvSpPr>
        <p:spPr>
          <a:xfrm>
            <a:off x="8503920" y="4754880"/>
            <a:ext cx="3200400" cy="27432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/health · /ready · /metrics</a:t>
            </a:r>
            <a:endParaRPr lang="en-US" sz="1300" dirty="0"/>
          </a:p>
        </p:txBody>
      </p:sp>
      <p:sp>
        <p:nvSpPr>
          <p:cNvPr id="31" name="Text 28"/>
          <p:cNvSpPr txBox="1"/>
          <p:nvPr/>
        </p:nvSpPr>
        <p:spPr>
          <a:xfrm>
            <a:off x="8503920" y="5020056"/>
            <a:ext cx="3200400" cy="256032"/>
          </a:xfrm>
          <a:prstGeom prst="rect">
            <a:avLst/>
          </a:prstGeom>
          <a:noFill/>
          <a:ln/>
        </p:spPr>
        <p:txBody>
          <a:bodyPr wrap="square" lIns="0" tIns="0" rIns="0" bIns="0" rtlCol="0" anchor="t"/>
          <a:lstStyle/>
          <a:p>
            <a:pPr indent="0" marL="0">
              <a:buNone/>
            </a:pPr>
            <a:r>
              <a:rPr lang="en-US" sz="1100" dirty="0">
                <a:solidFill>
                  <a:schemeClr val="tx2"/>
                </a:solidFill>
              </a:rPr>
              <a:t>probes + Prometheus</a:t>
            </a:r>
            <a:endParaRPr lang="en-US" sz="1100" dirty="0"/>
          </a:p>
        </p:txBody>
      </p:sp>
      <p:sp>
        <p:nvSpPr>
          <p:cNvPr id="32" name="Text 29"/>
          <p:cNvSpPr txBox="1"/>
          <p:nvPr/>
        </p:nvSpPr>
        <p:spPr>
          <a:xfrm>
            <a:off x="7498080" y="5440680"/>
            <a:ext cx="4160520" cy="457200"/>
          </a:xfrm>
          <a:prstGeom prst="rect">
            <a:avLst/>
          </a:prstGeom>
          <a:noFill/>
          <a:ln/>
        </p:spPr>
        <p:txBody>
          <a:bodyPr wrap="square" lIns="0" tIns="0" rIns="0" bIns="0" rtlCol="0" anchor="t"/>
          <a:lstStyle/>
          <a:p>
            <a:pPr indent="0" marL="0">
              <a:buNone/>
            </a:pPr>
            <a:r>
              <a:rPr lang="en-US" sz="1200" i="1" dirty="0">
                <a:solidFill>
                  <a:schemeClr val="tx2"/>
                </a:solidFill>
              </a:rPr>
              <a:t>Schema owned by Alembic · migrations advisory-locked so replicas can't race</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Tech stack</a:t>
            </a:r>
            <a:endParaRPr lang="en-US" sz="3400" dirty="0"/>
          </a:p>
        </p:txBody>
      </p:sp>
      <p:sp>
        <p:nvSpPr>
          <p:cNvPr id="3" name="stack-card-0"/>
          <p:cNvSpPr/>
          <p:nvPr/>
        </p:nvSpPr>
        <p:spPr>
          <a:xfrm>
            <a:off x="548640" y="1371600"/>
            <a:ext cx="2606040" cy="2240280"/>
          </a:xfrm>
          <a:prstGeom prst="roundRect">
            <a:avLst>
              <a:gd name="adj" fmla="val 4898"/>
            </a:avLst>
          </a:prstGeom>
          <a:solidFill>
            <a:schemeClr val="bg2"/>
          </a:solidFill>
          <a:ln w="12700">
            <a:solidFill>
              <a:schemeClr val="bg2"/>
            </a:solidFill>
            <a:prstDash val="solid"/>
          </a:ln>
        </p:spPr>
      </p:sp>
      <p:sp>
        <p:nvSpPr>
          <p:cNvPr id="4" name="stack-badge-0-circle"/>
          <p:cNvSpPr/>
          <p:nvPr/>
        </p:nvSpPr>
        <p:spPr>
          <a:xfrm>
            <a:off x="777240" y="1600200"/>
            <a:ext cx="548640" cy="548640"/>
          </a:xfrm>
          <a:prstGeom prst="ellipse">
            <a:avLst/>
          </a:prstGeom>
          <a:solidFill>
            <a:schemeClr val="tx1"/>
          </a:solidFill>
          <a:ln w="12700">
            <a:solidFill>
              <a:schemeClr val="tx1"/>
            </a:solidFill>
            <a:prstDash val="solid"/>
          </a:ln>
        </p:spPr>
      </p:sp>
      <p:pic>
        <p:nvPicPr>
          <p:cNvPr id="5" name="stack-badge-0-icon"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6" name="Text 3"/>
          <p:cNvSpPr txBox="1"/>
          <p:nvPr/>
        </p:nvSpPr>
        <p:spPr>
          <a:xfrm>
            <a:off x="777240" y="2286000"/>
            <a:ext cx="2240280" cy="365760"/>
          </a:xfrm>
          <a:prstGeom prst="rect">
            <a:avLst/>
          </a:prstGeom>
          <a:noFill/>
          <a:ln/>
        </p:spPr>
        <p:txBody>
          <a:bodyPr wrap="square" lIns="0" tIns="0" rIns="0" bIns="0" rtlCol="0" anchor="t"/>
          <a:lstStyle/>
          <a:p>
            <a:pPr indent="0" marL="0">
              <a:buNone/>
            </a:pPr>
            <a:r>
              <a:rPr lang="en-US" sz="1800" b="1" dirty="0">
                <a:solidFill>
                  <a:schemeClr val="tx1"/>
                </a:solidFill>
              </a:rPr>
              <a:t>Application</a:t>
            </a:r>
            <a:endParaRPr lang="en-US" sz="1800" dirty="0"/>
          </a:p>
        </p:txBody>
      </p:sp>
      <p:sp>
        <p:nvSpPr>
          <p:cNvPr id="7" name="Text 4"/>
          <p:cNvSpPr txBox="1"/>
          <p:nvPr/>
        </p:nvSpPr>
        <p:spPr>
          <a:xfrm>
            <a:off x="777240" y="2697480"/>
            <a:ext cx="2240280" cy="868680"/>
          </a:xfrm>
          <a:prstGeom prst="rect">
            <a:avLst/>
          </a:prstGeom>
          <a:noFill/>
          <a:ln/>
        </p:spPr>
        <p:txBody>
          <a:bodyPr wrap="square" lIns="0" tIns="0" rIns="0" bIns="0" rtlCol="0" anchor="t"/>
          <a:lstStyle/>
          <a:p>
            <a:pPr indent="0" marL="0">
              <a:buNone/>
            </a:pPr>
            <a:r>
              <a:rPr lang="en-US" sz="1200" dirty="0">
                <a:solidFill>
                  <a:schemeClr val="tx2"/>
                </a:solidFill>
              </a:rPr>
              <a:t>React 19 · Vite 8</a:t>
            </a:r>
            <a:endParaRPr lang="en-US" sz="1200" dirty="0"/>
          </a:p>
          <a:p>
            <a:pPr indent="0" marL="0">
              <a:buNone/>
            </a:pPr>
            <a:r>
              <a:rPr lang="en-US" sz="1200" dirty="0">
                <a:solidFill>
                  <a:schemeClr val="tx2"/>
                </a:solidFill>
              </a:rPr>
              <a:t>FastAPI · SQLAlchemy 2.1</a:t>
            </a:r>
            <a:endParaRPr lang="en-US" sz="1200" dirty="0"/>
          </a:p>
          <a:p>
            <a:pPr indent="0" marL="0">
              <a:buNone/>
            </a:pPr>
            <a:r>
              <a:rPr lang="en-US" sz="1200" dirty="0">
                <a:solidFill>
                  <a:schemeClr val="tx2"/>
                </a:solidFill>
              </a:rPr>
              <a:t>PostgreSQL 16 · Alembic</a:t>
            </a:r>
            <a:endParaRPr lang="en-US" sz="1200" dirty="0"/>
          </a:p>
        </p:txBody>
      </p:sp>
      <p:sp>
        <p:nvSpPr>
          <p:cNvPr id="8" name="stack-card-1"/>
          <p:cNvSpPr/>
          <p:nvPr/>
        </p:nvSpPr>
        <p:spPr>
          <a:xfrm>
            <a:off x="3364992" y="1371600"/>
            <a:ext cx="2606040" cy="2240280"/>
          </a:xfrm>
          <a:prstGeom prst="roundRect">
            <a:avLst>
              <a:gd name="adj" fmla="val 4898"/>
            </a:avLst>
          </a:prstGeom>
          <a:solidFill>
            <a:schemeClr val="bg2"/>
          </a:solidFill>
          <a:ln w="12700">
            <a:solidFill>
              <a:schemeClr val="bg2"/>
            </a:solidFill>
            <a:prstDash val="solid"/>
          </a:ln>
        </p:spPr>
      </p:sp>
      <p:sp>
        <p:nvSpPr>
          <p:cNvPr id="9" name="stack-badge-1-circle"/>
          <p:cNvSpPr/>
          <p:nvPr/>
        </p:nvSpPr>
        <p:spPr>
          <a:xfrm>
            <a:off x="3593592" y="1600200"/>
            <a:ext cx="548640" cy="548640"/>
          </a:xfrm>
          <a:prstGeom prst="ellipse">
            <a:avLst/>
          </a:prstGeom>
          <a:solidFill>
            <a:schemeClr val="tx1"/>
          </a:solidFill>
          <a:ln w="12700">
            <a:solidFill>
              <a:schemeClr val="tx1"/>
            </a:solidFill>
            <a:prstDash val="solid"/>
          </a:ln>
        </p:spPr>
      </p:sp>
      <p:pic>
        <p:nvPicPr>
          <p:cNvPr id="10" name="stack-badge-1-icon" descr="preencoded.png">    </p:cNvPr>
          <p:cNvPicPr>
            <a:picLocks noChangeAspect="1"/>
          </p:cNvPicPr>
          <p:nvPr/>
        </p:nvPicPr>
        <p:blipFill>
          <a:blip r:embed="rId2"/>
          <a:stretch>
            <a:fillRect/>
          </a:stretch>
        </p:blipFill>
        <p:spPr>
          <a:xfrm>
            <a:off x="3730752" y="1737360"/>
            <a:ext cx="274320" cy="274320"/>
          </a:xfrm>
          <a:prstGeom prst="rect">
            <a:avLst/>
          </a:prstGeom>
        </p:spPr>
      </p:pic>
      <p:sp>
        <p:nvSpPr>
          <p:cNvPr id="11" name="Text 7"/>
          <p:cNvSpPr txBox="1"/>
          <p:nvPr/>
        </p:nvSpPr>
        <p:spPr>
          <a:xfrm>
            <a:off x="3593592" y="2286000"/>
            <a:ext cx="2240280" cy="365760"/>
          </a:xfrm>
          <a:prstGeom prst="rect">
            <a:avLst/>
          </a:prstGeom>
          <a:noFill/>
          <a:ln/>
        </p:spPr>
        <p:txBody>
          <a:bodyPr wrap="square" lIns="0" tIns="0" rIns="0" bIns="0" rtlCol="0" anchor="t"/>
          <a:lstStyle/>
          <a:p>
            <a:pPr indent="0" marL="0">
              <a:buNone/>
            </a:pPr>
            <a:r>
              <a:rPr lang="en-US" sz="1800" b="1" dirty="0">
                <a:solidFill>
                  <a:schemeClr val="tx1"/>
                </a:solidFill>
              </a:rPr>
              <a:t>Quality</a:t>
            </a:r>
            <a:endParaRPr lang="en-US" sz="1800" dirty="0"/>
          </a:p>
        </p:txBody>
      </p:sp>
      <p:sp>
        <p:nvSpPr>
          <p:cNvPr id="12" name="Text 8"/>
          <p:cNvSpPr txBox="1"/>
          <p:nvPr/>
        </p:nvSpPr>
        <p:spPr>
          <a:xfrm>
            <a:off x="3593592" y="2697480"/>
            <a:ext cx="2240280" cy="868680"/>
          </a:xfrm>
          <a:prstGeom prst="rect">
            <a:avLst/>
          </a:prstGeom>
          <a:noFill/>
          <a:ln/>
        </p:spPr>
        <p:txBody>
          <a:bodyPr wrap="square" lIns="0" tIns="0" rIns="0" bIns="0" rtlCol="0" anchor="t"/>
          <a:lstStyle/>
          <a:p>
            <a:pPr indent="0" marL="0">
              <a:buNone/>
            </a:pPr>
            <a:r>
              <a:rPr lang="en-US" sz="1200" dirty="0">
                <a:solidFill>
                  <a:schemeClr val="tx2"/>
                </a:solidFill>
              </a:rPr>
              <a:t>pytest 9 · TestClient</a:t>
            </a:r>
            <a:endParaRPr lang="en-US" sz="1200" dirty="0"/>
          </a:p>
          <a:p>
            <a:pPr indent="0" marL="0">
              <a:buNone/>
            </a:pPr>
            <a:r>
              <a:rPr lang="en-US" sz="1200" dirty="0">
                <a:solidFill>
                  <a:schemeClr val="tx2"/>
                </a:solidFill>
              </a:rPr>
              <a:t>in-memory SQLite</a:t>
            </a:r>
            <a:endParaRPr lang="en-US" sz="1200" dirty="0"/>
          </a:p>
          <a:p>
            <a:pPr indent="0" marL="0">
              <a:buNone/>
            </a:pPr>
            <a:r>
              <a:rPr lang="en-US" sz="1200" dirty="0">
                <a:solidFill>
                  <a:schemeClr val="tx2"/>
                </a:solidFill>
              </a:rPr>
              <a:t>16 tests, 7 endpoints</a:t>
            </a:r>
            <a:endParaRPr lang="en-US" sz="1200" dirty="0"/>
          </a:p>
        </p:txBody>
      </p:sp>
      <p:sp>
        <p:nvSpPr>
          <p:cNvPr id="13" name="stack-card-2"/>
          <p:cNvSpPr/>
          <p:nvPr/>
        </p:nvSpPr>
        <p:spPr>
          <a:xfrm>
            <a:off x="6181344" y="1371600"/>
            <a:ext cx="2606040" cy="2240280"/>
          </a:xfrm>
          <a:prstGeom prst="roundRect">
            <a:avLst>
              <a:gd name="adj" fmla="val 4898"/>
            </a:avLst>
          </a:prstGeom>
          <a:solidFill>
            <a:schemeClr val="bg2"/>
          </a:solidFill>
          <a:ln w="12700">
            <a:solidFill>
              <a:schemeClr val="bg2"/>
            </a:solidFill>
            <a:prstDash val="solid"/>
          </a:ln>
        </p:spPr>
      </p:sp>
      <p:sp>
        <p:nvSpPr>
          <p:cNvPr id="14" name="stack-badge-2-circle"/>
          <p:cNvSpPr/>
          <p:nvPr/>
        </p:nvSpPr>
        <p:spPr>
          <a:xfrm>
            <a:off x="6409944" y="1600200"/>
            <a:ext cx="548640" cy="548640"/>
          </a:xfrm>
          <a:prstGeom prst="ellipse">
            <a:avLst/>
          </a:prstGeom>
          <a:solidFill>
            <a:schemeClr val="tx1"/>
          </a:solidFill>
          <a:ln w="12700">
            <a:solidFill>
              <a:schemeClr val="tx1"/>
            </a:solidFill>
            <a:prstDash val="solid"/>
          </a:ln>
        </p:spPr>
      </p:sp>
      <p:pic>
        <p:nvPicPr>
          <p:cNvPr id="15" name="stack-badge-2-icon" descr="preencoded.png">    </p:cNvPr>
          <p:cNvPicPr>
            <a:picLocks noChangeAspect="1"/>
          </p:cNvPicPr>
          <p:nvPr/>
        </p:nvPicPr>
        <p:blipFill>
          <a:blip r:embed="rId3"/>
          <a:stretch>
            <a:fillRect/>
          </a:stretch>
        </p:blipFill>
        <p:spPr>
          <a:xfrm>
            <a:off x="6547104" y="1737360"/>
            <a:ext cx="274320" cy="274320"/>
          </a:xfrm>
          <a:prstGeom prst="rect">
            <a:avLst/>
          </a:prstGeom>
        </p:spPr>
      </p:pic>
      <p:sp>
        <p:nvSpPr>
          <p:cNvPr id="16" name="Text 11"/>
          <p:cNvSpPr txBox="1"/>
          <p:nvPr/>
        </p:nvSpPr>
        <p:spPr>
          <a:xfrm>
            <a:off x="6409944" y="2286000"/>
            <a:ext cx="2240280" cy="365760"/>
          </a:xfrm>
          <a:prstGeom prst="rect">
            <a:avLst/>
          </a:prstGeom>
          <a:noFill/>
          <a:ln/>
        </p:spPr>
        <p:txBody>
          <a:bodyPr wrap="square" lIns="0" tIns="0" rIns="0" bIns="0" rtlCol="0" anchor="t"/>
          <a:lstStyle/>
          <a:p>
            <a:pPr indent="0" marL="0">
              <a:buNone/>
            </a:pPr>
            <a:r>
              <a:rPr lang="en-US" sz="1800" b="1" dirty="0">
                <a:solidFill>
                  <a:schemeClr val="tx1"/>
                </a:solidFill>
              </a:rPr>
              <a:t>Containers</a:t>
            </a:r>
            <a:endParaRPr lang="en-US" sz="1800" dirty="0"/>
          </a:p>
        </p:txBody>
      </p:sp>
      <p:sp>
        <p:nvSpPr>
          <p:cNvPr id="17" name="Text 12"/>
          <p:cNvSpPr txBox="1"/>
          <p:nvPr/>
        </p:nvSpPr>
        <p:spPr>
          <a:xfrm>
            <a:off x="6409944" y="2697480"/>
            <a:ext cx="2240280" cy="868680"/>
          </a:xfrm>
          <a:prstGeom prst="rect">
            <a:avLst/>
          </a:prstGeom>
          <a:noFill/>
          <a:ln/>
        </p:spPr>
        <p:txBody>
          <a:bodyPr wrap="square" lIns="0" tIns="0" rIns="0" bIns="0" rtlCol="0" anchor="t"/>
          <a:lstStyle/>
          <a:p>
            <a:pPr indent="0" marL="0">
              <a:buNone/>
            </a:pPr>
            <a:r>
              <a:rPr lang="en-US" sz="1200" dirty="0">
                <a:solidFill>
                  <a:schemeClr val="tx2"/>
                </a:solidFill>
              </a:rPr>
              <a:t>multi-stage Dockerfiles</a:t>
            </a:r>
            <a:endParaRPr lang="en-US" sz="1200" dirty="0"/>
          </a:p>
          <a:p>
            <a:pPr indent="0" marL="0">
              <a:buNone/>
            </a:pPr>
            <a:r>
              <a:rPr lang="en-US" sz="1200" dirty="0">
                <a:solidFill>
                  <a:schemeClr val="tx2"/>
                </a:solidFill>
              </a:rPr>
              <a:t>non-root (uid 10001 / 101)</a:t>
            </a:r>
            <a:endParaRPr lang="en-US" sz="1200" dirty="0"/>
          </a:p>
          <a:p>
            <a:pPr indent="0" marL="0">
              <a:buNone/>
            </a:pPr>
            <a:r>
              <a:rPr lang="en-US" sz="1200" dirty="0">
                <a:solidFill>
                  <a:schemeClr val="tx2"/>
                </a:solidFill>
              </a:rPr>
              <a:t>Docker Compose</a:t>
            </a:r>
            <a:endParaRPr lang="en-US" sz="1200" dirty="0"/>
          </a:p>
        </p:txBody>
      </p:sp>
      <p:sp>
        <p:nvSpPr>
          <p:cNvPr id="18" name="stack-card-3"/>
          <p:cNvSpPr/>
          <p:nvPr/>
        </p:nvSpPr>
        <p:spPr>
          <a:xfrm>
            <a:off x="8997696" y="1371600"/>
            <a:ext cx="2606040" cy="2240280"/>
          </a:xfrm>
          <a:prstGeom prst="roundRect">
            <a:avLst>
              <a:gd name="adj" fmla="val 4898"/>
            </a:avLst>
          </a:prstGeom>
          <a:solidFill>
            <a:schemeClr val="bg2"/>
          </a:solidFill>
          <a:ln w="12700">
            <a:solidFill>
              <a:schemeClr val="bg2"/>
            </a:solidFill>
            <a:prstDash val="solid"/>
          </a:ln>
        </p:spPr>
      </p:sp>
      <p:sp>
        <p:nvSpPr>
          <p:cNvPr id="19" name="stack-badge-3-circle"/>
          <p:cNvSpPr/>
          <p:nvPr/>
        </p:nvSpPr>
        <p:spPr>
          <a:xfrm>
            <a:off x="9226296" y="1600200"/>
            <a:ext cx="548640" cy="548640"/>
          </a:xfrm>
          <a:prstGeom prst="ellipse">
            <a:avLst/>
          </a:prstGeom>
          <a:solidFill>
            <a:schemeClr val="tx1"/>
          </a:solidFill>
          <a:ln w="12700">
            <a:solidFill>
              <a:schemeClr val="tx1"/>
            </a:solidFill>
            <a:prstDash val="solid"/>
          </a:ln>
        </p:spPr>
      </p:sp>
      <p:pic>
        <p:nvPicPr>
          <p:cNvPr id="20" name="stack-badge-3-icon" descr="preencoded.png">    </p:cNvPr>
          <p:cNvPicPr>
            <a:picLocks noChangeAspect="1"/>
          </p:cNvPicPr>
          <p:nvPr/>
        </p:nvPicPr>
        <p:blipFill>
          <a:blip r:embed="rId4"/>
          <a:stretch>
            <a:fillRect/>
          </a:stretch>
        </p:blipFill>
        <p:spPr>
          <a:xfrm>
            <a:off x="9363456" y="1737360"/>
            <a:ext cx="274320" cy="274320"/>
          </a:xfrm>
          <a:prstGeom prst="rect">
            <a:avLst/>
          </a:prstGeom>
        </p:spPr>
      </p:pic>
      <p:sp>
        <p:nvSpPr>
          <p:cNvPr id="21" name="Text 15"/>
          <p:cNvSpPr txBox="1"/>
          <p:nvPr/>
        </p:nvSpPr>
        <p:spPr>
          <a:xfrm>
            <a:off x="9226296" y="2286000"/>
            <a:ext cx="2240280" cy="365760"/>
          </a:xfrm>
          <a:prstGeom prst="rect">
            <a:avLst/>
          </a:prstGeom>
          <a:noFill/>
          <a:ln/>
        </p:spPr>
        <p:txBody>
          <a:bodyPr wrap="square" lIns="0" tIns="0" rIns="0" bIns="0" rtlCol="0" anchor="t"/>
          <a:lstStyle/>
          <a:p>
            <a:pPr indent="0" marL="0">
              <a:buNone/>
            </a:pPr>
            <a:r>
              <a:rPr lang="en-US" sz="1800" b="1" dirty="0">
                <a:solidFill>
                  <a:schemeClr val="tx1"/>
                </a:solidFill>
              </a:rPr>
              <a:t>CI/CD</a:t>
            </a:r>
            <a:endParaRPr lang="en-US" sz="1800" dirty="0"/>
          </a:p>
        </p:txBody>
      </p:sp>
      <p:sp>
        <p:nvSpPr>
          <p:cNvPr id="22" name="Text 16"/>
          <p:cNvSpPr txBox="1"/>
          <p:nvPr/>
        </p:nvSpPr>
        <p:spPr>
          <a:xfrm>
            <a:off x="9226296" y="2697480"/>
            <a:ext cx="2240280" cy="868680"/>
          </a:xfrm>
          <a:prstGeom prst="rect">
            <a:avLst/>
          </a:prstGeom>
          <a:noFill/>
          <a:ln/>
        </p:spPr>
        <p:txBody>
          <a:bodyPr wrap="square" lIns="0" tIns="0" rIns="0" bIns="0" rtlCol="0" anchor="t"/>
          <a:lstStyle/>
          <a:p>
            <a:pPr indent="0" marL="0">
              <a:buNone/>
            </a:pPr>
            <a:r>
              <a:rPr lang="en-US" sz="1200" dirty="0">
                <a:solidFill>
                  <a:schemeClr val="tx2"/>
                </a:solidFill>
              </a:rPr>
              <a:t>GitHub Actions</a:t>
            </a:r>
            <a:endParaRPr lang="en-US" sz="1200" dirty="0"/>
          </a:p>
          <a:p>
            <a:pPr indent="0" marL="0">
              <a:buNone/>
            </a:pPr>
            <a:r>
              <a:rPr lang="en-US" sz="1200" dirty="0">
                <a:solidFill>
                  <a:schemeClr val="tx2"/>
                </a:solidFill>
              </a:rPr>
              <a:t>GHCR, SHA-tagged images</a:t>
            </a:r>
            <a:endParaRPr lang="en-US" sz="1200" dirty="0"/>
          </a:p>
          <a:p>
            <a:pPr indent="0" marL="0">
              <a:buNone/>
            </a:pPr>
            <a:r>
              <a:rPr lang="en-US" sz="1200" dirty="0">
                <a:solidFill>
                  <a:schemeClr val="tx2"/>
                </a:solidFill>
              </a:rPr>
              <a:t>kind smoke deploy</a:t>
            </a:r>
            <a:endParaRPr lang="en-US" sz="1200" dirty="0"/>
          </a:p>
        </p:txBody>
      </p:sp>
      <p:sp>
        <p:nvSpPr>
          <p:cNvPr id="23" name="stack-card-4"/>
          <p:cNvSpPr/>
          <p:nvPr/>
        </p:nvSpPr>
        <p:spPr>
          <a:xfrm>
            <a:off x="548640" y="3886200"/>
            <a:ext cx="2606040" cy="2240280"/>
          </a:xfrm>
          <a:prstGeom prst="roundRect">
            <a:avLst>
              <a:gd name="adj" fmla="val 4898"/>
            </a:avLst>
          </a:prstGeom>
          <a:solidFill>
            <a:schemeClr val="bg2"/>
          </a:solidFill>
          <a:ln w="12700">
            <a:solidFill>
              <a:schemeClr val="bg2"/>
            </a:solidFill>
            <a:prstDash val="solid"/>
          </a:ln>
        </p:spPr>
      </p:sp>
      <p:sp>
        <p:nvSpPr>
          <p:cNvPr id="24" name="stack-badge-4-circle"/>
          <p:cNvSpPr/>
          <p:nvPr/>
        </p:nvSpPr>
        <p:spPr>
          <a:xfrm>
            <a:off x="777240" y="4114800"/>
            <a:ext cx="548640" cy="548640"/>
          </a:xfrm>
          <a:prstGeom prst="ellipse">
            <a:avLst/>
          </a:prstGeom>
          <a:solidFill>
            <a:schemeClr val="tx1"/>
          </a:solidFill>
          <a:ln w="12700">
            <a:solidFill>
              <a:schemeClr val="tx1"/>
            </a:solidFill>
            <a:prstDash val="solid"/>
          </a:ln>
        </p:spPr>
      </p:sp>
      <p:pic>
        <p:nvPicPr>
          <p:cNvPr id="25" name="stack-badge-4-icon" descr="preencoded.png">    </p:cNvPr>
          <p:cNvPicPr>
            <a:picLocks noChangeAspect="1"/>
          </p:cNvPicPr>
          <p:nvPr/>
        </p:nvPicPr>
        <p:blipFill>
          <a:blip r:embed="rId5"/>
          <a:stretch>
            <a:fillRect/>
          </a:stretch>
        </p:blipFill>
        <p:spPr>
          <a:xfrm>
            <a:off x="914400" y="4251960"/>
            <a:ext cx="274320" cy="274320"/>
          </a:xfrm>
          <a:prstGeom prst="rect">
            <a:avLst/>
          </a:prstGeom>
        </p:spPr>
      </p:pic>
      <p:sp>
        <p:nvSpPr>
          <p:cNvPr id="26" name="Text 19"/>
          <p:cNvSpPr txBox="1"/>
          <p:nvPr/>
        </p:nvSpPr>
        <p:spPr>
          <a:xfrm>
            <a:off x="777240" y="4800600"/>
            <a:ext cx="2240280" cy="365760"/>
          </a:xfrm>
          <a:prstGeom prst="rect">
            <a:avLst/>
          </a:prstGeom>
          <a:noFill/>
          <a:ln/>
        </p:spPr>
        <p:txBody>
          <a:bodyPr wrap="square" lIns="0" tIns="0" rIns="0" bIns="0" rtlCol="0" anchor="t"/>
          <a:lstStyle/>
          <a:p>
            <a:pPr indent="0" marL="0">
              <a:buNone/>
            </a:pPr>
            <a:r>
              <a:rPr lang="en-US" sz="1800" b="1" dirty="0">
                <a:solidFill>
                  <a:schemeClr val="tx1"/>
                </a:solidFill>
              </a:rPr>
              <a:t>Security</a:t>
            </a:r>
            <a:endParaRPr lang="en-US" sz="1800" dirty="0"/>
          </a:p>
        </p:txBody>
      </p:sp>
      <p:sp>
        <p:nvSpPr>
          <p:cNvPr id="27" name="Text 20"/>
          <p:cNvSpPr txBox="1"/>
          <p:nvPr/>
        </p:nvSpPr>
        <p:spPr>
          <a:xfrm>
            <a:off x="777240" y="5212080"/>
            <a:ext cx="2240280" cy="868680"/>
          </a:xfrm>
          <a:prstGeom prst="rect">
            <a:avLst/>
          </a:prstGeom>
          <a:noFill/>
          <a:ln/>
        </p:spPr>
        <p:txBody>
          <a:bodyPr wrap="square" lIns="0" tIns="0" rIns="0" bIns="0" rtlCol="0" anchor="t"/>
          <a:lstStyle/>
          <a:p>
            <a:pPr indent="0" marL="0">
              <a:buNone/>
            </a:pPr>
            <a:r>
              <a:rPr lang="en-US" sz="1200" dirty="0">
                <a:solidFill>
                  <a:schemeClr val="tx2"/>
                </a:solidFill>
              </a:rPr>
              <a:t>Trivy 0.75 image gate</a:t>
            </a:r>
            <a:endParaRPr lang="en-US" sz="1200" dirty="0"/>
          </a:p>
          <a:p>
            <a:pPr indent="0" marL="0">
              <a:buNone/>
            </a:pPr>
            <a:r>
              <a:rPr lang="en-US" sz="1200" dirty="0">
                <a:solidFill>
                  <a:schemeClr val="tx2"/>
                </a:solidFill>
              </a:rPr>
              <a:t>Pod Security Admission</a:t>
            </a:r>
            <a:endParaRPr lang="en-US" sz="1200" dirty="0"/>
          </a:p>
          <a:p>
            <a:pPr indent="0" marL="0">
              <a:buNone/>
            </a:pPr>
            <a:r>
              <a:rPr lang="en-US" sz="1200" dirty="0">
                <a:solidFill>
                  <a:schemeClr val="tx2"/>
                </a:solidFill>
              </a:rPr>
              <a:t>dropped capabilities</a:t>
            </a:r>
            <a:endParaRPr lang="en-US" sz="1200" dirty="0"/>
          </a:p>
        </p:txBody>
      </p:sp>
      <p:sp>
        <p:nvSpPr>
          <p:cNvPr id="28" name="stack-card-5"/>
          <p:cNvSpPr/>
          <p:nvPr/>
        </p:nvSpPr>
        <p:spPr>
          <a:xfrm>
            <a:off x="3364992" y="3886200"/>
            <a:ext cx="2606040" cy="2240280"/>
          </a:xfrm>
          <a:prstGeom prst="roundRect">
            <a:avLst>
              <a:gd name="adj" fmla="val 4898"/>
            </a:avLst>
          </a:prstGeom>
          <a:solidFill>
            <a:schemeClr val="bg2"/>
          </a:solidFill>
          <a:ln w="12700">
            <a:solidFill>
              <a:schemeClr val="bg2"/>
            </a:solidFill>
            <a:prstDash val="solid"/>
          </a:ln>
        </p:spPr>
      </p:sp>
      <p:sp>
        <p:nvSpPr>
          <p:cNvPr id="29" name="stack-badge-5-circle"/>
          <p:cNvSpPr/>
          <p:nvPr/>
        </p:nvSpPr>
        <p:spPr>
          <a:xfrm>
            <a:off x="3593592" y="4114800"/>
            <a:ext cx="548640" cy="548640"/>
          </a:xfrm>
          <a:prstGeom prst="ellipse">
            <a:avLst/>
          </a:prstGeom>
          <a:solidFill>
            <a:schemeClr val="tx1"/>
          </a:solidFill>
          <a:ln w="12700">
            <a:solidFill>
              <a:schemeClr val="tx1"/>
            </a:solidFill>
            <a:prstDash val="solid"/>
          </a:ln>
        </p:spPr>
      </p:sp>
      <p:pic>
        <p:nvPicPr>
          <p:cNvPr id="30" name="stack-badge-5-icon" descr="preencoded.png">    </p:cNvPr>
          <p:cNvPicPr>
            <a:picLocks noChangeAspect="1"/>
          </p:cNvPicPr>
          <p:nvPr/>
        </p:nvPicPr>
        <p:blipFill>
          <a:blip r:embed="rId6"/>
          <a:stretch>
            <a:fillRect/>
          </a:stretch>
        </p:blipFill>
        <p:spPr>
          <a:xfrm>
            <a:off x="3730752" y="4251960"/>
            <a:ext cx="274320" cy="274320"/>
          </a:xfrm>
          <a:prstGeom prst="rect">
            <a:avLst/>
          </a:prstGeom>
        </p:spPr>
      </p:pic>
      <p:sp>
        <p:nvSpPr>
          <p:cNvPr id="31" name="Text 23"/>
          <p:cNvSpPr txBox="1"/>
          <p:nvPr/>
        </p:nvSpPr>
        <p:spPr>
          <a:xfrm>
            <a:off x="3593592" y="4800600"/>
            <a:ext cx="2240280" cy="365760"/>
          </a:xfrm>
          <a:prstGeom prst="rect">
            <a:avLst/>
          </a:prstGeom>
          <a:noFill/>
          <a:ln/>
        </p:spPr>
        <p:txBody>
          <a:bodyPr wrap="square" lIns="0" tIns="0" rIns="0" bIns="0" rtlCol="0" anchor="t"/>
          <a:lstStyle/>
          <a:p>
            <a:pPr indent="0" marL="0">
              <a:buNone/>
            </a:pPr>
            <a:r>
              <a:rPr lang="en-US" sz="1800" b="1" dirty="0">
                <a:solidFill>
                  <a:schemeClr val="tx1"/>
                </a:solidFill>
              </a:rPr>
              <a:t>Infrastructure</a:t>
            </a:r>
            <a:endParaRPr lang="en-US" sz="1800" dirty="0"/>
          </a:p>
        </p:txBody>
      </p:sp>
      <p:sp>
        <p:nvSpPr>
          <p:cNvPr id="32" name="Text 24"/>
          <p:cNvSpPr txBox="1"/>
          <p:nvPr/>
        </p:nvSpPr>
        <p:spPr>
          <a:xfrm>
            <a:off x="3593592" y="5212080"/>
            <a:ext cx="2240280" cy="868680"/>
          </a:xfrm>
          <a:prstGeom prst="rect">
            <a:avLst/>
          </a:prstGeom>
          <a:noFill/>
          <a:ln/>
        </p:spPr>
        <p:txBody>
          <a:bodyPr wrap="square" lIns="0" tIns="0" rIns="0" bIns="0" rtlCol="0" anchor="t"/>
          <a:lstStyle/>
          <a:p>
            <a:pPr indent="0" marL="0">
              <a:buNone/>
            </a:pPr>
            <a:r>
              <a:rPr lang="en-US" sz="1200" dirty="0">
                <a:solidFill>
                  <a:schemeClr val="tx2"/>
                </a:solidFill>
              </a:rPr>
              <a:t>Terraform · AWS VPC</a:t>
            </a:r>
            <a:endParaRPr lang="en-US" sz="1200" dirty="0"/>
          </a:p>
          <a:p>
            <a:pPr indent="0" marL="0">
              <a:buNone/>
            </a:pPr>
            <a:r>
              <a:rPr lang="en-US" sz="1200" dirty="0">
                <a:solidFill>
                  <a:schemeClr val="tx2"/>
                </a:solidFill>
              </a:rPr>
              <a:t>EKS 1.35 · node group</a:t>
            </a:r>
            <a:endParaRPr lang="en-US" sz="1200" dirty="0"/>
          </a:p>
          <a:p>
            <a:pPr indent="0" marL="0">
              <a:buNone/>
            </a:pPr>
            <a:r>
              <a:rPr lang="en-US" sz="1200" dirty="0">
                <a:solidFill>
                  <a:schemeClr val="tx2"/>
                </a:solidFill>
              </a:rPr>
              <a:t>EBS CSI · Pod Identity</a:t>
            </a:r>
            <a:endParaRPr lang="en-US" sz="1200" dirty="0"/>
          </a:p>
        </p:txBody>
      </p:sp>
      <p:sp>
        <p:nvSpPr>
          <p:cNvPr id="33" name="stack-card-6"/>
          <p:cNvSpPr/>
          <p:nvPr/>
        </p:nvSpPr>
        <p:spPr>
          <a:xfrm>
            <a:off x="6181344" y="3886200"/>
            <a:ext cx="2606040" cy="2240280"/>
          </a:xfrm>
          <a:prstGeom prst="roundRect">
            <a:avLst>
              <a:gd name="adj" fmla="val 4898"/>
            </a:avLst>
          </a:prstGeom>
          <a:solidFill>
            <a:schemeClr val="bg2"/>
          </a:solidFill>
          <a:ln w="12700">
            <a:solidFill>
              <a:schemeClr val="bg2"/>
            </a:solidFill>
            <a:prstDash val="solid"/>
          </a:ln>
        </p:spPr>
      </p:sp>
      <p:sp>
        <p:nvSpPr>
          <p:cNvPr id="34" name="stack-badge-6-circle"/>
          <p:cNvSpPr/>
          <p:nvPr/>
        </p:nvSpPr>
        <p:spPr>
          <a:xfrm>
            <a:off x="6409944" y="4114800"/>
            <a:ext cx="548640" cy="548640"/>
          </a:xfrm>
          <a:prstGeom prst="ellipse">
            <a:avLst/>
          </a:prstGeom>
          <a:solidFill>
            <a:schemeClr val="tx1"/>
          </a:solidFill>
          <a:ln w="12700">
            <a:solidFill>
              <a:schemeClr val="tx1"/>
            </a:solidFill>
            <a:prstDash val="solid"/>
          </a:ln>
        </p:spPr>
      </p:sp>
      <p:pic>
        <p:nvPicPr>
          <p:cNvPr id="35" name="stack-badge-6-icon" descr="preencoded.png">    </p:cNvPr>
          <p:cNvPicPr>
            <a:picLocks noChangeAspect="1"/>
          </p:cNvPicPr>
          <p:nvPr/>
        </p:nvPicPr>
        <p:blipFill>
          <a:blip r:embed="rId7"/>
          <a:stretch>
            <a:fillRect/>
          </a:stretch>
        </p:blipFill>
        <p:spPr>
          <a:xfrm>
            <a:off x="6547104" y="4251960"/>
            <a:ext cx="274320" cy="274320"/>
          </a:xfrm>
          <a:prstGeom prst="rect">
            <a:avLst/>
          </a:prstGeom>
        </p:spPr>
      </p:pic>
      <p:sp>
        <p:nvSpPr>
          <p:cNvPr id="36" name="Text 27"/>
          <p:cNvSpPr txBox="1"/>
          <p:nvPr/>
        </p:nvSpPr>
        <p:spPr>
          <a:xfrm>
            <a:off x="6409944" y="4800600"/>
            <a:ext cx="2240280" cy="365760"/>
          </a:xfrm>
          <a:prstGeom prst="rect">
            <a:avLst/>
          </a:prstGeom>
          <a:noFill/>
          <a:ln/>
        </p:spPr>
        <p:txBody>
          <a:bodyPr wrap="square" lIns="0" tIns="0" rIns="0" bIns="0" rtlCol="0" anchor="t"/>
          <a:lstStyle/>
          <a:p>
            <a:pPr indent="0" marL="0">
              <a:buNone/>
            </a:pPr>
            <a:r>
              <a:rPr lang="en-US" sz="1800" b="1" dirty="0">
                <a:solidFill>
                  <a:schemeClr val="tx1"/>
                </a:solidFill>
              </a:rPr>
              <a:t>Delivery</a:t>
            </a:r>
            <a:endParaRPr lang="en-US" sz="1800" dirty="0"/>
          </a:p>
        </p:txBody>
      </p:sp>
      <p:sp>
        <p:nvSpPr>
          <p:cNvPr id="37" name="Text 28"/>
          <p:cNvSpPr txBox="1"/>
          <p:nvPr/>
        </p:nvSpPr>
        <p:spPr>
          <a:xfrm>
            <a:off x="6409944" y="5212080"/>
            <a:ext cx="2240280" cy="868680"/>
          </a:xfrm>
          <a:prstGeom prst="rect">
            <a:avLst/>
          </a:prstGeom>
          <a:noFill/>
          <a:ln/>
        </p:spPr>
        <p:txBody>
          <a:bodyPr wrap="square" lIns="0" tIns="0" rIns="0" bIns="0" rtlCol="0" anchor="t"/>
          <a:lstStyle/>
          <a:p>
            <a:pPr indent="0" marL="0">
              <a:buNone/>
            </a:pPr>
            <a:r>
              <a:rPr lang="en-US" sz="1200" dirty="0">
                <a:solidFill>
                  <a:schemeClr val="tx2"/>
                </a:solidFill>
              </a:rPr>
              <a:t>Helm chart · Traefik Ingress</a:t>
            </a:r>
            <a:endParaRPr lang="en-US" sz="1200" dirty="0"/>
          </a:p>
          <a:p>
            <a:pPr indent="0" marL="0">
              <a:buNone/>
            </a:pPr>
            <a:r>
              <a:rPr lang="en-US" sz="1200" dirty="0">
                <a:solidFill>
                  <a:schemeClr val="tx2"/>
                </a:solidFill>
              </a:rPr>
              <a:t>HPA · metrics-server</a:t>
            </a:r>
            <a:endParaRPr lang="en-US" sz="1200" dirty="0"/>
          </a:p>
          <a:p>
            <a:pPr indent="0" marL="0">
              <a:buNone/>
            </a:pPr>
            <a:r>
              <a:rPr lang="en-US" sz="1200" dirty="0">
                <a:solidFill>
                  <a:schemeClr val="tx2"/>
                </a:solidFill>
              </a:rPr>
              <a:t>Argo CD (GitOps)</a:t>
            </a:r>
            <a:endParaRPr lang="en-US" sz="1200" dirty="0"/>
          </a:p>
        </p:txBody>
      </p:sp>
      <p:sp>
        <p:nvSpPr>
          <p:cNvPr id="38" name="stack-card-7"/>
          <p:cNvSpPr/>
          <p:nvPr/>
        </p:nvSpPr>
        <p:spPr>
          <a:xfrm>
            <a:off x="8997696" y="3886200"/>
            <a:ext cx="2606040" cy="2240280"/>
          </a:xfrm>
          <a:prstGeom prst="roundRect">
            <a:avLst>
              <a:gd name="adj" fmla="val 4898"/>
            </a:avLst>
          </a:prstGeom>
          <a:solidFill>
            <a:schemeClr val="bg2"/>
          </a:solidFill>
          <a:ln w="12700">
            <a:solidFill>
              <a:schemeClr val="bg2"/>
            </a:solidFill>
            <a:prstDash val="solid"/>
          </a:ln>
        </p:spPr>
      </p:sp>
      <p:sp>
        <p:nvSpPr>
          <p:cNvPr id="39" name="stack-badge-7-circle"/>
          <p:cNvSpPr/>
          <p:nvPr/>
        </p:nvSpPr>
        <p:spPr>
          <a:xfrm>
            <a:off x="9226296" y="4114800"/>
            <a:ext cx="548640" cy="548640"/>
          </a:xfrm>
          <a:prstGeom prst="ellipse">
            <a:avLst/>
          </a:prstGeom>
          <a:solidFill>
            <a:schemeClr val="tx1"/>
          </a:solidFill>
          <a:ln w="12700">
            <a:solidFill>
              <a:schemeClr val="tx1"/>
            </a:solidFill>
            <a:prstDash val="solid"/>
          </a:ln>
        </p:spPr>
      </p:sp>
      <p:pic>
        <p:nvPicPr>
          <p:cNvPr id="40" name="stack-badge-7-icon" descr="preencoded.png">    </p:cNvPr>
          <p:cNvPicPr>
            <a:picLocks noChangeAspect="1"/>
          </p:cNvPicPr>
          <p:nvPr/>
        </p:nvPicPr>
        <p:blipFill>
          <a:blip r:embed="rId8"/>
          <a:stretch>
            <a:fillRect/>
          </a:stretch>
        </p:blipFill>
        <p:spPr>
          <a:xfrm>
            <a:off x="9363456" y="4251960"/>
            <a:ext cx="274320" cy="274320"/>
          </a:xfrm>
          <a:prstGeom prst="rect">
            <a:avLst/>
          </a:prstGeom>
        </p:spPr>
      </p:pic>
      <p:sp>
        <p:nvSpPr>
          <p:cNvPr id="41" name="Text 31"/>
          <p:cNvSpPr txBox="1"/>
          <p:nvPr/>
        </p:nvSpPr>
        <p:spPr>
          <a:xfrm>
            <a:off x="9226296" y="4800600"/>
            <a:ext cx="2240280" cy="365760"/>
          </a:xfrm>
          <a:prstGeom prst="rect">
            <a:avLst/>
          </a:prstGeom>
          <a:noFill/>
          <a:ln/>
        </p:spPr>
        <p:txBody>
          <a:bodyPr wrap="square" lIns="0" tIns="0" rIns="0" bIns="0" rtlCol="0" anchor="t"/>
          <a:lstStyle/>
          <a:p>
            <a:pPr indent="0" marL="0">
              <a:buNone/>
            </a:pPr>
            <a:r>
              <a:rPr lang="en-US" sz="1800" b="1" dirty="0">
                <a:solidFill>
                  <a:schemeClr val="tx1"/>
                </a:solidFill>
              </a:rPr>
              <a:t>Observability</a:t>
            </a:r>
            <a:endParaRPr lang="en-US" sz="1800" dirty="0"/>
          </a:p>
        </p:txBody>
      </p:sp>
      <p:sp>
        <p:nvSpPr>
          <p:cNvPr id="42" name="Text 32"/>
          <p:cNvSpPr txBox="1"/>
          <p:nvPr/>
        </p:nvSpPr>
        <p:spPr>
          <a:xfrm>
            <a:off x="9226296" y="5212080"/>
            <a:ext cx="2240280" cy="868680"/>
          </a:xfrm>
          <a:prstGeom prst="rect">
            <a:avLst/>
          </a:prstGeom>
          <a:noFill/>
          <a:ln/>
        </p:spPr>
        <p:txBody>
          <a:bodyPr wrap="square" lIns="0" tIns="0" rIns="0" bIns="0" rtlCol="0" anchor="t"/>
          <a:lstStyle/>
          <a:p>
            <a:pPr indent="0" marL="0">
              <a:buNone/>
            </a:pPr>
            <a:r>
              <a:rPr lang="en-US" sz="1200" dirty="0">
                <a:solidFill>
                  <a:schemeClr val="tx2"/>
                </a:solidFill>
              </a:rPr>
              <a:t>Prometheus Operator</a:t>
            </a:r>
            <a:endParaRPr lang="en-US" sz="1200" dirty="0"/>
          </a:p>
          <a:p>
            <a:pPr indent="0" marL="0">
              <a:buNone/>
            </a:pPr>
            <a:r>
              <a:rPr lang="en-US" sz="1200" dirty="0">
                <a:solidFill>
                  <a:schemeClr val="tx2"/>
                </a:solidFill>
              </a:rPr>
              <a:t>ServiceMonitor</a:t>
            </a:r>
            <a:endParaRPr lang="en-US" sz="1200" dirty="0"/>
          </a:p>
          <a:p>
            <a:pPr indent="0" marL="0">
              <a:buNone/>
            </a:pPr>
            <a:r>
              <a:rPr lang="en-US" sz="1200" dirty="0">
                <a:solidFill>
                  <a:schemeClr val="tx2"/>
                </a:solidFill>
              </a:rPr>
              <a:t>Grafana dashboard</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Architecture</a:t>
            </a:r>
            <a:endParaRPr lang="en-US" sz="3400" dirty="0"/>
          </a:p>
        </p:txBody>
      </p:sp>
      <p:sp>
        <p:nvSpPr>
          <p:cNvPr id="3" name="chain-0"/>
          <p:cNvSpPr/>
          <p:nvPr/>
        </p:nvSpPr>
        <p:spPr>
          <a:xfrm>
            <a:off x="548640" y="1325880"/>
            <a:ext cx="2651760" cy="868680"/>
          </a:xfrm>
          <a:prstGeom prst="roundRect">
            <a:avLst>
              <a:gd name="adj" fmla="val 12632"/>
            </a:avLst>
          </a:prstGeom>
          <a:solidFill>
            <a:schemeClr val="bg2"/>
          </a:solidFill>
          <a:ln w="12700">
            <a:solidFill>
              <a:schemeClr val="bg2"/>
            </a:solidFill>
            <a:prstDash val="solid"/>
          </a:ln>
        </p:spPr>
      </p:sp>
      <p:sp>
        <p:nvSpPr>
          <p:cNvPr id="4" name="chain-badge-0-circle"/>
          <p:cNvSpPr/>
          <p:nvPr/>
        </p:nvSpPr>
        <p:spPr>
          <a:xfrm>
            <a:off x="713232" y="1508760"/>
            <a:ext cx="502920" cy="502920"/>
          </a:xfrm>
          <a:prstGeom prst="ellipse">
            <a:avLst/>
          </a:prstGeom>
          <a:solidFill>
            <a:schemeClr val="tx1"/>
          </a:solidFill>
          <a:ln w="12700">
            <a:solidFill>
              <a:schemeClr val="tx1"/>
            </a:solidFill>
            <a:prstDash val="solid"/>
          </a:ln>
        </p:spPr>
      </p:sp>
      <p:pic>
        <p:nvPicPr>
          <p:cNvPr id="5" name="chain-badge-0-icon" descr="preencoded.png">    </p:cNvPr>
          <p:cNvPicPr>
            <a:picLocks noChangeAspect="1"/>
          </p:cNvPicPr>
          <p:nvPr/>
        </p:nvPicPr>
        <p:blipFill>
          <a:blip r:embed="rId1"/>
          <a:stretch>
            <a:fillRect/>
          </a:stretch>
        </p:blipFill>
        <p:spPr>
          <a:xfrm>
            <a:off x="838962" y="1634490"/>
            <a:ext cx="251460" cy="251460"/>
          </a:xfrm>
          <a:prstGeom prst="rect">
            <a:avLst/>
          </a:prstGeom>
        </p:spPr>
      </p:pic>
      <p:sp>
        <p:nvSpPr>
          <p:cNvPr id="6" name="Text 3"/>
          <p:cNvSpPr txBox="1"/>
          <p:nvPr/>
        </p:nvSpPr>
        <p:spPr>
          <a:xfrm>
            <a:off x="1371600" y="1481328"/>
            <a:ext cx="1783080" cy="320040"/>
          </a:xfrm>
          <a:prstGeom prst="rect">
            <a:avLst/>
          </a:prstGeom>
          <a:noFill/>
          <a:ln/>
        </p:spPr>
        <p:txBody>
          <a:bodyPr wrap="square" lIns="0" tIns="0" rIns="0" bIns="0" rtlCol="0" anchor="t"/>
          <a:lstStyle/>
          <a:p>
            <a:pPr indent="0" marL="0">
              <a:buNone/>
            </a:pPr>
            <a:r>
              <a:rPr lang="en-US" sz="1400" b="1" dirty="0">
                <a:solidFill>
                  <a:schemeClr val="tx1"/>
                </a:solidFill>
              </a:rPr>
              <a:t>Developer</a:t>
            </a:r>
            <a:endParaRPr lang="en-US" sz="1400" dirty="0"/>
          </a:p>
        </p:txBody>
      </p:sp>
      <p:sp>
        <p:nvSpPr>
          <p:cNvPr id="7" name="Text 4"/>
          <p:cNvSpPr txBox="1"/>
          <p:nvPr/>
        </p:nvSpPr>
        <p:spPr>
          <a:xfrm>
            <a:off x="1371600" y="1801368"/>
            <a:ext cx="1783080" cy="274320"/>
          </a:xfrm>
          <a:prstGeom prst="rect">
            <a:avLst/>
          </a:prstGeom>
          <a:noFill/>
          <a:ln/>
        </p:spPr>
        <p:txBody>
          <a:bodyPr wrap="square" lIns="0" tIns="0" rIns="0" bIns="0" rtlCol="0" anchor="t"/>
          <a:lstStyle/>
          <a:p>
            <a:pPr indent="0" marL="0">
              <a:buNone/>
            </a:pPr>
            <a:r>
              <a:rPr lang="en-US" sz="1100" dirty="0">
                <a:solidFill>
                  <a:schemeClr val="tx2"/>
                </a:solidFill>
              </a:rPr>
              <a:t>git push</a:t>
            </a:r>
            <a:endParaRPr lang="en-US" sz="1100" dirty="0"/>
          </a:p>
        </p:txBody>
      </p:sp>
      <p:sp>
        <p:nvSpPr>
          <p:cNvPr id="8" name="chain-arrow-0"/>
          <p:cNvSpPr/>
          <p:nvPr/>
        </p:nvSpPr>
        <p:spPr>
          <a:xfrm>
            <a:off x="1874520" y="2212848"/>
            <a:ext cx="0" cy="301752"/>
          </a:xfrm>
          <a:prstGeom prst="line">
            <a:avLst/>
          </a:prstGeom>
          <a:noFill/>
          <a:ln w="22225">
            <a:solidFill>
              <a:schemeClr val="accent6"/>
            </a:solidFill>
            <a:prstDash val="solid"/>
            <a:tailEnd type="triangle"/>
          </a:ln>
        </p:spPr>
      </p:sp>
      <p:sp>
        <p:nvSpPr>
          <p:cNvPr id="9" name="chain-1"/>
          <p:cNvSpPr/>
          <p:nvPr/>
        </p:nvSpPr>
        <p:spPr>
          <a:xfrm>
            <a:off x="548640" y="2532888"/>
            <a:ext cx="2651760" cy="868680"/>
          </a:xfrm>
          <a:prstGeom prst="roundRect">
            <a:avLst>
              <a:gd name="adj" fmla="val 12632"/>
            </a:avLst>
          </a:prstGeom>
          <a:solidFill>
            <a:schemeClr val="bg2"/>
          </a:solidFill>
          <a:ln w="12700">
            <a:solidFill>
              <a:schemeClr val="bg2"/>
            </a:solidFill>
            <a:prstDash val="solid"/>
          </a:ln>
        </p:spPr>
      </p:sp>
      <p:sp>
        <p:nvSpPr>
          <p:cNvPr id="10" name="chain-badge-1-circle"/>
          <p:cNvSpPr/>
          <p:nvPr/>
        </p:nvSpPr>
        <p:spPr>
          <a:xfrm>
            <a:off x="713232" y="2715768"/>
            <a:ext cx="502920" cy="502920"/>
          </a:xfrm>
          <a:prstGeom prst="ellipse">
            <a:avLst/>
          </a:prstGeom>
          <a:solidFill>
            <a:schemeClr val="tx1"/>
          </a:solidFill>
          <a:ln w="12700">
            <a:solidFill>
              <a:schemeClr val="tx1"/>
            </a:solidFill>
            <a:prstDash val="solid"/>
          </a:ln>
        </p:spPr>
      </p:sp>
      <p:pic>
        <p:nvPicPr>
          <p:cNvPr id="11" name="chain-badge-1-icon" descr="preencoded.png">    </p:cNvPr>
          <p:cNvPicPr>
            <a:picLocks noChangeAspect="1"/>
          </p:cNvPicPr>
          <p:nvPr/>
        </p:nvPicPr>
        <p:blipFill>
          <a:blip r:embed="rId2"/>
          <a:stretch>
            <a:fillRect/>
          </a:stretch>
        </p:blipFill>
        <p:spPr>
          <a:xfrm>
            <a:off x="838962" y="2841498"/>
            <a:ext cx="251460" cy="251460"/>
          </a:xfrm>
          <a:prstGeom prst="rect">
            <a:avLst/>
          </a:prstGeom>
        </p:spPr>
      </p:pic>
      <p:sp>
        <p:nvSpPr>
          <p:cNvPr id="12" name="Text 8"/>
          <p:cNvSpPr txBox="1"/>
          <p:nvPr/>
        </p:nvSpPr>
        <p:spPr>
          <a:xfrm>
            <a:off x="1371600" y="2688336"/>
            <a:ext cx="1783080" cy="320040"/>
          </a:xfrm>
          <a:prstGeom prst="rect">
            <a:avLst/>
          </a:prstGeom>
          <a:noFill/>
          <a:ln/>
        </p:spPr>
        <p:txBody>
          <a:bodyPr wrap="square" lIns="0" tIns="0" rIns="0" bIns="0" rtlCol="0" anchor="t"/>
          <a:lstStyle/>
          <a:p>
            <a:pPr indent="0" marL="0">
              <a:buNone/>
            </a:pPr>
            <a:r>
              <a:rPr lang="en-US" sz="1400" b="1" dirty="0">
                <a:solidFill>
                  <a:schemeClr val="tx1"/>
                </a:solidFill>
              </a:rPr>
              <a:t>GitHub</a:t>
            </a:r>
            <a:endParaRPr lang="en-US" sz="1400" dirty="0"/>
          </a:p>
        </p:txBody>
      </p:sp>
      <p:sp>
        <p:nvSpPr>
          <p:cNvPr id="13" name="Text 9"/>
          <p:cNvSpPr txBox="1"/>
          <p:nvPr/>
        </p:nvSpPr>
        <p:spPr>
          <a:xfrm>
            <a:off x="1371600" y="3008376"/>
            <a:ext cx="1783080" cy="274320"/>
          </a:xfrm>
          <a:prstGeom prst="rect">
            <a:avLst/>
          </a:prstGeom>
          <a:noFill/>
          <a:ln/>
        </p:spPr>
        <p:txBody>
          <a:bodyPr wrap="square" lIns="0" tIns="0" rIns="0" bIns="0" rtlCol="0" anchor="t"/>
          <a:lstStyle/>
          <a:p>
            <a:pPr indent="0" marL="0">
              <a:buNone/>
            </a:pPr>
            <a:r>
              <a:rPr lang="en-US" sz="1100" dirty="0">
                <a:solidFill>
                  <a:schemeClr val="tx2"/>
                </a:solidFill>
              </a:rPr>
              <a:t>main branch</a:t>
            </a:r>
            <a:endParaRPr lang="en-US" sz="1100" dirty="0"/>
          </a:p>
        </p:txBody>
      </p:sp>
      <p:sp>
        <p:nvSpPr>
          <p:cNvPr id="14" name="chain-arrow-1"/>
          <p:cNvSpPr/>
          <p:nvPr/>
        </p:nvSpPr>
        <p:spPr>
          <a:xfrm>
            <a:off x="1874520" y="3419856"/>
            <a:ext cx="0" cy="301752"/>
          </a:xfrm>
          <a:prstGeom prst="line">
            <a:avLst/>
          </a:prstGeom>
          <a:noFill/>
          <a:ln w="22225">
            <a:solidFill>
              <a:schemeClr val="accent6"/>
            </a:solidFill>
            <a:prstDash val="solid"/>
            <a:tailEnd type="triangle"/>
          </a:ln>
        </p:spPr>
      </p:sp>
      <p:sp>
        <p:nvSpPr>
          <p:cNvPr id="15" name="chain-2"/>
          <p:cNvSpPr/>
          <p:nvPr/>
        </p:nvSpPr>
        <p:spPr>
          <a:xfrm>
            <a:off x="548640" y="3739896"/>
            <a:ext cx="2651760" cy="868680"/>
          </a:xfrm>
          <a:prstGeom prst="roundRect">
            <a:avLst>
              <a:gd name="adj" fmla="val 12632"/>
            </a:avLst>
          </a:prstGeom>
          <a:solidFill>
            <a:schemeClr val="bg2"/>
          </a:solidFill>
          <a:ln w="12700">
            <a:solidFill>
              <a:schemeClr val="bg2"/>
            </a:solidFill>
            <a:prstDash val="solid"/>
          </a:ln>
        </p:spPr>
      </p:sp>
      <p:sp>
        <p:nvSpPr>
          <p:cNvPr id="16" name="chain-badge-2-circle"/>
          <p:cNvSpPr/>
          <p:nvPr/>
        </p:nvSpPr>
        <p:spPr>
          <a:xfrm>
            <a:off x="713232" y="3922776"/>
            <a:ext cx="502920" cy="502920"/>
          </a:xfrm>
          <a:prstGeom prst="ellipse">
            <a:avLst/>
          </a:prstGeom>
          <a:solidFill>
            <a:schemeClr val="tx1"/>
          </a:solidFill>
          <a:ln w="12700">
            <a:solidFill>
              <a:schemeClr val="tx1"/>
            </a:solidFill>
            <a:prstDash val="solid"/>
          </a:ln>
        </p:spPr>
      </p:sp>
      <p:pic>
        <p:nvPicPr>
          <p:cNvPr id="17" name="chain-badge-2-icon" descr="preencoded.png">    </p:cNvPr>
          <p:cNvPicPr>
            <a:picLocks noChangeAspect="1"/>
          </p:cNvPicPr>
          <p:nvPr/>
        </p:nvPicPr>
        <p:blipFill>
          <a:blip r:embed="rId3"/>
          <a:stretch>
            <a:fillRect/>
          </a:stretch>
        </p:blipFill>
        <p:spPr>
          <a:xfrm>
            <a:off x="838962" y="4048506"/>
            <a:ext cx="251460" cy="251460"/>
          </a:xfrm>
          <a:prstGeom prst="rect">
            <a:avLst/>
          </a:prstGeom>
        </p:spPr>
      </p:pic>
      <p:sp>
        <p:nvSpPr>
          <p:cNvPr id="18" name="Text 13"/>
          <p:cNvSpPr txBox="1"/>
          <p:nvPr/>
        </p:nvSpPr>
        <p:spPr>
          <a:xfrm>
            <a:off x="1371600" y="3895344"/>
            <a:ext cx="1783080" cy="320040"/>
          </a:xfrm>
          <a:prstGeom prst="rect">
            <a:avLst/>
          </a:prstGeom>
          <a:noFill/>
          <a:ln/>
        </p:spPr>
        <p:txBody>
          <a:bodyPr wrap="square" lIns="0" tIns="0" rIns="0" bIns="0" rtlCol="0" anchor="t"/>
          <a:lstStyle/>
          <a:p>
            <a:pPr indent="0" marL="0">
              <a:buNone/>
            </a:pPr>
            <a:r>
              <a:rPr lang="en-US" sz="1400" b="1" dirty="0">
                <a:solidFill>
                  <a:schemeClr val="tx1"/>
                </a:solidFill>
              </a:rPr>
              <a:t>GitHub Actions</a:t>
            </a:r>
            <a:endParaRPr lang="en-US" sz="1400" dirty="0"/>
          </a:p>
        </p:txBody>
      </p:sp>
      <p:sp>
        <p:nvSpPr>
          <p:cNvPr id="19" name="Text 14"/>
          <p:cNvSpPr txBox="1"/>
          <p:nvPr/>
        </p:nvSpPr>
        <p:spPr>
          <a:xfrm>
            <a:off x="1371600" y="4215384"/>
            <a:ext cx="1783080" cy="274320"/>
          </a:xfrm>
          <a:prstGeom prst="rect">
            <a:avLst/>
          </a:prstGeom>
          <a:noFill/>
          <a:ln/>
        </p:spPr>
        <p:txBody>
          <a:bodyPr wrap="square" lIns="0" tIns="0" rIns="0" bIns="0" rtlCol="0" anchor="t"/>
          <a:lstStyle/>
          <a:p>
            <a:pPr indent="0" marL="0">
              <a:buNone/>
            </a:pPr>
            <a:r>
              <a:rPr lang="en-US" sz="1100" dirty="0">
                <a:solidFill>
                  <a:schemeClr val="tx2"/>
                </a:solidFill>
              </a:rPr>
              <a:t>test · build · scan</a:t>
            </a:r>
            <a:endParaRPr lang="en-US" sz="1100" dirty="0"/>
          </a:p>
        </p:txBody>
      </p:sp>
      <p:sp>
        <p:nvSpPr>
          <p:cNvPr id="20" name="chain-arrow-2"/>
          <p:cNvSpPr/>
          <p:nvPr/>
        </p:nvSpPr>
        <p:spPr>
          <a:xfrm>
            <a:off x="1874520" y="4626864"/>
            <a:ext cx="0" cy="301752"/>
          </a:xfrm>
          <a:prstGeom prst="line">
            <a:avLst/>
          </a:prstGeom>
          <a:noFill/>
          <a:ln w="22225">
            <a:solidFill>
              <a:schemeClr val="accent6"/>
            </a:solidFill>
            <a:prstDash val="solid"/>
            <a:tailEnd type="triangle"/>
          </a:ln>
        </p:spPr>
      </p:sp>
      <p:sp>
        <p:nvSpPr>
          <p:cNvPr id="21" name="chain-3"/>
          <p:cNvSpPr/>
          <p:nvPr/>
        </p:nvSpPr>
        <p:spPr>
          <a:xfrm>
            <a:off x="548640" y="4946904"/>
            <a:ext cx="2651760" cy="868680"/>
          </a:xfrm>
          <a:prstGeom prst="roundRect">
            <a:avLst>
              <a:gd name="adj" fmla="val 12632"/>
            </a:avLst>
          </a:prstGeom>
          <a:solidFill>
            <a:schemeClr val="bg2"/>
          </a:solidFill>
          <a:ln w="12700">
            <a:solidFill>
              <a:schemeClr val="bg2"/>
            </a:solidFill>
            <a:prstDash val="solid"/>
          </a:ln>
        </p:spPr>
      </p:sp>
      <p:sp>
        <p:nvSpPr>
          <p:cNvPr id="22" name="chain-badge-3-circle"/>
          <p:cNvSpPr/>
          <p:nvPr/>
        </p:nvSpPr>
        <p:spPr>
          <a:xfrm>
            <a:off x="713232" y="5129784"/>
            <a:ext cx="502920" cy="502920"/>
          </a:xfrm>
          <a:prstGeom prst="ellipse">
            <a:avLst/>
          </a:prstGeom>
          <a:solidFill>
            <a:schemeClr val="tx1"/>
          </a:solidFill>
          <a:ln w="12700">
            <a:solidFill>
              <a:schemeClr val="tx1"/>
            </a:solidFill>
            <a:prstDash val="solid"/>
          </a:ln>
        </p:spPr>
      </p:sp>
      <p:pic>
        <p:nvPicPr>
          <p:cNvPr id="23" name="chain-badge-3-icon" descr="preencoded.png">    </p:cNvPr>
          <p:cNvPicPr>
            <a:picLocks noChangeAspect="1"/>
          </p:cNvPicPr>
          <p:nvPr/>
        </p:nvPicPr>
        <p:blipFill>
          <a:blip r:embed="rId4"/>
          <a:stretch>
            <a:fillRect/>
          </a:stretch>
        </p:blipFill>
        <p:spPr>
          <a:xfrm>
            <a:off x="838962" y="5255514"/>
            <a:ext cx="251460" cy="251460"/>
          </a:xfrm>
          <a:prstGeom prst="rect">
            <a:avLst/>
          </a:prstGeom>
        </p:spPr>
      </p:pic>
      <p:sp>
        <p:nvSpPr>
          <p:cNvPr id="24" name="Text 18"/>
          <p:cNvSpPr txBox="1"/>
          <p:nvPr/>
        </p:nvSpPr>
        <p:spPr>
          <a:xfrm>
            <a:off x="1371600" y="5102352"/>
            <a:ext cx="1783080" cy="320040"/>
          </a:xfrm>
          <a:prstGeom prst="rect">
            <a:avLst/>
          </a:prstGeom>
          <a:noFill/>
          <a:ln/>
        </p:spPr>
        <p:txBody>
          <a:bodyPr wrap="square" lIns="0" tIns="0" rIns="0" bIns="0" rtlCol="0" anchor="t"/>
          <a:lstStyle/>
          <a:p>
            <a:pPr indent="0" marL="0">
              <a:buNone/>
            </a:pPr>
            <a:r>
              <a:rPr lang="en-US" sz="1400" b="1" dirty="0">
                <a:solidFill>
                  <a:schemeClr val="tx1"/>
                </a:solidFill>
              </a:rPr>
              <a:t>GHCR</a:t>
            </a:r>
            <a:endParaRPr lang="en-US" sz="1400" dirty="0"/>
          </a:p>
        </p:txBody>
      </p:sp>
      <p:sp>
        <p:nvSpPr>
          <p:cNvPr id="25" name="Text 19"/>
          <p:cNvSpPr txBox="1"/>
          <p:nvPr/>
        </p:nvSpPr>
        <p:spPr>
          <a:xfrm>
            <a:off x="1371600" y="5422392"/>
            <a:ext cx="1783080" cy="274320"/>
          </a:xfrm>
          <a:prstGeom prst="rect">
            <a:avLst/>
          </a:prstGeom>
          <a:noFill/>
          <a:ln/>
        </p:spPr>
        <p:txBody>
          <a:bodyPr wrap="square" lIns="0" tIns="0" rIns="0" bIns="0" rtlCol="0" anchor="t"/>
          <a:lstStyle/>
          <a:p>
            <a:pPr indent="0" marL="0">
              <a:buNone/>
            </a:pPr>
            <a:r>
              <a:rPr lang="en-US" sz="1100" dirty="0">
                <a:solidFill>
                  <a:schemeClr val="tx2"/>
                </a:solidFill>
              </a:rPr>
              <a:t>image:&lt;git-sha&gt;</a:t>
            </a:r>
            <a:endParaRPr lang="en-US" sz="1100" dirty="0"/>
          </a:p>
        </p:txBody>
      </p:sp>
      <p:sp>
        <p:nvSpPr>
          <p:cNvPr id="26" name="aws-boundary"/>
          <p:cNvSpPr/>
          <p:nvPr/>
        </p:nvSpPr>
        <p:spPr>
          <a:xfrm>
            <a:off x="3657600" y="1325880"/>
            <a:ext cx="7985455" cy="4800600"/>
          </a:xfrm>
          <a:prstGeom prst="roundRect">
            <a:avLst>
              <a:gd name="adj" fmla="val 2857"/>
            </a:avLst>
          </a:prstGeom>
          <a:solidFill>
            <a:schemeClr val="bg1"/>
          </a:solidFill>
          <a:ln w="19050">
            <a:solidFill>
              <a:schemeClr val="accent2"/>
            </a:solidFill>
            <a:prstDash val="dash"/>
          </a:ln>
        </p:spPr>
      </p:sp>
      <p:sp>
        <p:nvSpPr>
          <p:cNvPr id="27" name="Text 21"/>
          <p:cNvSpPr txBox="1"/>
          <p:nvPr/>
        </p:nvSpPr>
        <p:spPr>
          <a:xfrm>
            <a:off x="3886200" y="1463040"/>
            <a:ext cx="6400800" cy="320040"/>
          </a:xfrm>
          <a:prstGeom prst="rect">
            <a:avLst/>
          </a:prstGeom>
          <a:noFill/>
          <a:ln/>
        </p:spPr>
        <p:txBody>
          <a:bodyPr wrap="square" lIns="0" tIns="0" rIns="0" bIns="0" rtlCol="0" anchor="t"/>
          <a:lstStyle/>
          <a:p>
            <a:pPr indent="0" marL="0">
              <a:buNone/>
            </a:pPr>
            <a:r>
              <a:rPr lang="en-US" sz="1300" b="1" dirty="0">
                <a:solidFill>
                  <a:schemeClr val="accent2"/>
                </a:solidFill>
              </a:rPr>
              <a:t>AWS ap-south-1 · VPC 10.20.0.0/16 · EKS 1.35 (Terraform)</a:t>
            </a:r>
            <a:endParaRPr lang="en-US" sz="1300" dirty="0"/>
          </a:p>
        </p:txBody>
      </p:sp>
      <p:sp>
        <p:nvSpPr>
          <p:cNvPr id="28" name="ci-to-aws"/>
          <p:cNvSpPr/>
          <p:nvPr/>
        </p:nvSpPr>
        <p:spPr>
          <a:xfrm>
            <a:off x="3200400" y="4169664"/>
            <a:ext cx="457200" cy="0"/>
          </a:xfrm>
          <a:prstGeom prst="line">
            <a:avLst/>
          </a:prstGeom>
          <a:noFill/>
          <a:ln w="22225">
            <a:solidFill>
              <a:schemeClr val="accent6"/>
            </a:solidFill>
            <a:prstDash val="solid"/>
            <a:tailEnd type="triangle"/>
          </a:ln>
        </p:spPr>
      </p:sp>
      <p:sp>
        <p:nvSpPr>
          <p:cNvPr id="29" name="argocd"/>
          <p:cNvSpPr/>
          <p:nvPr/>
        </p:nvSpPr>
        <p:spPr>
          <a:xfrm>
            <a:off x="3931920" y="1965960"/>
            <a:ext cx="2103120" cy="960120"/>
          </a:xfrm>
          <a:prstGeom prst="roundRect">
            <a:avLst>
              <a:gd name="adj" fmla="val 9524"/>
            </a:avLst>
          </a:prstGeom>
          <a:solidFill>
            <a:schemeClr val="accent3"/>
          </a:solidFill>
          <a:ln w="12700">
            <a:solidFill>
              <a:schemeClr val="accent3"/>
            </a:solidFill>
            <a:prstDash val="solid"/>
          </a:ln>
        </p:spPr>
      </p:sp>
      <p:sp>
        <p:nvSpPr>
          <p:cNvPr id="30" name="Text 24"/>
          <p:cNvSpPr txBox="1"/>
          <p:nvPr/>
        </p:nvSpPr>
        <p:spPr>
          <a:xfrm>
            <a:off x="4069080" y="2075688"/>
            <a:ext cx="1828800" cy="292608"/>
          </a:xfrm>
          <a:prstGeom prst="rect">
            <a:avLst/>
          </a:prstGeom>
          <a:noFill/>
          <a:ln/>
        </p:spPr>
        <p:txBody>
          <a:bodyPr wrap="square" lIns="0" tIns="0" rIns="0" bIns="0" rtlCol="0" anchor="t"/>
          <a:lstStyle/>
          <a:p>
            <a:pPr indent="0" marL="0">
              <a:buNone/>
            </a:pPr>
            <a:r>
              <a:rPr lang="en-US" sz="1300" b="1" dirty="0">
                <a:solidFill>
                  <a:schemeClr val="bg1"/>
                </a:solidFill>
              </a:rPr>
              <a:t>Argo CD</a:t>
            </a:r>
            <a:endParaRPr lang="en-US" sz="1300" dirty="0"/>
          </a:p>
        </p:txBody>
      </p:sp>
      <p:sp>
        <p:nvSpPr>
          <p:cNvPr id="31" name="Text 25"/>
          <p:cNvSpPr txBox="1"/>
          <p:nvPr/>
        </p:nvSpPr>
        <p:spPr>
          <a:xfrm>
            <a:off x="4069080" y="2377440"/>
            <a:ext cx="1828800" cy="502920"/>
          </a:xfrm>
          <a:prstGeom prst="rect">
            <a:avLst/>
          </a:prstGeom>
          <a:noFill/>
          <a:ln/>
        </p:spPr>
        <p:txBody>
          <a:bodyPr wrap="square" lIns="0" tIns="0" rIns="0" bIns="0" rtlCol="0" anchor="t"/>
          <a:lstStyle/>
          <a:p>
            <a:pPr indent="0" marL="0">
              <a:buNone/>
            </a:pPr>
            <a:r>
              <a:rPr lang="en-US" sz="1050" dirty="0">
                <a:solidFill>
                  <a:schemeClr val="bg1"/>
                </a:solidFill>
              </a:rPr>
              <a:t>syncs chart from Git</a:t>
            </a:r>
            <a:endParaRPr lang="en-US" sz="1050" dirty="0"/>
          </a:p>
        </p:txBody>
      </p:sp>
      <p:sp>
        <p:nvSpPr>
          <p:cNvPr id="32" name="ingress"/>
          <p:cNvSpPr/>
          <p:nvPr/>
        </p:nvSpPr>
        <p:spPr>
          <a:xfrm>
            <a:off x="3931920" y="3291840"/>
            <a:ext cx="2103120" cy="960120"/>
          </a:xfrm>
          <a:prstGeom prst="roundRect">
            <a:avLst>
              <a:gd name="adj" fmla="val 9524"/>
            </a:avLst>
          </a:prstGeom>
          <a:solidFill>
            <a:schemeClr val="tx1"/>
          </a:solidFill>
          <a:ln w="12700">
            <a:solidFill>
              <a:schemeClr val="tx1"/>
            </a:solidFill>
            <a:prstDash val="solid"/>
          </a:ln>
        </p:spPr>
      </p:sp>
      <p:sp>
        <p:nvSpPr>
          <p:cNvPr id="33" name="Text 27"/>
          <p:cNvSpPr txBox="1"/>
          <p:nvPr/>
        </p:nvSpPr>
        <p:spPr>
          <a:xfrm>
            <a:off x="4069080" y="3401568"/>
            <a:ext cx="1828800" cy="292608"/>
          </a:xfrm>
          <a:prstGeom prst="rect">
            <a:avLst/>
          </a:prstGeom>
          <a:noFill/>
          <a:ln/>
        </p:spPr>
        <p:txBody>
          <a:bodyPr wrap="square" lIns="0" tIns="0" rIns="0" bIns="0" rtlCol="0" anchor="t"/>
          <a:lstStyle/>
          <a:p>
            <a:pPr indent="0" marL="0">
              <a:buNone/>
            </a:pPr>
            <a:r>
              <a:rPr lang="en-US" sz="1300" b="1" dirty="0">
                <a:solidFill>
                  <a:schemeClr val="bg1"/>
                </a:solidFill>
              </a:rPr>
              <a:t>Traefik Ingress</a:t>
            </a:r>
            <a:endParaRPr lang="en-US" sz="1300" dirty="0"/>
          </a:p>
        </p:txBody>
      </p:sp>
      <p:sp>
        <p:nvSpPr>
          <p:cNvPr id="34" name="Text 28"/>
          <p:cNvSpPr txBox="1"/>
          <p:nvPr/>
        </p:nvSpPr>
        <p:spPr>
          <a:xfrm>
            <a:off x="4069080" y="3703320"/>
            <a:ext cx="1828800" cy="502920"/>
          </a:xfrm>
          <a:prstGeom prst="rect">
            <a:avLst/>
          </a:prstGeom>
          <a:noFill/>
          <a:ln/>
        </p:spPr>
        <p:txBody>
          <a:bodyPr wrap="square" lIns="0" tIns="0" rIns="0" bIns="0" rtlCol="0" anchor="t"/>
          <a:lstStyle/>
          <a:p>
            <a:pPr indent="0" marL="0">
              <a:buNone/>
            </a:pPr>
            <a:r>
              <a:rPr lang="en-US" sz="1050" dirty="0">
                <a:solidFill>
                  <a:schemeClr val="bg1"/>
                </a:solidFill>
              </a:rPr>
              <a:t>AWS load balancer</a:t>
            </a:r>
            <a:endParaRPr lang="en-US" sz="1050" dirty="0"/>
          </a:p>
        </p:txBody>
      </p:sp>
      <p:sp>
        <p:nvSpPr>
          <p:cNvPr id="35" name="frontend"/>
          <p:cNvSpPr/>
          <p:nvPr/>
        </p:nvSpPr>
        <p:spPr>
          <a:xfrm>
            <a:off x="6583680" y="2560320"/>
            <a:ext cx="2194560" cy="960120"/>
          </a:xfrm>
          <a:prstGeom prst="roundRect">
            <a:avLst>
              <a:gd name="adj" fmla="val 9524"/>
            </a:avLst>
          </a:prstGeom>
          <a:solidFill>
            <a:schemeClr val="accent1"/>
          </a:solidFill>
          <a:ln w="12700">
            <a:solidFill>
              <a:schemeClr val="accent1"/>
            </a:solidFill>
            <a:prstDash val="solid"/>
          </a:ln>
        </p:spPr>
      </p:sp>
      <p:sp>
        <p:nvSpPr>
          <p:cNvPr id="36" name="Text 30"/>
          <p:cNvSpPr txBox="1"/>
          <p:nvPr/>
        </p:nvSpPr>
        <p:spPr>
          <a:xfrm>
            <a:off x="6720840" y="2670048"/>
            <a:ext cx="1920240" cy="292608"/>
          </a:xfrm>
          <a:prstGeom prst="rect">
            <a:avLst/>
          </a:prstGeom>
          <a:noFill/>
          <a:ln/>
        </p:spPr>
        <p:txBody>
          <a:bodyPr wrap="square" lIns="0" tIns="0" rIns="0" bIns="0" rtlCol="0" anchor="t"/>
          <a:lstStyle/>
          <a:p>
            <a:pPr indent="0" marL="0">
              <a:buNone/>
            </a:pPr>
            <a:r>
              <a:rPr lang="en-US" sz="1300" b="1" dirty="0">
                <a:solidFill>
                  <a:schemeClr val="bg1"/>
                </a:solidFill>
              </a:rPr>
              <a:t>frontend × 2</a:t>
            </a:r>
            <a:endParaRPr lang="en-US" sz="1300" dirty="0"/>
          </a:p>
        </p:txBody>
      </p:sp>
      <p:sp>
        <p:nvSpPr>
          <p:cNvPr id="37" name="Text 31"/>
          <p:cNvSpPr txBox="1"/>
          <p:nvPr/>
        </p:nvSpPr>
        <p:spPr>
          <a:xfrm>
            <a:off x="6720840" y="2971800"/>
            <a:ext cx="1920240" cy="502920"/>
          </a:xfrm>
          <a:prstGeom prst="rect">
            <a:avLst/>
          </a:prstGeom>
          <a:noFill/>
          <a:ln/>
        </p:spPr>
        <p:txBody>
          <a:bodyPr wrap="square" lIns="0" tIns="0" rIns="0" bIns="0" rtlCol="0" anchor="t"/>
          <a:lstStyle/>
          <a:p>
            <a:pPr indent="0" marL="0">
              <a:buNone/>
            </a:pPr>
            <a:r>
              <a:rPr lang="en-US" sz="1050" dirty="0">
                <a:solidFill>
                  <a:schemeClr val="bg1"/>
                </a:solidFill>
              </a:rPr>
              <a:t>Nginx + React</a:t>
            </a:r>
            <a:endParaRPr lang="en-US" sz="1050" dirty="0"/>
          </a:p>
        </p:txBody>
      </p:sp>
      <p:sp>
        <p:nvSpPr>
          <p:cNvPr id="38" name="backend"/>
          <p:cNvSpPr/>
          <p:nvPr/>
        </p:nvSpPr>
        <p:spPr>
          <a:xfrm>
            <a:off x="6583680" y="4023360"/>
            <a:ext cx="2194560" cy="960120"/>
          </a:xfrm>
          <a:prstGeom prst="roundRect">
            <a:avLst>
              <a:gd name="adj" fmla="val 9524"/>
            </a:avLst>
          </a:prstGeom>
          <a:solidFill>
            <a:schemeClr val="accent1"/>
          </a:solidFill>
          <a:ln w="12700">
            <a:solidFill>
              <a:schemeClr val="accent1"/>
            </a:solidFill>
            <a:prstDash val="solid"/>
          </a:ln>
        </p:spPr>
      </p:sp>
      <p:sp>
        <p:nvSpPr>
          <p:cNvPr id="39" name="Text 33"/>
          <p:cNvSpPr txBox="1"/>
          <p:nvPr/>
        </p:nvSpPr>
        <p:spPr>
          <a:xfrm>
            <a:off x="6720840" y="4133088"/>
            <a:ext cx="1920240" cy="292608"/>
          </a:xfrm>
          <a:prstGeom prst="rect">
            <a:avLst/>
          </a:prstGeom>
          <a:noFill/>
          <a:ln/>
        </p:spPr>
        <p:txBody>
          <a:bodyPr wrap="square" lIns="0" tIns="0" rIns="0" bIns="0" rtlCol="0" anchor="t"/>
          <a:lstStyle/>
          <a:p>
            <a:pPr indent="0" marL="0">
              <a:buNone/>
            </a:pPr>
            <a:r>
              <a:rPr lang="en-US" sz="1300" b="1" dirty="0">
                <a:solidFill>
                  <a:schemeClr val="bg1"/>
                </a:solidFill>
              </a:rPr>
              <a:t>backend × 2–6</a:t>
            </a:r>
            <a:endParaRPr lang="en-US" sz="1300" dirty="0"/>
          </a:p>
        </p:txBody>
      </p:sp>
      <p:sp>
        <p:nvSpPr>
          <p:cNvPr id="40" name="Text 34"/>
          <p:cNvSpPr txBox="1"/>
          <p:nvPr/>
        </p:nvSpPr>
        <p:spPr>
          <a:xfrm>
            <a:off x="6720840" y="4434840"/>
            <a:ext cx="1920240" cy="502920"/>
          </a:xfrm>
          <a:prstGeom prst="rect">
            <a:avLst/>
          </a:prstGeom>
          <a:noFill/>
          <a:ln/>
        </p:spPr>
        <p:txBody>
          <a:bodyPr wrap="square" lIns="0" tIns="0" rIns="0" bIns="0" rtlCol="0" anchor="t"/>
          <a:lstStyle/>
          <a:p>
            <a:pPr indent="0" marL="0">
              <a:buNone/>
            </a:pPr>
            <a:r>
              <a:rPr lang="en-US" sz="1050" dirty="0">
                <a:solidFill>
                  <a:schemeClr val="bg1"/>
                </a:solidFill>
              </a:rPr>
              <a:t>FastAPI · HPA</a:t>
            </a:r>
            <a:endParaRPr lang="en-US" sz="1050" dirty="0"/>
          </a:p>
        </p:txBody>
      </p:sp>
      <p:sp>
        <p:nvSpPr>
          <p:cNvPr id="41" name="postgres"/>
          <p:cNvSpPr/>
          <p:nvPr/>
        </p:nvSpPr>
        <p:spPr>
          <a:xfrm>
            <a:off x="9235440" y="4023360"/>
            <a:ext cx="2057400" cy="960120"/>
          </a:xfrm>
          <a:prstGeom prst="roundRect">
            <a:avLst>
              <a:gd name="adj" fmla="val 9524"/>
            </a:avLst>
          </a:prstGeom>
          <a:solidFill>
            <a:schemeClr val="tx2"/>
          </a:solidFill>
          <a:ln w="12700">
            <a:solidFill>
              <a:schemeClr val="tx2"/>
            </a:solidFill>
            <a:prstDash val="solid"/>
          </a:ln>
        </p:spPr>
      </p:sp>
      <p:sp>
        <p:nvSpPr>
          <p:cNvPr id="42" name="Text 36"/>
          <p:cNvSpPr txBox="1"/>
          <p:nvPr/>
        </p:nvSpPr>
        <p:spPr>
          <a:xfrm>
            <a:off x="9372600" y="4133088"/>
            <a:ext cx="1783080" cy="292608"/>
          </a:xfrm>
          <a:prstGeom prst="rect">
            <a:avLst/>
          </a:prstGeom>
          <a:noFill/>
          <a:ln/>
        </p:spPr>
        <p:txBody>
          <a:bodyPr wrap="square" lIns="0" tIns="0" rIns="0" bIns="0" rtlCol="0" anchor="t"/>
          <a:lstStyle/>
          <a:p>
            <a:pPr indent="0" marL="0">
              <a:buNone/>
            </a:pPr>
            <a:r>
              <a:rPr lang="en-US" sz="1300" b="1" dirty="0">
                <a:solidFill>
                  <a:schemeClr val="bg1"/>
                </a:solidFill>
              </a:rPr>
              <a:t>PostgreSQL</a:t>
            </a:r>
            <a:endParaRPr lang="en-US" sz="1300" dirty="0"/>
          </a:p>
        </p:txBody>
      </p:sp>
      <p:sp>
        <p:nvSpPr>
          <p:cNvPr id="43" name="Text 37"/>
          <p:cNvSpPr txBox="1"/>
          <p:nvPr/>
        </p:nvSpPr>
        <p:spPr>
          <a:xfrm>
            <a:off x="9372600" y="4434840"/>
            <a:ext cx="1783080" cy="502920"/>
          </a:xfrm>
          <a:prstGeom prst="rect">
            <a:avLst/>
          </a:prstGeom>
          <a:noFill/>
          <a:ln/>
        </p:spPr>
        <p:txBody>
          <a:bodyPr wrap="square" lIns="0" tIns="0" rIns="0" bIns="0" rtlCol="0" anchor="t"/>
          <a:lstStyle/>
          <a:p>
            <a:pPr indent="0" marL="0">
              <a:buNone/>
            </a:pPr>
            <a:r>
              <a:rPr lang="en-US" sz="1050" dirty="0">
                <a:solidFill>
                  <a:schemeClr val="bg1"/>
                </a:solidFill>
              </a:rPr>
              <a:t>PVC on EBS gp3</a:t>
            </a:r>
            <a:endParaRPr lang="en-US" sz="1050" dirty="0"/>
          </a:p>
        </p:txBody>
      </p:sp>
      <p:sp>
        <p:nvSpPr>
          <p:cNvPr id="44" name="prometheus"/>
          <p:cNvSpPr/>
          <p:nvPr/>
        </p:nvSpPr>
        <p:spPr>
          <a:xfrm>
            <a:off x="6583680" y="5257800"/>
            <a:ext cx="2194560" cy="731520"/>
          </a:xfrm>
          <a:prstGeom prst="roundRect">
            <a:avLst>
              <a:gd name="adj" fmla="val 12500"/>
            </a:avLst>
          </a:prstGeom>
          <a:solidFill>
            <a:schemeClr val="accent2"/>
          </a:solidFill>
          <a:ln w="12700">
            <a:solidFill>
              <a:schemeClr val="accent2"/>
            </a:solidFill>
            <a:prstDash val="solid"/>
          </a:ln>
        </p:spPr>
      </p:sp>
      <p:sp>
        <p:nvSpPr>
          <p:cNvPr id="45" name="Text 39"/>
          <p:cNvSpPr txBox="1"/>
          <p:nvPr/>
        </p:nvSpPr>
        <p:spPr>
          <a:xfrm>
            <a:off x="6720840" y="5367528"/>
            <a:ext cx="1920240" cy="292608"/>
          </a:xfrm>
          <a:prstGeom prst="rect">
            <a:avLst/>
          </a:prstGeom>
          <a:noFill/>
          <a:ln/>
        </p:spPr>
        <p:txBody>
          <a:bodyPr wrap="square" lIns="0" tIns="0" rIns="0" bIns="0" rtlCol="0" anchor="t"/>
          <a:lstStyle/>
          <a:p>
            <a:pPr indent="0" marL="0">
              <a:buNone/>
            </a:pPr>
            <a:r>
              <a:rPr lang="en-US" sz="1300" b="1" dirty="0">
                <a:solidFill>
                  <a:schemeClr val="tx1"/>
                </a:solidFill>
              </a:rPr>
              <a:t>Prometheus</a:t>
            </a:r>
            <a:endParaRPr lang="en-US" sz="1300" dirty="0"/>
          </a:p>
        </p:txBody>
      </p:sp>
      <p:sp>
        <p:nvSpPr>
          <p:cNvPr id="46" name="grafana"/>
          <p:cNvSpPr/>
          <p:nvPr/>
        </p:nvSpPr>
        <p:spPr>
          <a:xfrm>
            <a:off x="9235440" y="5257800"/>
            <a:ext cx="2057400" cy="731520"/>
          </a:xfrm>
          <a:prstGeom prst="roundRect">
            <a:avLst>
              <a:gd name="adj" fmla="val 12500"/>
            </a:avLst>
          </a:prstGeom>
          <a:solidFill>
            <a:schemeClr val="accent2"/>
          </a:solidFill>
          <a:ln w="12700">
            <a:solidFill>
              <a:schemeClr val="accent2"/>
            </a:solidFill>
            <a:prstDash val="solid"/>
          </a:ln>
        </p:spPr>
      </p:sp>
      <p:sp>
        <p:nvSpPr>
          <p:cNvPr id="47" name="Text 41"/>
          <p:cNvSpPr txBox="1"/>
          <p:nvPr/>
        </p:nvSpPr>
        <p:spPr>
          <a:xfrm>
            <a:off x="9372600" y="5367528"/>
            <a:ext cx="1783080" cy="292608"/>
          </a:xfrm>
          <a:prstGeom prst="rect">
            <a:avLst/>
          </a:prstGeom>
          <a:noFill/>
          <a:ln/>
        </p:spPr>
        <p:txBody>
          <a:bodyPr wrap="square" lIns="0" tIns="0" rIns="0" bIns="0" rtlCol="0" anchor="t"/>
          <a:lstStyle/>
          <a:p>
            <a:pPr indent="0" marL="0">
              <a:buNone/>
            </a:pPr>
            <a:r>
              <a:rPr lang="en-US" sz="1300" b="1" dirty="0">
                <a:solidFill>
                  <a:schemeClr val="tx1"/>
                </a:solidFill>
              </a:rPr>
              <a:t>Grafana</a:t>
            </a:r>
            <a:endParaRPr lang="en-US" sz="1300" dirty="0"/>
          </a:p>
        </p:txBody>
      </p:sp>
      <p:sp>
        <p:nvSpPr>
          <p:cNvPr id="48" name="Text 42"/>
          <p:cNvSpPr txBox="1"/>
          <p:nvPr/>
        </p:nvSpPr>
        <p:spPr>
          <a:xfrm>
            <a:off x="6053328" y="2898648"/>
            <a:ext cx="274320" cy="274320"/>
          </a:xfrm>
          <a:prstGeom prst="rect">
            <a:avLst/>
          </a:prstGeom>
          <a:noFill/>
          <a:ln/>
        </p:spPr>
        <p:txBody>
          <a:bodyPr wrap="square" lIns="0" tIns="0" rIns="0" bIns="0" rtlCol="0" anchor="t"/>
          <a:lstStyle/>
          <a:p>
            <a:pPr indent="0" marL="0">
              <a:buNone/>
            </a:pPr>
            <a:r>
              <a:rPr lang="en-US" sz="1200" b="1" dirty="0">
                <a:solidFill>
                  <a:schemeClr val="tx1"/>
                </a:solidFill>
              </a:rPr>
              <a:t>/</a:t>
            </a:r>
            <a:endParaRPr lang="en-US" sz="1200" dirty="0"/>
          </a:p>
        </p:txBody>
      </p:sp>
      <p:sp>
        <p:nvSpPr>
          <p:cNvPr id="49" name="Text 43"/>
          <p:cNvSpPr txBox="1"/>
          <p:nvPr/>
        </p:nvSpPr>
        <p:spPr>
          <a:xfrm>
            <a:off x="6053328" y="4416552"/>
            <a:ext cx="457200" cy="274320"/>
          </a:xfrm>
          <a:prstGeom prst="rect">
            <a:avLst/>
          </a:prstGeom>
          <a:noFill/>
          <a:ln/>
        </p:spPr>
        <p:txBody>
          <a:bodyPr wrap="square" lIns="0" tIns="0" rIns="0" bIns="0" rtlCol="0" anchor="t"/>
          <a:lstStyle/>
          <a:p>
            <a:pPr indent="0" marL="0">
              <a:buNone/>
            </a:pPr>
            <a:r>
              <a:rPr lang="en-US" sz="1200" b="1" dirty="0">
                <a:solidFill>
                  <a:schemeClr val="tx1"/>
                </a:solidFill>
              </a:rPr>
              <a:t>/api</a:t>
            </a:r>
            <a:endParaRPr lang="en-US" sz="1200" dirty="0"/>
          </a:p>
        </p:txBody>
      </p:sp>
      <p:sp>
        <p:nvSpPr>
          <p:cNvPr id="50" name="route-frontend"/>
          <p:cNvSpPr/>
          <p:nvPr/>
        </p:nvSpPr>
        <p:spPr>
          <a:xfrm>
            <a:off x="6035040" y="3611880"/>
            <a:ext cx="548640" cy="-548640"/>
          </a:xfrm>
          <a:prstGeom prst="line">
            <a:avLst/>
          </a:prstGeom>
          <a:noFill/>
          <a:ln w="22225">
            <a:solidFill>
              <a:schemeClr val="tx1"/>
            </a:solidFill>
            <a:prstDash val="solid"/>
            <a:tailEnd type="triangle"/>
          </a:ln>
        </p:spPr>
      </p:sp>
      <p:sp>
        <p:nvSpPr>
          <p:cNvPr id="51" name="route-backend"/>
          <p:cNvSpPr/>
          <p:nvPr/>
        </p:nvSpPr>
        <p:spPr>
          <a:xfrm>
            <a:off x="6035040" y="3931920"/>
            <a:ext cx="548640" cy="502920"/>
          </a:xfrm>
          <a:prstGeom prst="line">
            <a:avLst/>
          </a:prstGeom>
          <a:noFill/>
          <a:ln w="22225">
            <a:solidFill>
              <a:schemeClr val="tx1"/>
            </a:solidFill>
            <a:prstDash val="solid"/>
            <a:tailEnd type="triangle"/>
          </a:ln>
        </p:spPr>
      </p:sp>
      <p:sp>
        <p:nvSpPr>
          <p:cNvPr id="52" name="backend-to-db"/>
          <p:cNvSpPr/>
          <p:nvPr/>
        </p:nvSpPr>
        <p:spPr>
          <a:xfrm>
            <a:off x="8778240" y="4503420"/>
            <a:ext cx="457200" cy="0"/>
          </a:xfrm>
          <a:prstGeom prst="line">
            <a:avLst/>
          </a:prstGeom>
          <a:noFill/>
          <a:ln w="22225">
            <a:solidFill>
              <a:schemeClr val="tx1"/>
            </a:solidFill>
            <a:prstDash val="solid"/>
            <a:tailEnd type="triangle"/>
          </a:ln>
        </p:spPr>
      </p:sp>
      <p:sp>
        <p:nvSpPr>
          <p:cNvPr id="53" name="scrape"/>
          <p:cNvSpPr/>
          <p:nvPr/>
        </p:nvSpPr>
        <p:spPr>
          <a:xfrm>
            <a:off x="7680960" y="5257800"/>
            <a:ext cx="0" cy="-274320"/>
          </a:xfrm>
          <a:prstGeom prst="line">
            <a:avLst/>
          </a:prstGeom>
          <a:noFill/>
          <a:ln w="22225">
            <a:solidFill>
              <a:schemeClr val="accent2"/>
            </a:solidFill>
            <a:prstDash val="solid"/>
            <a:tailEnd type="triangle"/>
          </a:ln>
        </p:spPr>
      </p:sp>
      <p:sp>
        <p:nvSpPr>
          <p:cNvPr id="54" name="prom-to-grafana"/>
          <p:cNvSpPr/>
          <p:nvPr/>
        </p:nvSpPr>
        <p:spPr>
          <a:xfrm>
            <a:off x="8778240" y="5623560"/>
            <a:ext cx="457200" cy="0"/>
          </a:xfrm>
          <a:prstGeom prst="line">
            <a:avLst/>
          </a:prstGeom>
          <a:noFill/>
          <a:ln w="22225">
            <a:solidFill>
              <a:schemeClr val="accent2"/>
            </a:solidFill>
            <a:prstDash val="solid"/>
            <a:tailEnd type="triangle"/>
          </a:ln>
        </p:spPr>
      </p:sp>
      <p:sp>
        <p:nvSpPr>
          <p:cNvPr id="55" name="argo-deploys"/>
          <p:cNvSpPr/>
          <p:nvPr/>
        </p:nvSpPr>
        <p:spPr>
          <a:xfrm>
            <a:off x="4983480" y="2926080"/>
            <a:ext cx="0" cy="365760"/>
          </a:xfrm>
          <a:prstGeom prst="line">
            <a:avLst/>
          </a:prstGeom>
          <a:noFill/>
          <a:ln w="22225">
            <a:solidFill>
              <a:schemeClr val="accent3"/>
            </a:solidFill>
            <a:prstDash val="solid"/>
            <a:tailEnd type="triangle"/>
          </a:ln>
        </p:spPr>
      </p:sp>
      <p:sp>
        <p:nvSpPr>
          <p:cNvPr id="56" name="Text 50"/>
          <p:cNvSpPr txBox="1"/>
          <p:nvPr/>
        </p:nvSpPr>
        <p:spPr>
          <a:xfrm>
            <a:off x="7772400" y="4983480"/>
            <a:ext cx="1463040" cy="256032"/>
          </a:xfrm>
          <a:prstGeom prst="rect">
            <a:avLst/>
          </a:prstGeom>
          <a:noFill/>
          <a:ln/>
        </p:spPr>
        <p:txBody>
          <a:bodyPr wrap="square" lIns="0" tIns="0" rIns="0" bIns="0" rtlCol="0" anchor="t"/>
          <a:lstStyle/>
          <a:p>
            <a:pPr indent="0" marL="0">
              <a:buNone/>
            </a:pPr>
            <a:r>
              <a:rPr lang="en-US" sz="950" i="1" dirty="0">
                <a:solidFill>
                  <a:schemeClr val="accent2"/>
                </a:solidFill>
              </a:rPr>
              <a:t>scrapes /metrics</a:t>
            </a:r>
            <a:endParaRPr lang="en-US" sz="950" dirty="0"/>
          </a:p>
        </p:txBody>
      </p:sp>
      <p:sp>
        <p:nvSpPr>
          <p:cNvPr id="57" name="Text 51"/>
          <p:cNvSpPr txBox="1"/>
          <p:nvPr/>
        </p:nvSpPr>
        <p:spPr>
          <a:xfrm>
            <a:off x="3931920" y="4572000"/>
            <a:ext cx="2377440" cy="1280160"/>
          </a:xfrm>
          <a:prstGeom prst="rect">
            <a:avLst/>
          </a:prstGeom>
          <a:noFill/>
          <a:ln/>
        </p:spPr>
        <p:txBody>
          <a:bodyPr wrap="square" lIns="0" tIns="0" rIns="0" bIns="0" rtlCol="0" anchor="t"/>
          <a:lstStyle/>
          <a:p>
            <a:pPr indent="0" marL="0">
              <a:buNone/>
            </a:pPr>
            <a:r>
              <a:rPr lang="en-US" sz="1100" i="1" dirty="0">
                <a:solidFill>
                  <a:schemeClr val="tx2"/>
                </a:solidFill>
              </a:rPr>
              <a:t>Private subnets run the nodes; public subnets hold the NAT gateway and load balancer.</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CI/CD: four gated stages on every push to main</a:t>
            </a:r>
            <a:endParaRPr lang="en-US" sz="3400" dirty="0"/>
          </a:p>
        </p:txBody>
      </p:sp>
      <p:sp>
        <p:nvSpPr>
          <p:cNvPr id="3" name="stage-0"/>
          <p:cNvSpPr/>
          <p:nvPr/>
        </p:nvSpPr>
        <p:spPr>
          <a:xfrm>
            <a:off x="548640" y="1417320"/>
            <a:ext cx="2514600" cy="3337560"/>
          </a:xfrm>
          <a:prstGeom prst="roundRect">
            <a:avLst>
              <a:gd name="adj" fmla="val 4364"/>
            </a:avLst>
          </a:prstGeom>
          <a:solidFill>
            <a:schemeClr val="bg2"/>
          </a:solidFill>
          <a:ln w="12700">
            <a:solidFill>
              <a:schemeClr val="bg2"/>
            </a:solidFill>
            <a:prstDash val="solid"/>
          </a:ln>
        </p:spPr>
      </p:sp>
      <p:sp>
        <p:nvSpPr>
          <p:cNvPr id="4" name="stage-badge-0-circle"/>
          <p:cNvSpPr/>
          <p:nvPr/>
        </p:nvSpPr>
        <p:spPr>
          <a:xfrm>
            <a:off x="777240" y="1645920"/>
            <a:ext cx="594360" cy="594360"/>
          </a:xfrm>
          <a:prstGeom prst="ellipse">
            <a:avLst/>
          </a:prstGeom>
          <a:solidFill>
            <a:schemeClr val="accent1"/>
          </a:solidFill>
          <a:ln w="12700">
            <a:solidFill>
              <a:schemeClr val="accent1"/>
            </a:solidFill>
            <a:prstDash val="solid"/>
          </a:ln>
        </p:spPr>
      </p:sp>
      <p:pic>
        <p:nvPicPr>
          <p:cNvPr id="5" name="stage-badge-0-icon" descr="preencoded.png">    </p:cNvPr>
          <p:cNvPicPr>
            <a:picLocks noChangeAspect="1"/>
          </p:cNvPicPr>
          <p:nvPr/>
        </p:nvPicPr>
        <p:blipFill>
          <a:blip r:embed="rId1"/>
          <a:stretch>
            <a:fillRect/>
          </a:stretch>
        </p:blipFill>
        <p:spPr>
          <a:xfrm>
            <a:off x="925830" y="1794510"/>
            <a:ext cx="297180" cy="297180"/>
          </a:xfrm>
          <a:prstGeom prst="rect">
            <a:avLst/>
          </a:prstGeom>
        </p:spPr>
      </p:pic>
      <p:sp>
        <p:nvSpPr>
          <p:cNvPr id="6" name="Text 3"/>
          <p:cNvSpPr txBox="1"/>
          <p:nvPr/>
        </p:nvSpPr>
        <p:spPr>
          <a:xfrm>
            <a:off x="777240" y="2423160"/>
            <a:ext cx="2148840" cy="411480"/>
          </a:xfrm>
          <a:prstGeom prst="rect">
            <a:avLst/>
          </a:prstGeom>
          <a:noFill/>
          <a:ln/>
        </p:spPr>
        <p:txBody>
          <a:bodyPr wrap="square" lIns="0" tIns="0" rIns="0" bIns="0" rtlCol="0" anchor="t"/>
          <a:lstStyle/>
          <a:p>
            <a:pPr indent="0" marL="0">
              <a:buNone/>
            </a:pPr>
            <a:r>
              <a:rPr lang="en-US" sz="2000" b="1" dirty="0">
                <a:solidFill>
                  <a:schemeClr val="tx1"/>
                </a:solidFill>
              </a:rPr>
              <a:t>1  Test</a:t>
            </a:r>
            <a:endParaRPr lang="en-US" sz="2000" dirty="0"/>
          </a:p>
        </p:txBody>
      </p:sp>
      <p:sp>
        <p:nvSpPr>
          <p:cNvPr id="7" name="Text 4"/>
          <p:cNvSpPr txBox="1"/>
          <p:nvPr/>
        </p:nvSpPr>
        <p:spPr>
          <a:xfrm>
            <a:off x="777240" y="2926080"/>
            <a:ext cx="2148840" cy="1005840"/>
          </a:xfrm>
          <a:prstGeom prst="rect">
            <a:avLst/>
          </a:prstGeom>
          <a:noFill/>
          <a:ln/>
        </p:spPr>
        <p:txBody>
          <a:bodyPr wrap="square" lIns="0" tIns="0" rIns="0" bIns="0" rtlCol="0" anchor="t"/>
          <a:lstStyle/>
          <a:p>
            <a:pPr indent="0" marL="0">
              <a:buNone/>
            </a:pPr>
            <a:r>
              <a:rPr lang="en-US" sz="1300" dirty="0">
                <a:solidFill>
                  <a:schemeClr val="tx2"/>
                </a:solidFill>
              </a:rPr>
              <a:t>pytest -v (16 tests)</a:t>
            </a:r>
            <a:endParaRPr lang="en-US" sz="1300" dirty="0"/>
          </a:p>
          <a:p>
            <a:pPr indent="0" marL="0">
              <a:buNone/>
            </a:pPr>
            <a:r>
              <a:rPr lang="en-US" sz="1300" dirty="0">
                <a:solidFill>
                  <a:schemeClr val="tx2"/>
                </a:solidFill>
              </a:rPr>
              <a:t>npm ci &amp;&amp; vite build</a:t>
            </a:r>
            <a:endParaRPr lang="en-US" sz="1300" dirty="0"/>
          </a:p>
        </p:txBody>
      </p:sp>
      <p:sp>
        <p:nvSpPr>
          <p:cNvPr id="8" name="Text 5"/>
          <p:cNvSpPr txBox="1"/>
          <p:nvPr/>
        </p:nvSpPr>
        <p:spPr>
          <a:xfrm>
            <a:off x="777240" y="4023360"/>
            <a:ext cx="2148840" cy="640080"/>
          </a:xfrm>
          <a:prstGeom prst="rect">
            <a:avLst/>
          </a:prstGeom>
          <a:noFill/>
          <a:ln/>
        </p:spPr>
        <p:txBody>
          <a:bodyPr wrap="square" lIns="0" tIns="0" rIns="0" bIns="0" rtlCol="0" anchor="t"/>
          <a:lstStyle/>
          <a:p>
            <a:pPr indent="0" marL="0">
              <a:buNone/>
            </a:pPr>
            <a:r>
              <a:rPr lang="en-US" sz="1200" b="1" dirty="0">
                <a:solidFill>
                  <a:schemeClr val="accent4"/>
                </a:solidFill>
              </a:rPr>
              <a:t>Fails when </a:t>
            </a:r>
            <a:pPr indent="0" marL="0">
              <a:buNone/>
            </a:pPr>
            <a:r>
              <a:rPr lang="en-US" sz="1200" dirty="0">
                <a:solidFill>
                  <a:schemeClr val="accent4"/>
                </a:solidFill>
              </a:rPr>
              <a:t>any test fails</a:t>
            </a:r>
            <a:endParaRPr lang="en-US" sz="1200" dirty="0"/>
          </a:p>
        </p:txBody>
      </p:sp>
      <p:sp>
        <p:nvSpPr>
          <p:cNvPr id="9" name="stage-arrow-0"/>
          <p:cNvSpPr/>
          <p:nvPr/>
        </p:nvSpPr>
        <p:spPr>
          <a:xfrm>
            <a:off x="3099816" y="3063240"/>
            <a:ext cx="265176" cy="0"/>
          </a:xfrm>
          <a:prstGeom prst="line">
            <a:avLst/>
          </a:prstGeom>
          <a:noFill/>
          <a:ln w="22225">
            <a:solidFill>
              <a:schemeClr val="accent6"/>
            </a:solidFill>
            <a:prstDash val="solid"/>
            <a:tailEnd type="triangle"/>
          </a:ln>
        </p:spPr>
      </p:sp>
      <p:sp>
        <p:nvSpPr>
          <p:cNvPr id="10" name="stage-1"/>
          <p:cNvSpPr/>
          <p:nvPr/>
        </p:nvSpPr>
        <p:spPr>
          <a:xfrm>
            <a:off x="3401568" y="1417320"/>
            <a:ext cx="2514600" cy="3337560"/>
          </a:xfrm>
          <a:prstGeom prst="roundRect">
            <a:avLst>
              <a:gd name="adj" fmla="val 4364"/>
            </a:avLst>
          </a:prstGeom>
          <a:solidFill>
            <a:schemeClr val="bg2"/>
          </a:solidFill>
          <a:ln w="12700">
            <a:solidFill>
              <a:schemeClr val="bg2"/>
            </a:solidFill>
            <a:prstDash val="solid"/>
          </a:ln>
        </p:spPr>
      </p:sp>
      <p:sp>
        <p:nvSpPr>
          <p:cNvPr id="11" name="stage-badge-1-circle"/>
          <p:cNvSpPr/>
          <p:nvPr/>
        </p:nvSpPr>
        <p:spPr>
          <a:xfrm>
            <a:off x="3630168" y="1645920"/>
            <a:ext cx="594360" cy="594360"/>
          </a:xfrm>
          <a:prstGeom prst="ellipse">
            <a:avLst/>
          </a:prstGeom>
          <a:solidFill>
            <a:schemeClr val="accent1"/>
          </a:solidFill>
          <a:ln w="12700">
            <a:solidFill>
              <a:schemeClr val="accent1"/>
            </a:solidFill>
            <a:prstDash val="solid"/>
          </a:ln>
        </p:spPr>
      </p:sp>
      <p:pic>
        <p:nvPicPr>
          <p:cNvPr id="12" name="stage-badge-1-icon" descr="preencoded.png">    </p:cNvPr>
          <p:cNvPicPr>
            <a:picLocks noChangeAspect="1"/>
          </p:cNvPicPr>
          <p:nvPr/>
        </p:nvPicPr>
        <p:blipFill>
          <a:blip r:embed="rId2"/>
          <a:stretch>
            <a:fillRect/>
          </a:stretch>
        </p:blipFill>
        <p:spPr>
          <a:xfrm>
            <a:off x="3778758" y="1794510"/>
            <a:ext cx="297180" cy="297180"/>
          </a:xfrm>
          <a:prstGeom prst="rect">
            <a:avLst/>
          </a:prstGeom>
        </p:spPr>
      </p:pic>
      <p:sp>
        <p:nvSpPr>
          <p:cNvPr id="13" name="Text 9"/>
          <p:cNvSpPr txBox="1"/>
          <p:nvPr/>
        </p:nvSpPr>
        <p:spPr>
          <a:xfrm>
            <a:off x="3630168" y="2423160"/>
            <a:ext cx="2148840" cy="411480"/>
          </a:xfrm>
          <a:prstGeom prst="rect">
            <a:avLst/>
          </a:prstGeom>
          <a:noFill/>
          <a:ln/>
        </p:spPr>
        <p:txBody>
          <a:bodyPr wrap="square" lIns="0" tIns="0" rIns="0" bIns="0" rtlCol="0" anchor="t"/>
          <a:lstStyle/>
          <a:p>
            <a:pPr indent="0" marL="0">
              <a:buNone/>
            </a:pPr>
            <a:r>
              <a:rPr lang="en-US" sz="2000" b="1" dirty="0">
                <a:solidFill>
                  <a:schemeClr val="tx1"/>
                </a:solidFill>
              </a:rPr>
              <a:t>2  Image</a:t>
            </a:r>
            <a:endParaRPr lang="en-US" sz="2000" dirty="0"/>
          </a:p>
        </p:txBody>
      </p:sp>
      <p:sp>
        <p:nvSpPr>
          <p:cNvPr id="14" name="Text 10"/>
          <p:cNvSpPr txBox="1"/>
          <p:nvPr/>
        </p:nvSpPr>
        <p:spPr>
          <a:xfrm>
            <a:off x="3630168" y="2926080"/>
            <a:ext cx="2148840" cy="1005840"/>
          </a:xfrm>
          <a:prstGeom prst="rect">
            <a:avLst/>
          </a:prstGeom>
          <a:noFill/>
          <a:ln/>
        </p:spPr>
        <p:txBody>
          <a:bodyPr wrap="square" lIns="0" tIns="0" rIns="0" bIns="0" rtlCol="0" anchor="t"/>
          <a:lstStyle/>
          <a:p>
            <a:pPr indent="0" marL="0">
              <a:buNone/>
            </a:pPr>
            <a:r>
              <a:rPr lang="en-US" sz="1300" dirty="0">
                <a:solidFill>
                  <a:schemeClr val="tx2"/>
                </a:solidFill>
              </a:rPr>
              <a:t>build per component</a:t>
            </a:r>
            <a:endParaRPr lang="en-US" sz="1300" dirty="0"/>
          </a:p>
          <a:p>
            <a:pPr indent="0" marL="0">
              <a:buNone/>
            </a:pPr>
            <a:r>
              <a:rPr lang="en-US" sz="1300" dirty="0">
                <a:solidFill>
                  <a:schemeClr val="tx2"/>
                </a:solidFill>
              </a:rPr>
              <a:t>Trivy HIGH/CRITICAL gate</a:t>
            </a:r>
            <a:endParaRPr lang="en-US" sz="1300" dirty="0"/>
          </a:p>
          <a:p>
            <a:pPr indent="0" marL="0">
              <a:buNone/>
            </a:pPr>
            <a:r>
              <a:rPr lang="en-US" sz="1300" dirty="0">
                <a:solidFill>
                  <a:schemeClr val="tx2"/>
                </a:solidFill>
              </a:rPr>
              <a:t>push to GHCR :&lt;sha&gt;</a:t>
            </a:r>
            <a:endParaRPr lang="en-US" sz="1300" dirty="0"/>
          </a:p>
        </p:txBody>
      </p:sp>
      <p:sp>
        <p:nvSpPr>
          <p:cNvPr id="15" name="Text 11"/>
          <p:cNvSpPr txBox="1"/>
          <p:nvPr/>
        </p:nvSpPr>
        <p:spPr>
          <a:xfrm>
            <a:off x="3630168" y="4023360"/>
            <a:ext cx="2148840" cy="640080"/>
          </a:xfrm>
          <a:prstGeom prst="rect">
            <a:avLst/>
          </a:prstGeom>
          <a:noFill/>
          <a:ln/>
        </p:spPr>
        <p:txBody>
          <a:bodyPr wrap="square" lIns="0" tIns="0" rIns="0" bIns="0" rtlCol="0" anchor="t"/>
          <a:lstStyle/>
          <a:p>
            <a:pPr indent="0" marL="0">
              <a:buNone/>
            </a:pPr>
            <a:r>
              <a:rPr lang="en-US" sz="1200" b="1" dirty="0">
                <a:solidFill>
                  <a:schemeClr val="accent4"/>
                </a:solidFill>
              </a:rPr>
              <a:t>Fails when </a:t>
            </a:r>
            <a:pPr indent="0" marL="0">
              <a:buNone/>
            </a:pPr>
            <a:r>
              <a:rPr lang="en-US" sz="1200" dirty="0">
                <a:solidFill>
                  <a:schemeClr val="accent4"/>
                </a:solidFill>
              </a:rPr>
              <a:t>a fixable CVE is found</a:t>
            </a:r>
            <a:endParaRPr lang="en-US" sz="1200" dirty="0"/>
          </a:p>
        </p:txBody>
      </p:sp>
      <p:sp>
        <p:nvSpPr>
          <p:cNvPr id="16" name="stage-arrow-1"/>
          <p:cNvSpPr/>
          <p:nvPr/>
        </p:nvSpPr>
        <p:spPr>
          <a:xfrm>
            <a:off x="5952744" y="3063240"/>
            <a:ext cx="265176" cy="0"/>
          </a:xfrm>
          <a:prstGeom prst="line">
            <a:avLst/>
          </a:prstGeom>
          <a:noFill/>
          <a:ln w="22225">
            <a:solidFill>
              <a:schemeClr val="accent6"/>
            </a:solidFill>
            <a:prstDash val="solid"/>
            <a:tailEnd type="triangle"/>
          </a:ln>
        </p:spPr>
      </p:sp>
      <p:sp>
        <p:nvSpPr>
          <p:cNvPr id="17" name="stage-2"/>
          <p:cNvSpPr/>
          <p:nvPr/>
        </p:nvSpPr>
        <p:spPr>
          <a:xfrm>
            <a:off x="6254496" y="1417320"/>
            <a:ext cx="2514600" cy="3337560"/>
          </a:xfrm>
          <a:prstGeom prst="roundRect">
            <a:avLst>
              <a:gd name="adj" fmla="val 4364"/>
            </a:avLst>
          </a:prstGeom>
          <a:solidFill>
            <a:schemeClr val="bg2"/>
          </a:solidFill>
          <a:ln w="12700">
            <a:solidFill>
              <a:schemeClr val="bg2"/>
            </a:solidFill>
            <a:prstDash val="solid"/>
          </a:ln>
        </p:spPr>
      </p:sp>
      <p:sp>
        <p:nvSpPr>
          <p:cNvPr id="18" name="stage-badge-2-circle"/>
          <p:cNvSpPr/>
          <p:nvPr/>
        </p:nvSpPr>
        <p:spPr>
          <a:xfrm>
            <a:off x="6483096" y="1645920"/>
            <a:ext cx="594360" cy="594360"/>
          </a:xfrm>
          <a:prstGeom prst="ellipse">
            <a:avLst/>
          </a:prstGeom>
          <a:solidFill>
            <a:schemeClr val="accent1"/>
          </a:solidFill>
          <a:ln w="12700">
            <a:solidFill>
              <a:schemeClr val="accent1"/>
            </a:solidFill>
            <a:prstDash val="solid"/>
          </a:ln>
        </p:spPr>
      </p:sp>
      <p:pic>
        <p:nvPicPr>
          <p:cNvPr id="19" name="stage-badge-2-icon" descr="preencoded.png">    </p:cNvPr>
          <p:cNvPicPr>
            <a:picLocks noChangeAspect="1"/>
          </p:cNvPicPr>
          <p:nvPr/>
        </p:nvPicPr>
        <p:blipFill>
          <a:blip r:embed="rId3"/>
          <a:stretch>
            <a:fillRect/>
          </a:stretch>
        </p:blipFill>
        <p:spPr>
          <a:xfrm>
            <a:off x="6631686" y="1794510"/>
            <a:ext cx="297180" cy="297180"/>
          </a:xfrm>
          <a:prstGeom prst="rect">
            <a:avLst/>
          </a:prstGeom>
        </p:spPr>
      </p:pic>
      <p:sp>
        <p:nvSpPr>
          <p:cNvPr id="20" name="Text 15"/>
          <p:cNvSpPr txBox="1"/>
          <p:nvPr/>
        </p:nvSpPr>
        <p:spPr>
          <a:xfrm>
            <a:off x="6483096" y="2423160"/>
            <a:ext cx="2148840" cy="411480"/>
          </a:xfrm>
          <a:prstGeom prst="rect">
            <a:avLst/>
          </a:prstGeom>
          <a:noFill/>
          <a:ln/>
        </p:spPr>
        <p:txBody>
          <a:bodyPr wrap="square" lIns="0" tIns="0" rIns="0" bIns="0" rtlCol="0" anchor="t"/>
          <a:lstStyle/>
          <a:p>
            <a:pPr indent="0" marL="0">
              <a:buNone/>
            </a:pPr>
            <a:r>
              <a:rPr lang="en-US" sz="2000" b="1" dirty="0">
                <a:solidFill>
                  <a:schemeClr val="tx1"/>
                </a:solidFill>
              </a:rPr>
              <a:t>3  Deploy test</a:t>
            </a:r>
            <a:endParaRPr lang="en-US" sz="2000" dirty="0"/>
          </a:p>
        </p:txBody>
      </p:sp>
      <p:sp>
        <p:nvSpPr>
          <p:cNvPr id="21" name="Text 16"/>
          <p:cNvSpPr txBox="1"/>
          <p:nvPr/>
        </p:nvSpPr>
        <p:spPr>
          <a:xfrm>
            <a:off x="6483096" y="2926080"/>
            <a:ext cx="2148840" cy="1005840"/>
          </a:xfrm>
          <a:prstGeom prst="rect">
            <a:avLst/>
          </a:prstGeom>
          <a:noFill/>
          <a:ln/>
        </p:spPr>
        <p:txBody>
          <a:bodyPr wrap="square" lIns="0" tIns="0" rIns="0" bIns="0" rtlCol="0" anchor="t"/>
          <a:lstStyle/>
          <a:p>
            <a:pPr indent="0" marL="0">
              <a:buNone/>
            </a:pPr>
            <a:r>
              <a:rPr lang="en-US" sz="1300" dirty="0">
                <a:solidFill>
                  <a:schemeClr val="tx2"/>
                </a:solidFill>
              </a:rPr>
              <a:t>ephemeral kind cluster</a:t>
            </a:r>
            <a:endParaRPr lang="en-US" sz="1300" dirty="0"/>
          </a:p>
          <a:p>
            <a:pPr indent="0" marL="0">
              <a:buNone/>
            </a:pPr>
            <a:r>
              <a:rPr lang="en-US" sz="1300" dirty="0">
                <a:solidFill>
                  <a:schemeClr val="tx2"/>
                </a:solidFill>
              </a:rPr>
              <a:t>helm upgrade --install</a:t>
            </a:r>
            <a:endParaRPr lang="en-US" sz="1300" dirty="0"/>
          </a:p>
          <a:p>
            <a:pPr indent="0" marL="0">
              <a:buNone/>
            </a:pPr>
            <a:r>
              <a:rPr lang="en-US" sz="1300" dirty="0">
                <a:solidFill>
                  <a:schemeClr val="tx2"/>
                </a:solidFill>
              </a:rPr>
              <a:t>full CRUD smoke test</a:t>
            </a:r>
            <a:endParaRPr lang="en-US" sz="1300" dirty="0"/>
          </a:p>
        </p:txBody>
      </p:sp>
      <p:sp>
        <p:nvSpPr>
          <p:cNvPr id="22" name="Text 17"/>
          <p:cNvSpPr txBox="1"/>
          <p:nvPr/>
        </p:nvSpPr>
        <p:spPr>
          <a:xfrm>
            <a:off x="6483096" y="4023360"/>
            <a:ext cx="2148840" cy="640080"/>
          </a:xfrm>
          <a:prstGeom prst="rect">
            <a:avLst/>
          </a:prstGeom>
          <a:noFill/>
          <a:ln/>
        </p:spPr>
        <p:txBody>
          <a:bodyPr wrap="square" lIns="0" tIns="0" rIns="0" bIns="0" rtlCol="0" anchor="t"/>
          <a:lstStyle/>
          <a:p>
            <a:pPr indent="0" marL="0">
              <a:buNone/>
            </a:pPr>
            <a:r>
              <a:rPr lang="en-US" sz="1200" b="1" dirty="0">
                <a:solidFill>
                  <a:schemeClr val="accent4"/>
                </a:solidFill>
              </a:rPr>
              <a:t>Fails when </a:t>
            </a:r>
            <a:pPr indent="0" marL="0">
              <a:buNone/>
            </a:pPr>
            <a:r>
              <a:rPr lang="en-US" sz="1200" dirty="0">
                <a:solidFill>
                  <a:schemeClr val="accent4"/>
                </a:solidFill>
              </a:rPr>
              <a:t>pods aren't Ready or an API call fails</a:t>
            </a:r>
            <a:endParaRPr lang="en-US" sz="1200" dirty="0"/>
          </a:p>
        </p:txBody>
      </p:sp>
      <p:sp>
        <p:nvSpPr>
          <p:cNvPr id="23" name="stage-arrow-2"/>
          <p:cNvSpPr/>
          <p:nvPr/>
        </p:nvSpPr>
        <p:spPr>
          <a:xfrm>
            <a:off x="8805672" y="3063240"/>
            <a:ext cx="265176" cy="0"/>
          </a:xfrm>
          <a:prstGeom prst="line">
            <a:avLst/>
          </a:prstGeom>
          <a:noFill/>
          <a:ln w="22225">
            <a:solidFill>
              <a:schemeClr val="accent6"/>
            </a:solidFill>
            <a:prstDash val="solid"/>
            <a:tailEnd type="triangle"/>
          </a:ln>
        </p:spPr>
      </p:sp>
      <p:sp>
        <p:nvSpPr>
          <p:cNvPr id="24" name="stage-3"/>
          <p:cNvSpPr/>
          <p:nvPr/>
        </p:nvSpPr>
        <p:spPr>
          <a:xfrm>
            <a:off x="9107424" y="1417320"/>
            <a:ext cx="2514600" cy="3337560"/>
          </a:xfrm>
          <a:prstGeom prst="roundRect">
            <a:avLst>
              <a:gd name="adj" fmla="val 4364"/>
            </a:avLst>
          </a:prstGeom>
          <a:solidFill>
            <a:schemeClr val="bg2"/>
          </a:solidFill>
          <a:ln w="12700">
            <a:solidFill>
              <a:schemeClr val="bg2"/>
            </a:solidFill>
            <a:prstDash val="solid"/>
          </a:ln>
        </p:spPr>
      </p:sp>
      <p:sp>
        <p:nvSpPr>
          <p:cNvPr id="25" name="stage-badge-3-circle"/>
          <p:cNvSpPr/>
          <p:nvPr/>
        </p:nvSpPr>
        <p:spPr>
          <a:xfrm>
            <a:off x="9336024" y="1645920"/>
            <a:ext cx="594360" cy="594360"/>
          </a:xfrm>
          <a:prstGeom prst="ellipse">
            <a:avLst/>
          </a:prstGeom>
          <a:solidFill>
            <a:schemeClr val="accent1"/>
          </a:solidFill>
          <a:ln w="12700">
            <a:solidFill>
              <a:schemeClr val="accent1"/>
            </a:solidFill>
            <a:prstDash val="solid"/>
          </a:ln>
        </p:spPr>
      </p:sp>
      <p:pic>
        <p:nvPicPr>
          <p:cNvPr id="26" name="stage-badge-3-icon" descr="preencoded.png">    </p:cNvPr>
          <p:cNvPicPr>
            <a:picLocks noChangeAspect="1"/>
          </p:cNvPicPr>
          <p:nvPr/>
        </p:nvPicPr>
        <p:blipFill>
          <a:blip r:embed="rId4"/>
          <a:stretch>
            <a:fillRect/>
          </a:stretch>
        </p:blipFill>
        <p:spPr>
          <a:xfrm>
            <a:off x="9484614" y="1794510"/>
            <a:ext cx="297180" cy="297180"/>
          </a:xfrm>
          <a:prstGeom prst="rect">
            <a:avLst/>
          </a:prstGeom>
        </p:spPr>
      </p:pic>
      <p:sp>
        <p:nvSpPr>
          <p:cNvPr id="27" name="Text 21"/>
          <p:cNvSpPr txBox="1"/>
          <p:nvPr/>
        </p:nvSpPr>
        <p:spPr>
          <a:xfrm>
            <a:off x="9336024" y="2423160"/>
            <a:ext cx="2148840" cy="411480"/>
          </a:xfrm>
          <a:prstGeom prst="rect">
            <a:avLst/>
          </a:prstGeom>
          <a:noFill/>
          <a:ln/>
        </p:spPr>
        <p:txBody>
          <a:bodyPr wrap="square" lIns="0" tIns="0" rIns="0" bIns="0" rtlCol="0" anchor="t"/>
          <a:lstStyle/>
          <a:p>
            <a:pPr indent="0" marL="0">
              <a:buNone/>
            </a:pPr>
            <a:r>
              <a:rPr lang="en-US" sz="2000" b="1" dirty="0">
                <a:solidFill>
                  <a:schemeClr val="tx1"/>
                </a:solidFill>
              </a:rPr>
              <a:t>4  GitOps</a:t>
            </a:r>
            <a:endParaRPr lang="en-US" sz="2000" dirty="0"/>
          </a:p>
        </p:txBody>
      </p:sp>
      <p:sp>
        <p:nvSpPr>
          <p:cNvPr id="28" name="Text 22"/>
          <p:cNvSpPr txBox="1"/>
          <p:nvPr/>
        </p:nvSpPr>
        <p:spPr>
          <a:xfrm>
            <a:off x="9336024" y="2926080"/>
            <a:ext cx="2148840" cy="1005840"/>
          </a:xfrm>
          <a:prstGeom prst="rect">
            <a:avLst/>
          </a:prstGeom>
          <a:noFill/>
          <a:ln/>
        </p:spPr>
        <p:txBody>
          <a:bodyPr wrap="square" lIns="0" tIns="0" rIns="0" bIns="0" rtlCol="0" anchor="t"/>
          <a:lstStyle/>
          <a:p>
            <a:pPr indent="0" marL="0">
              <a:buNone/>
            </a:pPr>
            <a:r>
              <a:rPr lang="en-US" sz="1300" dirty="0">
                <a:solidFill>
                  <a:schemeClr val="tx2"/>
                </a:solidFill>
              </a:rPr>
              <a:t>write &lt;sha&gt; into</a:t>
            </a:r>
            <a:endParaRPr lang="en-US" sz="1300" dirty="0"/>
          </a:p>
          <a:p>
            <a:pPr indent="0" marL="0">
              <a:buNone/>
            </a:pPr>
            <a:r>
              <a:rPr lang="en-US" sz="1300" dirty="0">
                <a:solidFill>
                  <a:schemeClr val="tx2"/>
                </a:solidFill>
              </a:rPr>
              <a:t>values-prod.yaml</a:t>
            </a:r>
            <a:endParaRPr lang="en-US" sz="1300" dirty="0"/>
          </a:p>
          <a:p>
            <a:pPr indent="0" marL="0">
              <a:buNone/>
            </a:pPr>
            <a:r>
              <a:rPr lang="en-US" sz="1300" dirty="0">
                <a:solidFill>
                  <a:schemeClr val="tx2"/>
                </a:solidFill>
              </a:rPr>
              <a:t>[skip ci] commit</a:t>
            </a:r>
            <a:endParaRPr lang="en-US" sz="1300" dirty="0"/>
          </a:p>
        </p:txBody>
      </p:sp>
      <p:sp>
        <p:nvSpPr>
          <p:cNvPr id="29" name="Text 23"/>
          <p:cNvSpPr txBox="1"/>
          <p:nvPr/>
        </p:nvSpPr>
        <p:spPr>
          <a:xfrm>
            <a:off x="9336024" y="4023360"/>
            <a:ext cx="2148840" cy="640080"/>
          </a:xfrm>
          <a:prstGeom prst="rect">
            <a:avLst/>
          </a:prstGeom>
          <a:noFill/>
          <a:ln/>
        </p:spPr>
        <p:txBody>
          <a:bodyPr wrap="square" lIns="0" tIns="0" rIns="0" bIns="0" rtlCol="0" anchor="t"/>
          <a:lstStyle/>
          <a:p>
            <a:pPr indent="0" marL="0">
              <a:buNone/>
            </a:pPr>
            <a:pPr indent="0" marL="0">
              <a:buNone/>
            </a:pPr>
            <a:r>
              <a:rPr lang="en-US" sz="1200" dirty="0">
                <a:solidFill>
                  <a:schemeClr val="accent3"/>
                </a:solidFill>
              </a:rPr>
              <a:t>→ Argo CD syncs EKS</a:t>
            </a:r>
            <a:endParaRPr lang="en-US" sz="1200" dirty="0"/>
          </a:p>
        </p:txBody>
      </p:sp>
      <p:sp>
        <p:nvSpPr>
          <p:cNvPr id="30" name="tag-callout"/>
          <p:cNvSpPr/>
          <p:nvPr/>
        </p:nvSpPr>
        <p:spPr>
          <a:xfrm>
            <a:off x="548640" y="5029200"/>
            <a:ext cx="11094415" cy="914400"/>
          </a:xfrm>
          <a:prstGeom prst="roundRect">
            <a:avLst>
              <a:gd name="adj" fmla="val 12000"/>
            </a:avLst>
          </a:prstGeom>
          <a:solidFill>
            <a:schemeClr val="tx1"/>
          </a:solidFill>
          <a:ln w="12700">
            <a:solidFill>
              <a:schemeClr val="tx1"/>
            </a:solidFill>
            <a:prstDash val="solid"/>
          </a:ln>
        </p:spPr>
      </p:sp>
      <p:sp>
        <p:nvSpPr>
          <p:cNvPr id="31" name="Text 25"/>
          <p:cNvSpPr txBox="1"/>
          <p:nvPr/>
        </p:nvSpPr>
        <p:spPr>
          <a:xfrm>
            <a:off x="822960" y="5029200"/>
            <a:ext cx="10545775" cy="914400"/>
          </a:xfrm>
          <a:prstGeom prst="rect">
            <a:avLst/>
          </a:prstGeom>
          <a:noFill/>
          <a:ln/>
        </p:spPr>
        <p:txBody>
          <a:bodyPr wrap="square" lIns="0" tIns="0" rIns="0" bIns="0" rtlCol="0" anchor="ctr"/>
          <a:lstStyle/>
          <a:p>
            <a:pPr indent="0" marL="0">
              <a:buNone/>
            </a:pPr>
            <a:r>
              <a:rPr lang="en-US" sz="1300" b="1" dirty="0">
                <a:solidFill>
                  <a:schemeClr val="accent1"/>
                </a:solidFill>
              </a:rPr>
              <a:t>Image tag = commit SHA, never latest   </a:t>
            </a:r>
            <a:pPr indent="0" marL="0">
              <a:buNone/>
            </a:pPr>
            <a:r>
              <a:rPr lang="en-US" sz="1300" dirty="0">
                <a:solidFill>
                  <a:schemeClr val="bg1"/>
                </a:solidFill>
                <a:latin typeface="Courier New" pitchFamily="34" charset="0"/>
                <a:ea typeface="Courier New" pitchFamily="34" charset="-122"/>
                <a:cs typeface="Courier New" pitchFamily="34" charset="-120"/>
              </a:rPr>
              <a:t>ghcr.io/venkat1701/taskboard-backend:&lt;sha&gt;  →  git show &lt;sha&gt;</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DevSecOps: Trivy blocked our first build, and was right</a:t>
            </a:r>
            <a:endParaRPr lang="en-US" sz="3400" dirty="0"/>
          </a:p>
        </p:txBody>
      </p:sp>
      <p:sp>
        <p:nvSpPr>
          <p:cNvPr id="3" name="trivy-panel"/>
          <p:cNvSpPr/>
          <p:nvPr/>
        </p:nvSpPr>
        <p:spPr>
          <a:xfrm>
            <a:off x="548640" y="1371600"/>
            <a:ext cx="5120640" cy="4526280"/>
          </a:xfrm>
          <a:prstGeom prst="roundRect">
            <a:avLst>
              <a:gd name="adj" fmla="val 2424"/>
            </a:avLst>
          </a:prstGeom>
          <a:solidFill>
            <a:schemeClr val="bg2"/>
          </a:solidFill>
          <a:ln w="12700">
            <a:solidFill>
              <a:schemeClr val="bg2"/>
            </a:solidFill>
            <a:prstDash val="solid"/>
          </a:ln>
        </p:spPr>
      </p:sp>
      <p:sp>
        <p:nvSpPr>
          <p:cNvPr id="4" name="Text 2"/>
          <p:cNvSpPr txBox="1"/>
          <p:nvPr/>
        </p:nvSpPr>
        <p:spPr>
          <a:xfrm>
            <a:off x="822960" y="1600200"/>
            <a:ext cx="4572000" cy="365760"/>
          </a:xfrm>
          <a:prstGeom prst="rect">
            <a:avLst/>
          </a:prstGeom>
          <a:noFill/>
          <a:ln/>
        </p:spPr>
        <p:txBody>
          <a:bodyPr wrap="square" lIns="0" tIns="0" rIns="0" bIns="0" rtlCol="0" anchor="t"/>
          <a:lstStyle/>
          <a:p>
            <a:pPr indent="0" marL="0">
              <a:buNone/>
            </a:pPr>
            <a:r>
              <a:rPr lang="en-US" sz="1600" b="1" dirty="0">
                <a:solidFill>
                  <a:schemeClr val="tx1"/>
                </a:solidFill>
              </a:rPr>
              <a:t>Fixable HIGH/CRITICAL findings</a:t>
            </a:r>
            <a:endParaRPr lang="en-US" sz="1600" dirty="0"/>
          </a:p>
        </p:txBody>
      </p:sp>
      <p:sp>
        <p:nvSpPr>
          <p:cNvPr id="5" name="Text 3"/>
          <p:cNvSpPr txBox="1"/>
          <p:nvPr/>
        </p:nvSpPr>
        <p:spPr>
          <a:xfrm>
            <a:off x="822960" y="2331720"/>
            <a:ext cx="1280160" cy="457200"/>
          </a:xfrm>
          <a:prstGeom prst="rect">
            <a:avLst/>
          </a:prstGeom>
          <a:noFill/>
          <a:ln/>
        </p:spPr>
        <p:txBody>
          <a:bodyPr wrap="square" lIns="0" tIns="0" rIns="0" bIns="0" rtlCol="0" anchor="ctr"/>
          <a:lstStyle/>
          <a:p>
            <a:pPr indent="0" marL="0">
              <a:buNone/>
            </a:pPr>
            <a:r>
              <a:rPr lang="en-US" sz="1300" b="1" dirty="0">
                <a:solidFill>
                  <a:schemeClr val="tx1"/>
                </a:solidFill>
              </a:rPr>
              <a:t>backend image</a:t>
            </a:r>
            <a:endParaRPr lang="en-US" sz="1300" dirty="0"/>
          </a:p>
        </p:txBody>
      </p:sp>
      <p:sp>
        <p:nvSpPr>
          <p:cNvPr id="6" name="bar-before-0"/>
          <p:cNvSpPr/>
          <p:nvPr/>
        </p:nvSpPr>
        <p:spPr>
          <a:xfrm>
            <a:off x="2103120" y="2359152"/>
            <a:ext cx="299258" cy="402336"/>
          </a:xfrm>
          <a:prstGeom prst="rect">
            <a:avLst/>
          </a:prstGeom>
          <a:solidFill>
            <a:schemeClr val="accent2"/>
          </a:solidFill>
          <a:ln w="12700">
            <a:solidFill>
              <a:schemeClr val="accent2"/>
            </a:solidFill>
            <a:prstDash val="solid"/>
          </a:ln>
        </p:spPr>
      </p:sp>
      <p:sp>
        <p:nvSpPr>
          <p:cNvPr id="7" name="Text 5"/>
          <p:cNvSpPr txBox="1"/>
          <p:nvPr/>
        </p:nvSpPr>
        <p:spPr>
          <a:xfrm>
            <a:off x="2493818" y="2331720"/>
            <a:ext cx="548640" cy="457200"/>
          </a:xfrm>
          <a:prstGeom prst="rect">
            <a:avLst/>
          </a:prstGeom>
          <a:noFill/>
          <a:ln/>
        </p:spPr>
        <p:txBody>
          <a:bodyPr wrap="square" lIns="0" tIns="0" rIns="0" bIns="0" rtlCol="0" anchor="ctr"/>
          <a:lstStyle/>
          <a:p>
            <a:pPr indent="0" marL="0">
              <a:buNone/>
            </a:pPr>
            <a:r>
              <a:rPr lang="en-US" sz="1600" b="1" dirty="0">
                <a:solidFill>
                  <a:schemeClr val="tx1"/>
                </a:solidFill>
              </a:rPr>
              <a:t>4</a:t>
            </a:r>
            <a:endParaRPr lang="en-US" sz="1600" dirty="0"/>
          </a:p>
        </p:txBody>
      </p:sp>
      <p:sp>
        <p:nvSpPr>
          <p:cNvPr id="8" name="bar-after-0"/>
          <p:cNvSpPr/>
          <p:nvPr/>
        </p:nvSpPr>
        <p:spPr>
          <a:xfrm>
            <a:off x="2103120" y="2880360"/>
            <a:ext cx="54864" cy="402336"/>
          </a:xfrm>
          <a:prstGeom prst="rect">
            <a:avLst/>
          </a:prstGeom>
          <a:solidFill>
            <a:schemeClr val="accent1"/>
          </a:solidFill>
          <a:ln w="12700">
            <a:solidFill>
              <a:schemeClr val="accent1"/>
            </a:solidFill>
            <a:prstDash val="solid"/>
          </a:ln>
        </p:spPr>
      </p:sp>
      <p:sp>
        <p:nvSpPr>
          <p:cNvPr id="9" name="Text 7"/>
          <p:cNvSpPr txBox="1"/>
          <p:nvPr/>
        </p:nvSpPr>
        <p:spPr>
          <a:xfrm>
            <a:off x="2249424" y="2852928"/>
            <a:ext cx="548640" cy="457200"/>
          </a:xfrm>
          <a:prstGeom prst="rect">
            <a:avLst/>
          </a:prstGeom>
          <a:noFill/>
          <a:ln/>
        </p:spPr>
        <p:txBody>
          <a:bodyPr wrap="square" lIns="0" tIns="0" rIns="0" bIns="0" rtlCol="0" anchor="ctr"/>
          <a:lstStyle/>
          <a:p>
            <a:pPr indent="0" marL="0">
              <a:buNone/>
            </a:pPr>
            <a:r>
              <a:rPr lang="en-US" sz="1600" b="1" dirty="0">
                <a:solidFill>
                  <a:schemeClr val="accent1"/>
                </a:solidFill>
              </a:rPr>
              <a:t>0</a:t>
            </a:r>
            <a:endParaRPr lang="en-US" sz="1600" dirty="0"/>
          </a:p>
        </p:txBody>
      </p:sp>
      <p:sp>
        <p:nvSpPr>
          <p:cNvPr id="10" name="Text 8"/>
          <p:cNvSpPr txBox="1"/>
          <p:nvPr/>
        </p:nvSpPr>
        <p:spPr>
          <a:xfrm>
            <a:off x="822960" y="3931920"/>
            <a:ext cx="1280160" cy="457200"/>
          </a:xfrm>
          <a:prstGeom prst="rect">
            <a:avLst/>
          </a:prstGeom>
          <a:noFill/>
          <a:ln/>
        </p:spPr>
        <p:txBody>
          <a:bodyPr wrap="square" lIns="0" tIns="0" rIns="0" bIns="0" rtlCol="0" anchor="ctr"/>
          <a:lstStyle/>
          <a:p>
            <a:pPr indent="0" marL="0">
              <a:buNone/>
            </a:pPr>
            <a:r>
              <a:rPr lang="en-US" sz="1300" b="1" dirty="0">
                <a:solidFill>
                  <a:schemeClr val="tx1"/>
                </a:solidFill>
              </a:rPr>
              <a:t>frontend image</a:t>
            </a:r>
            <a:endParaRPr lang="en-US" sz="1300" dirty="0"/>
          </a:p>
        </p:txBody>
      </p:sp>
      <p:sp>
        <p:nvSpPr>
          <p:cNvPr id="11" name="bar-before-1"/>
          <p:cNvSpPr/>
          <p:nvPr/>
        </p:nvSpPr>
        <p:spPr>
          <a:xfrm>
            <a:off x="2103120" y="3959352"/>
            <a:ext cx="3291840" cy="402336"/>
          </a:xfrm>
          <a:prstGeom prst="rect">
            <a:avLst/>
          </a:prstGeom>
          <a:solidFill>
            <a:schemeClr val="accent2"/>
          </a:solidFill>
          <a:ln w="12700">
            <a:solidFill>
              <a:schemeClr val="accent2"/>
            </a:solidFill>
            <a:prstDash val="solid"/>
          </a:ln>
        </p:spPr>
      </p:sp>
      <p:sp>
        <p:nvSpPr>
          <p:cNvPr id="12" name="Text 10"/>
          <p:cNvSpPr txBox="1"/>
          <p:nvPr/>
        </p:nvSpPr>
        <p:spPr>
          <a:xfrm>
            <a:off x="5486400" y="3931920"/>
            <a:ext cx="548640" cy="457200"/>
          </a:xfrm>
          <a:prstGeom prst="rect">
            <a:avLst/>
          </a:prstGeom>
          <a:noFill/>
          <a:ln/>
        </p:spPr>
        <p:txBody>
          <a:bodyPr wrap="square" lIns="0" tIns="0" rIns="0" bIns="0" rtlCol="0" anchor="ctr"/>
          <a:lstStyle/>
          <a:p>
            <a:pPr indent="0" marL="0">
              <a:buNone/>
            </a:pPr>
            <a:r>
              <a:rPr lang="en-US" sz="1600" b="1" dirty="0">
                <a:solidFill>
                  <a:schemeClr val="tx1"/>
                </a:solidFill>
              </a:rPr>
              <a:t>44</a:t>
            </a:r>
            <a:endParaRPr lang="en-US" sz="1600" dirty="0"/>
          </a:p>
        </p:txBody>
      </p:sp>
      <p:sp>
        <p:nvSpPr>
          <p:cNvPr id="13" name="bar-after-1"/>
          <p:cNvSpPr/>
          <p:nvPr/>
        </p:nvSpPr>
        <p:spPr>
          <a:xfrm>
            <a:off x="2103120" y="4480560"/>
            <a:ext cx="54864" cy="402336"/>
          </a:xfrm>
          <a:prstGeom prst="rect">
            <a:avLst/>
          </a:prstGeom>
          <a:solidFill>
            <a:schemeClr val="accent1"/>
          </a:solidFill>
          <a:ln w="12700">
            <a:solidFill>
              <a:schemeClr val="accent1"/>
            </a:solidFill>
            <a:prstDash val="solid"/>
          </a:ln>
        </p:spPr>
      </p:sp>
      <p:sp>
        <p:nvSpPr>
          <p:cNvPr id="14" name="Text 12"/>
          <p:cNvSpPr txBox="1"/>
          <p:nvPr/>
        </p:nvSpPr>
        <p:spPr>
          <a:xfrm>
            <a:off x="2249424" y="4453128"/>
            <a:ext cx="548640" cy="457200"/>
          </a:xfrm>
          <a:prstGeom prst="rect">
            <a:avLst/>
          </a:prstGeom>
          <a:noFill/>
          <a:ln/>
        </p:spPr>
        <p:txBody>
          <a:bodyPr wrap="square" lIns="0" tIns="0" rIns="0" bIns="0" rtlCol="0" anchor="ctr"/>
          <a:lstStyle/>
          <a:p>
            <a:pPr indent="0" marL="0">
              <a:buNone/>
            </a:pPr>
            <a:r>
              <a:rPr lang="en-US" sz="1600" b="1" dirty="0">
                <a:solidFill>
                  <a:schemeClr val="accent1"/>
                </a:solidFill>
              </a:rPr>
              <a:t>0</a:t>
            </a:r>
            <a:endParaRPr lang="en-US" sz="1600" dirty="0"/>
          </a:p>
        </p:txBody>
      </p:sp>
      <p:sp>
        <p:nvSpPr>
          <p:cNvPr id="15" name="legend-0"/>
          <p:cNvSpPr/>
          <p:nvPr/>
        </p:nvSpPr>
        <p:spPr>
          <a:xfrm>
            <a:off x="822960" y="5440680"/>
            <a:ext cx="201168" cy="201168"/>
          </a:xfrm>
          <a:prstGeom prst="rect">
            <a:avLst/>
          </a:prstGeom>
          <a:solidFill>
            <a:schemeClr val="accent2"/>
          </a:solidFill>
          <a:ln w="12700">
            <a:solidFill>
              <a:schemeClr val="accent2"/>
            </a:solidFill>
            <a:prstDash val="solid"/>
          </a:ln>
        </p:spPr>
      </p:sp>
      <p:sp>
        <p:nvSpPr>
          <p:cNvPr id="16" name="Text 14"/>
          <p:cNvSpPr txBox="1"/>
          <p:nvPr/>
        </p:nvSpPr>
        <p:spPr>
          <a:xfrm>
            <a:off x="1115568" y="5394960"/>
            <a:ext cx="1463040" cy="292608"/>
          </a:xfrm>
          <a:prstGeom prst="rect">
            <a:avLst/>
          </a:prstGeom>
          <a:noFill/>
          <a:ln/>
        </p:spPr>
        <p:txBody>
          <a:bodyPr wrap="square" lIns="0" tIns="0" rIns="0" bIns="0" rtlCol="0" anchor="ctr"/>
          <a:lstStyle/>
          <a:p>
            <a:pPr indent="0" marL="0">
              <a:buNone/>
            </a:pPr>
            <a:r>
              <a:rPr lang="en-US" sz="1200" dirty="0">
                <a:solidFill>
                  <a:schemeClr val="tx2"/>
                </a:solidFill>
              </a:rPr>
              <a:t>First scan</a:t>
            </a:r>
            <a:endParaRPr lang="en-US" sz="1200" dirty="0"/>
          </a:p>
        </p:txBody>
      </p:sp>
      <p:sp>
        <p:nvSpPr>
          <p:cNvPr id="17" name="legend-1"/>
          <p:cNvSpPr/>
          <p:nvPr/>
        </p:nvSpPr>
        <p:spPr>
          <a:xfrm>
            <a:off x="2651760" y="5440680"/>
            <a:ext cx="201168" cy="201168"/>
          </a:xfrm>
          <a:prstGeom prst="rect">
            <a:avLst/>
          </a:prstGeom>
          <a:solidFill>
            <a:schemeClr val="accent1"/>
          </a:solidFill>
          <a:ln w="12700">
            <a:solidFill>
              <a:schemeClr val="accent1"/>
            </a:solidFill>
            <a:prstDash val="solid"/>
          </a:ln>
        </p:spPr>
      </p:sp>
      <p:sp>
        <p:nvSpPr>
          <p:cNvPr id="18" name="Text 16"/>
          <p:cNvSpPr txBox="1"/>
          <p:nvPr/>
        </p:nvSpPr>
        <p:spPr>
          <a:xfrm>
            <a:off x="2944368" y="5394960"/>
            <a:ext cx="1463040" cy="292608"/>
          </a:xfrm>
          <a:prstGeom prst="rect">
            <a:avLst/>
          </a:prstGeom>
          <a:noFill/>
          <a:ln/>
        </p:spPr>
        <p:txBody>
          <a:bodyPr wrap="square" lIns="0" tIns="0" rIns="0" bIns="0" rtlCol="0" anchor="ctr"/>
          <a:lstStyle/>
          <a:p>
            <a:pPr indent="0" marL="0">
              <a:buNone/>
            </a:pPr>
            <a:r>
              <a:rPr lang="en-US" sz="1200" dirty="0">
                <a:solidFill>
                  <a:schemeClr val="tx2"/>
                </a:solidFill>
              </a:rPr>
              <a:t>After fixes</a:t>
            </a:r>
            <a:endParaRPr lang="en-US" sz="1200" dirty="0"/>
          </a:p>
        </p:txBody>
      </p:sp>
      <p:sp>
        <p:nvSpPr>
          <p:cNvPr id="19" name="cve-badge-circle"/>
          <p:cNvSpPr/>
          <p:nvPr/>
        </p:nvSpPr>
        <p:spPr>
          <a:xfrm>
            <a:off x="6172200" y="1417320"/>
            <a:ext cx="502920" cy="502920"/>
          </a:xfrm>
          <a:prstGeom prst="ellipse">
            <a:avLst/>
          </a:prstGeom>
          <a:solidFill>
            <a:schemeClr val="accent2"/>
          </a:solidFill>
          <a:ln w="12700">
            <a:solidFill>
              <a:schemeClr val="accent2"/>
            </a:solidFill>
            <a:prstDash val="solid"/>
          </a:ln>
        </p:spPr>
      </p:sp>
      <p:pic>
        <p:nvPicPr>
          <p:cNvPr id="20" name="cve-badge-icon" descr="preencoded.png">    </p:cNvPr>
          <p:cNvPicPr>
            <a:picLocks noChangeAspect="1"/>
          </p:cNvPicPr>
          <p:nvPr/>
        </p:nvPicPr>
        <p:blipFill>
          <a:blip r:embed="rId1"/>
          <a:stretch>
            <a:fillRect/>
          </a:stretch>
        </p:blipFill>
        <p:spPr>
          <a:xfrm>
            <a:off x="6297930" y="1543050"/>
            <a:ext cx="251460" cy="251460"/>
          </a:xfrm>
          <a:prstGeom prst="rect">
            <a:avLst/>
          </a:prstGeom>
        </p:spPr>
      </p:pic>
      <p:sp>
        <p:nvSpPr>
          <p:cNvPr id="21" name="Text 18"/>
          <p:cNvSpPr txBox="1"/>
          <p:nvPr/>
        </p:nvSpPr>
        <p:spPr>
          <a:xfrm>
            <a:off x="6858000" y="1463040"/>
            <a:ext cx="4572000" cy="411480"/>
          </a:xfrm>
          <a:prstGeom prst="rect">
            <a:avLst/>
          </a:prstGeom>
          <a:noFill/>
          <a:ln/>
        </p:spPr>
        <p:txBody>
          <a:bodyPr wrap="square" lIns="0" tIns="0" rIns="0" bIns="0" rtlCol="0" anchor="t"/>
          <a:lstStyle/>
          <a:p>
            <a:pPr indent="0" marL="0">
              <a:buNone/>
            </a:pPr>
            <a:r>
              <a:rPr lang="en-US" sz="2000" b="1" dirty="0">
                <a:solidFill>
                  <a:schemeClr val="tx1"/>
                </a:solidFill>
              </a:rPr>
              <a:t>The CVE we explained</a:t>
            </a:r>
            <a:endParaRPr lang="en-US" sz="2000" dirty="0"/>
          </a:p>
        </p:txBody>
      </p:sp>
      <p:sp>
        <p:nvSpPr>
          <p:cNvPr id="22" name="Text 19"/>
          <p:cNvSpPr txBox="1"/>
          <p:nvPr/>
        </p:nvSpPr>
        <p:spPr>
          <a:xfrm>
            <a:off x="6172200" y="2103120"/>
            <a:ext cx="5440680" cy="1188720"/>
          </a:xfrm>
          <a:prstGeom prst="rect">
            <a:avLst/>
          </a:prstGeom>
          <a:noFill/>
          <a:ln/>
        </p:spPr>
        <p:txBody>
          <a:bodyPr wrap="square" lIns="0" tIns="0" rIns="0" bIns="0" rtlCol="0" anchor="t"/>
          <a:lstStyle/>
          <a:p>
            <a:pPr indent="0" marL="0">
              <a:buNone/>
            </a:pPr>
            <a:r>
              <a:rPr lang="en-US" sz="1400" b="1" dirty="0">
                <a:solidFill>
                  <a:schemeClr val="tx1"/>
                </a:solidFill>
              </a:rPr>
              <a:t>urllib3 CVE-2026-97687</a:t>
            </a:r>
            <a:pPr indent="0" marL="0">
              <a:buNone/>
            </a:pPr>
            <a:r>
              <a:rPr lang="en-US" sz="1400" dirty="0">
                <a:solidFill>
                  <a:schemeClr val="tx2"/>
                </a:solidFill>
              </a:rPr>
              <a:t> (HTTPS-proxy traffic interception) plus msgpack and setuptools findings — none were our dependencies. They were vendored inside </a:t>
            </a:r>
            <a:pPr indent="0" marL="0">
              <a:buNone/>
            </a:pPr>
            <a:r>
              <a:rPr lang="en-US" sz="1400" b="1" dirty="0">
                <a:solidFill>
                  <a:schemeClr val="tx1"/>
                </a:solidFill>
                <a:latin typeface="Courier New" pitchFamily="34" charset="0"/>
                <a:ea typeface="Courier New" pitchFamily="34" charset="-122"/>
                <a:cs typeface="Courier New" pitchFamily="34" charset="-120"/>
              </a:rPr>
              <a:t>pip</a:t>
            </a:r>
            <a:pPr indent="0" marL="0">
              <a:buNone/>
            </a:pPr>
            <a:r>
              <a:rPr lang="en-US" sz="1400" dirty="0">
                <a:solidFill>
                  <a:schemeClr val="tx2"/>
                </a:solidFill>
              </a:rPr>
              <a:t>, which the API never runs in production.</a:t>
            </a:r>
            <a:endParaRPr lang="en-US" sz="1400" dirty="0"/>
          </a:p>
        </p:txBody>
      </p:sp>
      <p:sp>
        <p:nvSpPr>
          <p:cNvPr id="23" name="fix-badge-0-circle"/>
          <p:cNvSpPr/>
          <p:nvPr/>
        </p:nvSpPr>
        <p:spPr>
          <a:xfrm>
            <a:off x="6172200" y="3474720"/>
            <a:ext cx="384048" cy="384048"/>
          </a:xfrm>
          <a:prstGeom prst="ellipse">
            <a:avLst/>
          </a:prstGeom>
          <a:solidFill>
            <a:schemeClr val="accent1"/>
          </a:solidFill>
          <a:ln w="12700">
            <a:solidFill>
              <a:schemeClr val="accent1"/>
            </a:solidFill>
            <a:prstDash val="solid"/>
          </a:ln>
        </p:spPr>
      </p:sp>
      <p:pic>
        <p:nvPicPr>
          <p:cNvPr id="24" name="fix-badge-0-icon" descr="preencoded.png">    </p:cNvPr>
          <p:cNvPicPr>
            <a:picLocks noChangeAspect="1"/>
          </p:cNvPicPr>
          <p:nvPr/>
        </p:nvPicPr>
        <p:blipFill>
          <a:blip r:embed="rId2"/>
          <a:stretch>
            <a:fillRect/>
          </a:stretch>
        </p:blipFill>
        <p:spPr>
          <a:xfrm>
            <a:off x="6268212" y="3570732"/>
            <a:ext cx="192024" cy="192024"/>
          </a:xfrm>
          <a:prstGeom prst="rect">
            <a:avLst/>
          </a:prstGeom>
        </p:spPr>
      </p:pic>
      <p:sp>
        <p:nvSpPr>
          <p:cNvPr id="25" name="Text 21"/>
          <p:cNvSpPr txBox="1"/>
          <p:nvPr/>
        </p:nvSpPr>
        <p:spPr>
          <a:xfrm>
            <a:off x="6720840" y="3456432"/>
            <a:ext cx="4892040" cy="640080"/>
          </a:xfrm>
          <a:prstGeom prst="rect">
            <a:avLst/>
          </a:prstGeom>
          <a:noFill/>
          <a:ln/>
        </p:spPr>
        <p:txBody>
          <a:bodyPr wrap="square" lIns="0" tIns="0" rIns="0" bIns="0" rtlCol="0" anchor="t"/>
          <a:lstStyle/>
          <a:p>
            <a:pPr indent="0" marL="0">
              <a:buNone/>
            </a:pPr>
            <a:r>
              <a:rPr lang="en-US" sz="1400" dirty="0">
                <a:solidFill>
                  <a:schemeClr val="tx1"/>
                </a:solidFill>
              </a:rPr>
              <a:t>Backend: multi-stage build, venv copied into a clean image with pip removed</a:t>
            </a:r>
            <a:endParaRPr lang="en-US" sz="1400" dirty="0"/>
          </a:p>
        </p:txBody>
      </p:sp>
      <p:sp>
        <p:nvSpPr>
          <p:cNvPr id="26" name="fix-badge-1-circle"/>
          <p:cNvSpPr/>
          <p:nvPr/>
        </p:nvSpPr>
        <p:spPr>
          <a:xfrm>
            <a:off x="6172200" y="4206240"/>
            <a:ext cx="384048" cy="384048"/>
          </a:xfrm>
          <a:prstGeom prst="ellipse">
            <a:avLst/>
          </a:prstGeom>
          <a:solidFill>
            <a:schemeClr val="accent1"/>
          </a:solidFill>
          <a:ln w="12700">
            <a:solidFill>
              <a:schemeClr val="accent1"/>
            </a:solidFill>
            <a:prstDash val="solid"/>
          </a:ln>
        </p:spPr>
      </p:sp>
      <p:pic>
        <p:nvPicPr>
          <p:cNvPr id="27" name="fix-badge-1-icon" descr="preencoded.png">    </p:cNvPr>
          <p:cNvPicPr>
            <a:picLocks noChangeAspect="1"/>
          </p:cNvPicPr>
          <p:nvPr/>
        </p:nvPicPr>
        <p:blipFill>
          <a:blip r:embed="rId3"/>
          <a:stretch>
            <a:fillRect/>
          </a:stretch>
        </p:blipFill>
        <p:spPr>
          <a:xfrm>
            <a:off x="6268212" y="4302252"/>
            <a:ext cx="192024" cy="192024"/>
          </a:xfrm>
          <a:prstGeom prst="rect">
            <a:avLst/>
          </a:prstGeom>
        </p:spPr>
      </p:pic>
      <p:sp>
        <p:nvSpPr>
          <p:cNvPr id="28" name="Text 23"/>
          <p:cNvSpPr txBox="1"/>
          <p:nvPr/>
        </p:nvSpPr>
        <p:spPr>
          <a:xfrm>
            <a:off x="6720840" y="4187952"/>
            <a:ext cx="4892040" cy="640080"/>
          </a:xfrm>
          <a:prstGeom prst="rect">
            <a:avLst/>
          </a:prstGeom>
          <a:noFill/>
          <a:ln/>
        </p:spPr>
        <p:txBody>
          <a:bodyPr wrap="square" lIns="0" tIns="0" rIns="0" bIns="0" rtlCol="0" anchor="t"/>
          <a:lstStyle/>
          <a:p>
            <a:pPr indent="0" marL="0">
              <a:buNone/>
            </a:pPr>
            <a:r>
              <a:rPr lang="en-US" sz="1400" dirty="0">
                <a:solidFill>
                  <a:schemeClr val="tx1"/>
                </a:solidFill>
              </a:rPr>
              <a:t>Frontend: apk upgrade on the unprivileged Nginx base cleared 44 fixed Alpine CVEs</a:t>
            </a:r>
            <a:endParaRPr lang="en-US" sz="1400" dirty="0"/>
          </a:p>
        </p:txBody>
      </p:sp>
      <p:sp>
        <p:nvSpPr>
          <p:cNvPr id="29" name="fix-badge-2-circle"/>
          <p:cNvSpPr/>
          <p:nvPr/>
        </p:nvSpPr>
        <p:spPr>
          <a:xfrm>
            <a:off x="6172200" y="4937760"/>
            <a:ext cx="384048" cy="384048"/>
          </a:xfrm>
          <a:prstGeom prst="ellipse">
            <a:avLst/>
          </a:prstGeom>
          <a:solidFill>
            <a:schemeClr val="accent1"/>
          </a:solidFill>
          <a:ln w="12700">
            <a:solidFill>
              <a:schemeClr val="accent1"/>
            </a:solidFill>
            <a:prstDash val="solid"/>
          </a:ln>
        </p:spPr>
      </p:sp>
      <p:pic>
        <p:nvPicPr>
          <p:cNvPr id="30" name="fix-badge-2-icon" descr="preencoded.png">    </p:cNvPr>
          <p:cNvPicPr>
            <a:picLocks noChangeAspect="1"/>
          </p:cNvPicPr>
          <p:nvPr/>
        </p:nvPicPr>
        <p:blipFill>
          <a:blip r:embed="rId4"/>
          <a:stretch>
            <a:fillRect/>
          </a:stretch>
        </p:blipFill>
        <p:spPr>
          <a:xfrm>
            <a:off x="6268212" y="5033772"/>
            <a:ext cx="192024" cy="192024"/>
          </a:xfrm>
          <a:prstGeom prst="rect">
            <a:avLst/>
          </a:prstGeom>
        </p:spPr>
      </p:pic>
      <p:sp>
        <p:nvSpPr>
          <p:cNvPr id="31" name="Text 25"/>
          <p:cNvSpPr txBox="1"/>
          <p:nvPr/>
        </p:nvSpPr>
        <p:spPr>
          <a:xfrm>
            <a:off x="6720840" y="4919472"/>
            <a:ext cx="4892040" cy="640080"/>
          </a:xfrm>
          <a:prstGeom prst="rect">
            <a:avLst/>
          </a:prstGeom>
          <a:noFill/>
          <a:ln/>
        </p:spPr>
        <p:txBody>
          <a:bodyPr wrap="square" lIns="0" tIns="0" rIns="0" bIns="0" rtlCol="0" anchor="t"/>
          <a:lstStyle/>
          <a:p>
            <a:pPr indent="0" marL="0">
              <a:buNone/>
            </a:pPr>
            <a:r>
              <a:rPr lang="en-US" sz="1400" dirty="0">
                <a:solidFill>
                  <a:schemeClr val="tx1"/>
                </a:solidFill>
              </a:rPr>
              <a:t>--ignore-unfixed keeps the gate actionable: fail only when a fix exists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Containers: small, non-root, health-gated</a:t>
            </a:r>
            <a:endParaRPr lang="en-US" sz="3400" dirty="0"/>
          </a:p>
        </p:txBody>
      </p:sp>
      <p:sp>
        <p:nvSpPr>
          <p:cNvPr id="3" name="image-card-0"/>
          <p:cNvSpPr/>
          <p:nvPr/>
        </p:nvSpPr>
        <p:spPr>
          <a:xfrm>
            <a:off x="548640" y="1371600"/>
            <a:ext cx="3566160" cy="4526280"/>
          </a:xfrm>
          <a:prstGeom prst="roundRect">
            <a:avLst>
              <a:gd name="adj" fmla="val 3077"/>
            </a:avLst>
          </a:prstGeom>
          <a:solidFill>
            <a:schemeClr val="bg2"/>
          </a:solidFill>
          <a:ln w="12700">
            <a:solidFill>
              <a:schemeClr val="bg2"/>
            </a:solidFill>
            <a:prstDash val="solid"/>
          </a:ln>
        </p:spPr>
      </p:sp>
      <p:sp>
        <p:nvSpPr>
          <p:cNvPr id="4" name="image-badge-0-circle"/>
          <p:cNvSpPr/>
          <p:nvPr/>
        </p:nvSpPr>
        <p:spPr>
          <a:xfrm>
            <a:off x="822960" y="1645920"/>
            <a:ext cx="594360" cy="594360"/>
          </a:xfrm>
          <a:prstGeom prst="ellipse">
            <a:avLst/>
          </a:prstGeom>
          <a:solidFill>
            <a:schemeClr val="tx1"/>
          </a:solidFill>
          <a:ln w="12700">
            <a:solidFill>
              <a:schemeClr val="tx1"/>
            </a:solidFill>
            <a:prstDash val="solid"/>
          </a:ln>
        </p:spPr>
      </p:sp>
      <p:pic>
        <p:nvPicPr>
          <p:cNvPr id="5" name="image-badge-0-icon" descr="preencoded.png">    </p:cNvPr>
          <p:cNvPicPr>
            <a:picLocks noChangeAspect="1"/>
          </p:cNvPicPr>
          <p:nvPr/>
        </p:nvPicPr>
        <p:blipFill>
          <a:blip r:embed="rId1"/>
          <a:stretch>
            <a:fillRect/>
          </a:stretch>
        </p:blipFill>
        <p:spPr>
          <a:xfrm>
            <a:off x="971550" y="1794510"/>
            <a:ext cx="297180" cy="297180"/>
          </a:xfrm>
          <a:prstGeom prst="rect">
            <a:avLst/>
          </a:prstGeom>
        </p:spPr>
      </p:pic>
      <p:sp>
        <p:nvSpPr>
          <p:cNvPr id="6" name="Text 3"/>
          <p:cNvSpPr txBox="1"/>
          <p:nvPr/>
        </p:nvSpPr>
        <p:spPr>
          <a:xfrm>
            <a:off x="1554480" y="1664208"/>
            <a:ext cx="2377440" cy="320040"/>
          </a:xfrm>
          <a:prstGeom prst="rect">
            <a:avLst/>
          </a:prstGeom>
          <a:noFill/>
          <a:ln/>
        </p:spPr>
        <p:txBody>
          <a:bodyPr wrap="square" lIns="0" tIns="0" rIns="0" bIns="0" rtlCol="0" anchor="t"/>
          <a:lstStyle/>
          <a:p>
            <a:pPr indent="0" marL="0">
              <a:buNone/>
            </a:pPr>
            <a:r>
              <a:rPr lang="en-US" sz="1800" b="1" dirty="0">
                <a:solidFill>
                  <a:schemeClr val="tx1"/>
                </a:solidFill>
              </a:rPr>
              <a:t>backend image</a:t>
            </a:r>
            <a:endParaRPr lang="en-US" sz="1800" dirty="0"/>
          </a:p>
        </p:txBody>
      </p:sp>
      <p:sp>
        <p:nvSpPr>
          <p:cNvPr id="7" name="Text 4"/>
          <p:cNvSpPr txBox="1"/>
          <p:nvPr/>
        </p:nvSpPr>
        <p:spPr>
          <a:xfrm>
            <a:off x="1554480" y="1993392"/>
            <a:ext cx="2377440" cy="274320"/>
          </a:xfrm>
          <a:prstGeom prst="rect">
            <a:avLst/>
          </a:prstGeom>
          <a:noFill/>
          <a:ln/>
        </p:spPr>
        <p:txBody>
          <a:bodyPr wrap="square" lIns="0" tIns="0" rIns="0" bIns="0" rtlCol="0" anchor="t"/>
          <a:lstStyle/>
          <a:p>
            <a:pPr indent="0" marL="0">
              <a:buNone/>
            </a:pPr>
            <a:r>
              <a:rPr lang="en-US" sz="1200" b="1" dirty="0">
                <a:solidFill>
                  <a:schemeClr val="accent1"/>
                </a:solidFill>
              </a:rPr>
              <a:t>351 MB</a:t>
            </a:r>
            <a:endParaRPr lang="en-US" sz="1200" dirty="0"/>
          </a:p>
        </p:txBody>
      </p:sp>
      <p:sp>
        <p:nvSpPr>
          <p:cNvPr id="8" name="Text 5"/>
          <p:cNvSpPr txBox="1"/>
          <p:nvPr/>
        </p:nvSpPr>
        <p:spPr>
          <a:xfrm>
            <a:off x="822960" y="2514600"/>
            <a:ext cx="3063240" cy="32004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chemeClr val="tx1"/>
                </a:solidFill>
              </a:rPr>
              <a:t>python:3.12-slim → deps into /opt/venv</a:t>
            </a:r>
            <a:endParaRPr lang="en-US" sz="1350" dirty="0"/>
          </a:p>
          <a:p>
            <a:pPr marL="342900" indent="-342900">
              <a:spcAft>
                <a:spcPts val="900"/>
              </a:spcAft>
              <a:buSzPct val="100000"/>
              <a:buChar char="•"/>
            </a:pPr>
            <a:r>
              <a:rPr lang="en-US" sz="1350" dirty="0">
                <a:solidFill>
                  <a:schemeClr val="tx1"/>
                </a:solidFill>
              </a:rPr>
              <a:t>clean runtime stage: apt upgrade, no pip</a:t>
            </a:r>
            <a:endParaRPr lang="en-US" sz="1350" dirty="0"/>
          </a:p>
          <a:p>
            <a:pPr marL="342900" indent="-342900">
              <a:spcAft>
                <a:spcPts val="900"/>
              </a:spcAft>
              <a:buSzPct val="100000"/>
              <a:buChar char="•"/>
            </a:pPr>
            <a:r>
              <a:rPr lang="en-US" sz="1350" dirty="0">
                <a:solidFill>
                  <a:schemeClr val="tx1"/>
                </a:solidFill>
              </a:rPr>
              <a:t>runs as appuser (uid 10001)</a:t>
            </a:r>
            <a:endParaRPr lang="en-US" sz="1350" dirty="0"/>
          </a:p>
          <a:p>
            <a:pPr marL="342900" indent="-342900">
              <a:spcAft>
                <a:spcPts val="900"/>
              </a:spcAft>
              <a:buSzPct val="100000"/>
              <a:buChar char="•"/>
            </a:pPr>
            <a:r>
              <a:rPr lang="en-US" sz="1350" dirty="0">
                <a:solidFill>
                  <a:schemeClr val="tx1"/>
                </a:solidFill>
              </a:rPr>
              <a:t>HEALTHCHECK on /health</a:t>
            </a:r>
            <a:endParaRPr lang="en-US" sz="1350" dirty="0"/>
          </a:p>
          <a:p>
            <a:pPr marL="342900" indent="-342900">
              <a:spcAft>
                <a:spcPts val="900"/>
              </a:spcAft>
              <a:buSzPct val="100000"/>
              <a:buChar char="•"/>
            </a:pPr>
            <a:r>
              <a:rPr lang="en-US" sz="1350" dirty="0">
                <a:solidFill>
                  <a:schemeClr val="tx1"/>
                </a:solidFill>
              </a:rPr>
              <a:t>alembic upgrade head → uvicorn</a:t>
            </a:r>
            <a:endParaRPr lang="en-US" sz="1350" dirty="0"/>
          </a:p>
        </p:txBody>
      </p:sp>
      <p:sp>
        <p:nvSpPr>
          <p:cNvPr id="9" name="image-card-1"/>
          <p:cNvSpPr/>
          <p:nvPr/>
        </p:nvSpPr>
        <p:spPr>
          <a:xfrm>
            <a:off x="4343400" y="1371600"/>
            <a:ext cx="3566160" cy="4526280"/>
          </a:xfrm>
          <a:prstGeom prst="roundRect">
            <a:avLst>
              <a:gd name="adj" fmla="val 3077"/>
            </a:avLst>
          </a:prstGeom>
          <a:solidFill>
            <a:schemeClr val="bg2"/>
          </a:solidFill>
          <a:ln w="12700">
            <a:solidFill>
              <a:schemeClr val="bg2"/>
            </a:solidFill>
            <a:prstDash val="solid"/>
          </a:ln>
        </p:spPr>
      </p:sp>
      <p:sp>
        <p:nvSpPr>
          <p:cNvPr id="10" name="image-badge-1-circle"/>
          <p:cNvSpPr/>
          <p:nvPr/>
        </p:nvSpPr>
        <p:spPr>
          <a:xfrm>
            <a:off x="4617720" y="1645920"/>
            <a:ext cx="594360" cy="594360"/>
          </a:xfrm>
          <a:prstGeom prst="ellipse">
            <a:avLst/>
          </a:prstGeom>
          <a:solidFill>
            <a:schemeClr val="tx1"/>
          </a:solidFill>
          <a:ln w="12700">
            <a:solidFill>
              <a:schemeClr val="tx1"/>
            </a:solidFill>
            <a:prstDash val="solid"/>
          </a:ln>
        </p:spPr>
      </p:sp>
      <p:pic>
        <p:nvPicPr>
          <p:cNvPr id="11" name="image-badge-1-icon" descr="preencoded.png">    </p:cNvPr>
          <p:cNvPicPr>
            <a:picLocks noChangeAspect="1"/>
          </p:cNvPicPr>
          <p:nvPr/>
        </p:nvPicPr>
        <p:blipFill>
          <a:blip r:embed="rId2"/>
          <a:stretch>
            <a:fillRect/>
          </a:stretch>
        </p:blipFill>
        <p:spPr>
          <a:xfrm>
            <a:off x="4766310" y="1794510"/>
            <a:ext cx="297180" cy="297180"/>
          </a:xfrm>
          <a:prstGeom prst="rect">
            <a:avLst/>
          </a:prstGeom>
        </p:spPr>
      </p:pic>
      <p:sp>
        <p:nvSpPr>
          <p:cNvPr id="12" name="Text 8"/>
          <p:cNvSpPr txBox="1"/>
          <p:nvPr/>
        </p:nvSpPr>
        <p:spPr>
          <a:xfrm>
            <a:off x="5349240" y="1664208"/>
            <a:ext cx="2377440" cy="320040"/>
          </a:xfrm>
          <a:prstGeom prst="rect">
            <a:avLst/>
          </a:prstGeom>
          <a:noFill/>
          <a:ln/>
        </p:spPr>
        <p:txBody>
          <a:bodyPr wrap="square" lIns="0" tIns="0" rIns="0" bIns="0" rtlCol="0" anchor="t"/>
          <a:lstStyle/>
          <a:p>
            <a:pPr indent="0" marL="0">
              <a:buNone/>
            </a:pPr>
            <a:r>
              <a:rPr lang="en-US" sz="1800" b="1" dirty="0">
                <a:solidFill>
                  <a:schemeClr val="tx1"/>
                </a:solidFill>
              </a:rPr>
              <a:t>frontend image</a:t>
            </a:r>
            <a:endParaRPr lang="en-US" sz="1800" dirty="0"/>
          </a:p>
        </p:txBody>
      </p:sp>
      <p:sp>
        <p:nvSpPr>
          <p:cNvPr id="13" name="Text 9"/>
          <p:cNvSpPr txBox="1"/>
          <p:nvPr/>
        </p:nvSpPr>
        <p:spPr>
          <a:xfrm>
            <a:off x="5349240" y="1993392"/>
            <a:ext cx="2377440" cy="274320"/>
          </a:xfrm>
          <a:prstGeom prst="rect">
            <a:avLst/>
          </a:prstGeom>
          <a:noFill/>
          <a:ln/>
        </p:spPr>
        <p:txBody>
          <a:bodyPr wrap="square" lIns="0" tIns="0" rIns="0" bIns="0" rtlCol="0" anchor="t"/>
          <a:lstStyle/>
          <a:p>
            <a:pPr indent="0" marL="0">
              <a:buNone/>
            </a:pPr>
            <a:r>
              <a:rPr lang="en-US" sz="1200" b="1" dirty="0">
                <a:solidFill>
                  <a:schemeClr val="accent1"/>
                </a:solidFill>
              </a:rPr>
              <a:t>112 MB</a:t>
            </a:r>
            <a:endParaRPr lang="en-US" sz="1200" dirty="0"/>
          </a:p>
        </p:txBody>
      </p:sp>
      <p:sp>
        <p:nvSpPr>
          <p:cNvPr id="14" name="Text 10"/>
          <p:cNvSpPr txBox="1"/>
          <p:nvPr/>
        </p:nvSpPr>
        <p:spPr>
          <a:xfrm>
            <a:off x="4617720" y="2514600"/>
            <a:ext cx="3063240" cy="32004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chemeClr val="tx1"/>
                </a:solidFill>
              </a:rPr>
              <a:t>node:22-alpine → npm ci &amp;&amp; vite build</a:t>
            </a:r>
            <a:endParaRPr lang="en-US" sz="1350" dirty="0"/>
          </a:p>
          <a:p>
            <a:pPr marL="342900" indent="-342900">
              <a:spcAft>
                <a:spcPts val="900"/>
              </a:spcAft>
              <a:buSzPct val="100000"/>
              <a:buChar char="•"/>
            </a:pPr>
            <a:r>
              <a:rPr lang="en-US" sz="1350" dirty="0">
                <a:solidFill>
                  <a:schemeClr val="tx1"/>
                </a:solidFill>
              </a:rPr>
              <a:t>nginx-unprivileged:1.29-alpine runtime</a:t>
            </a:r>
            <a:endParaRPr lang="en-US" sz="1350" dirty="0"/>
          </a:p>
          <a:p>
            <a:pPr marL="342900" indent="-342900">
              <a:spcAft>
                <a:spcPts val="900"/>
              </a:spcAft>
              <a:buSzPct val="100000"/>
              <a:buChar char="•"/>
            </a:pPr>
            <a:r>
              <a:rPr lang="en-US" sz="1350" dirty="0">
                <a:solidFill>
                  <a:schemeClr val="tx1"/>
                </a:solidFill>
              </a:rPr>
              <a:t>runs as nginx (uid 101) on :8080</a:t>
            </a:r>
            <a:endParaRPr lang="en-US" sz="1350" dirty="0"/>
          </a:p>
          <a:p>
            <a:pPr marL="342900" indent="-342900">
              <a:spcAft>
                <a:spcPts val="900"/>
              </a:spcAft>
              <a:buSzPct val="100000"/>
              <a:buChar char="•"/>
            </a:pPr>
            <a:r>
              <a:rPr lang="en-US" sz="1350" dirty="0">
                <a:solidFill>
                  <a:schemeClr val="tx1"/>
                </a:solidFill>
              </a:rPr>
              <a:t>BACKEND_URL rendered by envsubst</a:t>
            </a:r>
            <a:endParaRPr lang="en-US" sz="1350" dirty="0"/>
          </a:p>
          <a:p>
            <a:pPr marL="342900" indent="-342900">
              <a:spcAft>
                <a:spcPts val="900"/>
              </a:spcAft>
              <a:buSzPct val="100000"/>
              <a:buChar char="•"/>
            </a:pPr>
            <a:r>
              <a:rPr lang="en-US" sz="1350" dirty="0">
                <a:solidFill>
                  <a:schemeClr val="tx1"/>
                </a:solidFill>
              </a:rPr>
              <a:t>SPA fallback + /api reverse proxy</a:t>
            </a:r>
            <a:endParaRPr lang="en-US" sz="1350" dirty="0"/>
          </a:p>
        </p:txBody>
      </p:sp>
      <p:sp>
        <p:nvSpPr>
          <p:cNvPr id="15" name="Text 11"/>
          <p:cNvSpPr txBox="1"/>
          <p:nvPr/>
        </p:nvSpPr>
        <p:spPr>
          <a:xfrm>
            <a:off x="8275320" y="1417320"/>
            <a:ext cx="3383280"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docker compose up --build</a:t>
            </a:r>
            <a:endParaRPr lang="en-US" sz="1500" dirty="0"/>
          </a:p>
        </p:txBody>
      </p:sp>
      <p:sp>
        <p:nvSpPr>
          <p:cNvPr id="16" name="compose-badge-0-circle"/>
          <p:cNvSpPr/>
          <p:nvPr/>
        </p:nvSpPr>
        <p:spPr>
          <a:xfrm>
            <a:off x="8275320" y="2057400"/>
            <a:ext cx="548640" cy="548640"/>
          </a:xfrm>
          <a:prstGeom prst="ellipse">
            <a:avLst/>
          </a:prstGeom>
          <a:solidFill>
            <a:schemeClr val="accent1"/>
          </a:solidFill>
          <a:ln w="12700">
            <a:solidFill>
              <a:schemeClr val="accent1"/>
            </a:solidFill>
            <a:prstDash val="solid"/>
          </a:ln>
        </p:spPr>
      </p:sp>
      <p:pic>
        <p:nvPicPr>
          <p:cNvPr id="17" name="compose-badge-0-icon" descr="preencoded.png">    </p:cNvPr>
          <p:cNvPicPr>
            <a:picLocks noChangeAspect="1"/>
          </p:cNvPicPr>
          <p:nvPr/>
        </p:nvPicPr>
        <p:blipFill>
          <a:blip r:embed="rId3"/>
          <a:stretch>
            <a:fillRect/>
          </a:stretch>
        </p:blipFill>
        <p:spPr>
          <a:xfrm>
            <a:off x="8412480" y="2194560"/>
            <a:ext cx="274320" cy="274320"/>
          </a:xfrm>
          <a:prstGeom prst="rect">
            <a:avLst/>
          </a:prstGeom>
        </p:spPr>
      </p:pic>
      <p:sp>
        <p:nvSpPr>
          <p:cNvPr id="18" name="Text 13"/>
          <p:cNvSpPr txBox="1"/>
          <p:nvPr/>
        </p:nvSpPr>
        <p:spPr>
          <a:xfrm>
            <a:off x="9006840" y="2057400"/>
            <a:ext cx="2651760" cy="274320"/>
          </a:xfrm>
          <a:prstGeom prst="rect">
            <a:avLst/>
          </a:prstGeom>
          <a:noFill/>
          <a:ln/>
        </p:spPr>
        <p:txBody>
          <a:bodyPr wrap="square" lIns="0" tIns="0" rIns="0" bIns="0" rtlCol="0" anchor="t"/>
          <a:lstStyle/>
          <a:p>
            <a:pPr indent="0" marL="0">
              <a:buNone/>
            </a:pPr>
            <a:r>
              <a:rPr lang="en-US" sz="1500" b="1" dirty="0">
                <a:solidFill>
                  <a:schemeClr val="tx1"/>
                </a:solidFill>
              </a:rPr>
              <a:t>postgres</a:t>
            </a:r>
            <a:endParaRPr lang="en-US" sz="1500" dirty="0"/>
          </a:p>
        </p:txBody>
      </p:sp>
      <p:sp>
        <p:nvSpPr>
          <p:cNvPr id="19" name="Text 14"/>
          <p:cNvSpPr txBox="1"/>
          <p:nvPr/>
        </p:nvSpPr>
        <p:spPr>
          <a:xfrm>
            <a:off x="9006840" y="2350008"/>
            <a:ext cx="2651760" cy="274320"/>
          </a:xfrm>
          <a:prstGeom prst="rect">
            <a:avLst/>
          </a:prstGeom>
          <a:noFill/>
          <a:ln/>
        </p:spPr>
        <p:txBody>
          <a:bodyPr wrap="square" lIns="0" tIns="0" rIns="0" bIns="0" rtlCol="0" anchor="t"/>
          <a:lstStyle/>
          <a:p>
            <a:pPr indent="0" marL="0">
              <a:buNone/>
            </a:pPr>
            <a:r>
              <a:rPr lang="en-US" sz="1200" dirty="0">
                <a:solidFill>
                  <a:schemeClr val="tx2"/>
                </a:solidFill>
              </a:rPr>
              <a:t>pg_isready → healthy</a:t>
            </a:r>
            <a:endParaRPr lang="en-US" sz="1200" dirty="0"/>
          </a:p>
        </p:txBody>
      </p:sp>
      <p:sp>
        <p:nvSpPr>
          <p:cNvPr id="20" name="compose-arrow-0"/>
          <p:cNvSpPr/>
          <p:nvPr/>
        </p:nvSpPr>
        <p:spPr>
          <a:xfrm>
            <a:off x="8549640" y="2651760"/>
            <a:ext cx="0" cy="594360"/>
          </a:xfrm>
          <a:prstGeom prst="line">
            <a:avLst/>
          </a:prstGeom>
          <a:noFill/>
          <a:ln w="22225">
            <a:solidFill>
              <a:schemeClr val="accent6"/>
            </a:solidFill>
            <a:prstDash val="solid"/>
            <a:tailEnd type="triangle"/>
          </a:ln>
        </p:spPr>
      </p:sp>
      <p:sp>
        <p:nvSpPr>
          <p:cNvPr id="21" name="compose-badge-1-circle"/>
          <p:cNvSpPr/>
          <p:nvPr/>
        </p:nvSpPr>
        <p:spPr>
          <a:xfrm>
            <a:off x="8275320" y="3291840"/>
            <a:ext cx="548640" cy="548640"/>
          </a:xfrm>
          <a:prstGeom prst="ellipse">
            <a:avLst/>
          </a:prstGeom>
          <a:solidFill>
            <a:schemeClr val="accent1"/>
          </a:solidFill>
          <a:ln w="12700">
            <a:solidFill>
              <a:schemeClr val="accent1"/>
            </a:solidFill>
            <a:prstDash val="solid"/>
          </a:ln>
        </p:spPr>
      </p:sp>
      <p:pic>
        <p:nvPicPr>
          <p:cNvPr id="22" name="compose-badge-1-icon" descr="preencoded.png">    </p:cNvPr>
          <p:cNvPicPr>
            <a:picLocks noChangeAspect="1"/>
          </p:cNvPicPr>
          <p:nvPr/>
        </p:nvPicPr>
        <p:blipFill>
          <a:blip r:embed="rId4"/>
          <a:stretch>
            <a:fillRect/>
          </a:stretch>
        </p:blipFill>
        <p:spPr>
          <a:xfrm>
            <a:off x="8412480" y="3429000"/>
            <a:ext cx="274320" cy="274320"/>
          </a:xfrm>
          <a:prstGeom prst="rect">
            <a:avLst/>
          </a:prstGeom>
        </p:spPr>
      </p:pic>
      <p:sp>
        <p:nvSpPr>
          <p:cNvPr id="23" name="Text 17"/>
          <p:cNvSpPr txBox="1"/>
          <p:nvPr/>
        </p:nvSpPr>
        <p:spPr>
          <a:xfrm>
            <a:off x="9006840" y="3291840"/>
            <a:ext cx="2651760" cy="274320"/>
          </a:xfrm>
          <a:prstGeom prst="rect">
            <a:avLst/>
          </a:prstGeom>
          <a:noFill/>
          <a:ln/>
        </p:spPr>
        <p:txBody>
          <a:bodyPr wrap="square" lIns="0" tIns="0" rIns="0" bIns="0" rtlCol="0" anchor="t"/>
          <a:lstStyle/>
          <a:p>
            <a:pPr indent="0" marL="0">
              <a:buNone/>
            </a:pPr>
            <a:r>
              <a:rPr lang="en-US" sz="1500" b="1" dirty="0">
                <a:solidFill>
                  <a:schemeClr val="tx1"/>
                </a:solidFill>
              </a:rPr>
              <a:t>backend</a:t>
            </a:r>
            <a:endParaRPr lang="en-US" sz="1500" dirty="0"/>
          </a:p>
        </p:txBody>
      </p:sp>
      <p:sp>
        <p:nvSpPr>
          <p:cNvPr id="24" name="Text 18"/>
          <p:cNvSpPr txBox="1"/>
          <p:nvPr/>
        </p:nvSpPr>
        <p:spPr>
          <a:xfrm>
            <a:off x="9006840" y="3584448"/>
            <a:ext cx="2651760" cy="274320"/>
          </a:xfrm>
          <a:prstGeom prst="rect">
            <a:avLst/>
          </a:prstGeom>
          <a:noFill/>
          <a:ln/>
        </p:spPr>
        <p:txBody>
          <a:bodyPr wrap="square" lIns="0" tIns="0" rIns="0" bIns="0" rtlCol="0" anchor="t"/>
          <a:lstStyle/>
          <a:p>
            <a:pPr indent="0" marL="0">
              <a:buNone/>
            </a:pPr>
            <a:r>
              <a:rPr lang="en-US" sz="1200" dirty="0">
                <a:solidFill>
                  <a:schemeClr val="tx2"/>
                </a:solidFill>
              </a:rPr>
              <a:t>migrations + /health → healthy</a:t>
            </a:r>
            <a:endParaRPr lang="en-US" sz="1200" dirty="0"/>
          </a:p>
        </p:txBody>
      </p:sp>
      <p:sp>
        <p:nvSpPr>
          <p:cNvPr id="25" name="compose-arrow-1"/>
          <p:cNvSpPr/>
          <p:nvPr/>
        </p:nvSpPr>
        <p:spPr>
          <a:xfrm>
            <a:off x="8549640" y="3886200"/>
            <a:ext cx="0" cy="594360"/>
          </a:xfrm>
          <a:prstGeom prst="line">
            <a:avLst/>
          </a:prstGeom>
          <a:noFill/>
          <a:ln w="22225">
            <a:solidFill>
              <a:schemeClr val="accent6"/>
            </a:solidFill>
            <a:prstDash val="solid"/>
            <a:tailEnd type="triangle"/>
          </a:ln>
        </p:spPr>
      </p:sp>
      <p:sp>
        <p:nvSpPr>
          <p:cNvPr id="26" name="compose-badge-2-circle"/>
          <p:cNvSpPr/>
          <p:nvPr/>
        </p:nvSpPr>
        <p:spPr>
          <a:xfrm>
            <a:off x="8275320" y="4526280"/>
            <a:ext cx="548640" cy="548640"/>
          </a:xfrm>
          <a:prstGeom prst="ellipse">
            <a:avLst/>
          </a:prstGeom>
          <a:solidFill>
            <a:schemeClr val="accent1"/>
          </a:solidFill>
          <a:ln w="12700">
            <a:solidFill>
              <a:schemeClr val="accent1"/>
            </a:solidFill>
            <a:prstDash val="solid"/>
          </a:ln>
        </p:spPr>
      </p:sp>
      <p:pic>
        <p:nvPicPr>
          <p:cNvPr id="27" name="compose-badge-2-icon" descr="preencoded.png">    </p:cNvPr>
          <p:cNvPicPr>
            <a:picLocks noChangeAspect="1"/>
          </p:cNvPicPr>
          <p:nvPr/>
        </p:nvPicPr>
        <p:blipFill>
          <a:blip r:embed="rId5"/>
          <a:stretch>
            <a:fillRect/>
          </a:stretch>
        </p:blipFill>
        <p:spPr>
          <a:xfrm>
            <a:off x="8412480" y="4663440"/>
            <a:ext cx="274320" cy="274320"/>
          </a:xfrm>
          <a:prstGeom prst="rect">
            <a:avLst/>
          </a:prstGeom>
        </p:spPr>
      </p:pic>
      <p:sp>
        <p:nvSpPr>
          <p:cNvPr id="28" name="Text 21"/>
          <p:cNvSpPr txBox="1"/>
          <p:nvPr/>
        </p:nvSpPr>
        <p:spPr>
          <a:xfrm>
            <a:off x="9006840" y="4526280"/>
            <a:ext cx="2651760" cy="274320"/>
          </a:xfrm>
          <a:prstGeom prst="rect">
            <a:avLst/>
          </a:prstGeom>
          <a:noFill/>
          <a:ln/>
        </p:spPr>
        <p:txBody>
          <a:bodyPr wrap="square" lIns="0" tIns="0" rIns="0" bIns="0" rtlCol="0" anchor="t"/>
          <a:lstStyle/>
          <a:p>
            <a:pPr indent="0" marL="0">
              <a:buNone/>
            </a:pPr>
            <a:r>
              <a:rPr lang="en-US" sz="1500" b="1" dirty="0">
                <a:solidFill>
                  <a:schemeClr val="tx1"/>
                </a:solidFill>
              </a:rPr>
              <a:t>frontend</a:t>
            </a:r>
            <a:endParaRPr lang="en-US" sz="1500" dirty="0"/>
          </a:p>
        </p:txBody>
      </p:sp>
      <p:sp>
        <p:nvSpPr>
          <p:cNvPr id="29" name="Text 22"/>
          <p:cNvSpPr txBox="1"/>
          <p:nvPr/>
        </p:nvSpPr>
        <p:spPr>
          <a:xfrm>
            <a:off x="9006840" y="4818888"/>
            <a:ext cx="2651760" cy="274320"/>
          </a:xfrm>
          <a:prstGeom prst="rect">
            <a:avLst/>
          </a:prstGeom>
          <a:noFill/>
          <a:ln/>
        </p:spPr>
        <p:txBody>
          <a:bodyPr wrap="square" lIns="0" tIns="0" rIns="0" bIns="0" rtlCol="0" anchor="t"/>
          <a:lstStyle/>
          <a:p>
            <a:pPr indent="0" marL="0">
              <a:buNone/>
            </a:pPr>
            <a:r>
              <a:rPr lang="en-US" sz="1200" dirty="0">
                <a:solidFill>
                  <a:schemeClr val="tx2"/>
                </a:solidFill>
              </a:rPr>
              <a:t>Nginx :8080 → healthy</a:t>
            </a:r>
            <a:endParaRPr lang="en-US" sz="1200" dirty="0"/>
          </a:p>
        </p:txBody>
      </p:sp>
      <p:sp>
        <p:nvSpPr>
          <p:cNvPr id="30" name="Text 23"/>
          <p:cNvSpPr txBox="1"/>
          <p:nvPr/>
        </p:nvSpPr>
        <p:spPr>
          <a:xfrm>
            <a:off x="8275320" y="5486400"/>
            <a:ext cx="3383280" cy="457200"/>
          </a:xfrm>
          <a:prstGeom prst="rect">
            <a:avLst/>
          </a:prstGeom>
          <a:noFill/>
          <a:ln/>
        </p:spPr>
        <p:txBody>
          <a:bodyPr wrap="square" lIns="0" tIns="0" rIns="0" bIns="0" rtlCol="0" anchor="t"/>
          <a:lstStyle/>
          <a:p>
            <a:pPr indent="0" marL="0">
              <a:buNone/>
            </a:pPr>
            <a:r>
              <a:rPr lang="en-US" sz="1200" i="1" dirty="0">
                <a:solidFill>
                  <a:schemeClr val="tx2"/>
                </a:solidFill>
              </a:rPr>
              <a:t>depends_on: condition: service_healthy — no start-up races</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Terraform: VPC + EKS as code</a:t>
            </a:r>
            <a:endParaRPr lang="en-US" sz="3400" dirty="0"/>
          </a:p>
        </p:txBody>
      </p:sp>
      <p:sp>
        <p:nvSpPr>
          <p:cNvPr id="3" name="vpc"/>
          <p:cNvSpPr/>
          <p:nvPr/>
        </p:nvSpPr>
        <p:spPr>
          <a:xfrm>
            <a:off x="548640" y="1371600"/>
            <a:ext cx="6766560" cy="4526280"/>
          </a:xfrm>
          <a:prstGeom prst="roundRect">
            <a:avLst>
              <a:gd name="adj" fmla="val 2424"/>
            </a:avLst>
          </a:prstGeom>
          <a:solidFill>
            <a:schemeClr val="bg2"/>
          </a:solidFill>
          <a:ln w="12700">
            <a:solidFill>
              <a:schemeClr val="accent6"/>
            </a:solidFill>
            <a:prstDash val="solid"/>
          </a:ln>
        </p:spPr>
      </p:sp>
      <p:sp>
        <p:nvSpPr>
          <p:cNvPr id="4" name="Text 2"/>
          <p:cNvSpPr txBox="1"/>
          <p:nvPr/>
        </p:nvSpPr>
        <p:spPr>
          <a:xfrm>
            <a:off x="777240" y="1508760"/>
            <a:ext cx="4572000" cy="320040"/>
          </a:xfrm>
          <a:prstGeom prst="rect">
            <a:avLst/>
          </a:prstGeom>
          <a:noFill/>
          <a:ln/>
        </p:spPr>
        <p:txBody>
          <a:bodyPr wrap="square" lIns="0" tIns="0" rIns="0" bIns="0" rtlCol="0" anchor="t"/>
          <a:lstStyle/>
          <a:p>
            <a:pPr indent="0" marL="0">
              <a:buNone/>
            </a:pPr>
            <a:r>
              <a:rPr lang="en-US" sz="1400" b="1" dirty="0">
                <a:solidFill>
                  <a:schemeClr val="tx1"/>
                </a:solidFill>
              </a:rPr>
              <a:t>VPC 10.20.0.0/16 · ap-south-1</a:t>
            </a:r>
            <a:endParaRPr lang="en-US" sz="1400" dirty="0"/>
          </a:p>
        </p:txBody>
      </p:sp>
      <p:sp>
        <p:nvSpPr>
          <p:cNvPr id="5" name="az-0"/>
          <p:cNvSpPr/>
          <p:nvPr/>
        </p:nvSpPr>
        <p:spPr>
          <a:xfrm>
            <a:off x="777240" y="1965960"/>
            <a:ext cx="3017520" cy="2926080"/>
          </a:xfrm>
          <a:prstGeom prst="roundRect">
            <a:avLst>
              <a:gd name="adj" fmla="val 2500"/>
            </a:avLst>
          </a:prstGeom>
          <a:solidFill>
            <a:schemeClr val="bg1"/>
          </a:solidFill>
          <a:ln w="9525">
            <a:solidFill>
              <a:schemeClr val="accent6"/>
            </a:solidFill>
            <a:prstDash val="dash"/>
          </a:ln>
        </p:spPr>
      </p:sp>
      <p:sp>
        <p:nvSpPr>
          <p:cNvPr id="6" name="Text 4"/>
          <p:cNvSpPr txBox="1"/>
          <p:nvPr/>
        </p:nvSpPr>
        <p:spPr>
          <a:xfrm>
            <a:off x="914400" y="2057400"/>
            <a:ext cx="2286000" cy="274320"/>
          </a:xfrm>
          <a:prstGeom prst="rect">
            <a:avLst/>
          </a:prstGeom>
          <a:noFill/>
          <a:ln/>
        </p:spPr>
        <p:txBody>
          <a:bodyPr wrap="square" lIns="0" tIns="0" rIns="0" bIns="0" rtlCol="0" anchor="t"/>
          <a:lstStyle/>
          <a:p>
            <a:pPr indent="0" marL="0">
              <a:buNone/>
            </a:pPr>
            <a:r>
              <a:rPr lang="en-US" sz="1100" b="1" dirty="0">
                <a:solidFill>
                  <a:schemeClr val="tx2"/>
                </a:solidFill>
              </a:rPr>
              <a:t>ap-south-1a</a:t>
            </a:r>
            <a:endParaRPr lang="en-US" sz="1100" dirty="0"/>
          </a:p>
        </p:txBody>
      </p:sp>
      <p:sp>
        <p:nvSpPr>
          <p:cNvPr id="7" name="public-0"/>
          <p:cNvSpPr/>
          <p:nvPr/>
        </p:nvSpPr>
        <p:spPr>
          <a:xfrm>
            <a:off x="914400" y="2423160"/>
            <a:ext cx="2743200" cy="914400"/>
          </a:xfrm>
          <a:prstGeom prst="roundRect">
            <a:avLst>
              <a:gd name="adj" fmla="val 6000"/>
            </a:avLst>
          </a:prstGeom>
          <a:solidFill>
            <a:schemeClr val="accent1"/>
          </a:solidFill>
          <a:ln w="12700">
            <a:solidFill>
              <a:schemeClr val="accent1"/>
            </a:solidFill>
            <a:prstDash val="solid"/>
          </a:ln>
        </p:spPr>
      </p:sp>
      <p:sp>
        <p:nvSpPr>
          <p:cNvPr id="8" name="Text 6"/>
          <p:cNvSpPr txBox="1"/>
          <p:nvPr/>
        </p:nvSpPr>
        <p:spPr>
          <a:xfrm>
            <a:off x="1051560" y="2514600"/>
            <a:ext cx="2468880" cy="731520"/>
          </a:xfrm>
          <a:prstGeom prst="rect">
            <a:avLst/>
          </a:prstGeom>
          <a:noFill/>
          <a:ln/>
        </p:spPr>
        <p:txBody>
          <a:bodyPr wrap="square" lIns="0" tIns="0" rIns="0" bIns="0" rtlCol="0" anchor="t"/>
          <a:lstStyle/>
          <a:p>
            <a:pPr indent="0" marL="0">
              <a:buNone/>
            </a:pPr>
            <a:r>
              <a:rPr lang="en-US" sz="1150" b="1" dirty="0">
                <a:solidFill>
                  <a:schemeClr val="bg1"/>
                </a:solidFill>
              </a:rPr>
              <a:t>public 10.20.101.0/24</a:t>
            </a:r>
            <a:endParaRPr lang="en-US" sz="1150" dirty="0"/>
          </a:p>
          <a:p>
            <a:pPr indent="0" marL="0">
              <a:buNone/>
            </a:pPr>
            <a:r>
              <a:rPr lang="en-US" sz="1150" dirty="0">
                <a:solidFill>
                  <a:schemeClr val="bg1"/>
                </a:solidFill>
              </a:rPr>
              <a:t>NAT gateway · load balancer</a:t>
            </a:r>
            <a:endParaRPr lang="en-US" sz="1150" dirty="0"/>
          </a:p>
        </p:txBody>
      </p:sp>
      <p:sp>
        <p:nvSpPr>
          <p:cNvPr id="9" name="private-0"/>
          <p:cNvSpPr/>
          <p:nvPr/>
        </p:nvSpPr>
        <p:spPr>
          <a:xfrm>
            <a:off x="914400" y="3520440"/>
            <a:ext cx="2743200" cy="1188720"/>
          </a:xfrm>
          <a:prstGeom prst="roundRect">
            <a:avLst>
              <a:gd name="adj" fmla="val 4615"/>
            </a:avLst>
          </a:prstGeom>
          <a:solidFill>
            <a:schemeClr val="tx1"/>
          </a:solidFill>
          <a:ln w="12700">
            <a:solidFill>
              <a:schemeClr val="tx1"/>
            </a:solidFill>
            <a:prstDash val="solid"/>
          </a:ln>
        </p:spPr>
      </p:sp>
      <p:sp>
        <p:nvSpPr>
          <p:cNvPr id="10" name="Text 8"/>
          <p:cNvSpPr txBox="1"/>
          <p:nvPr/>
        </p:nvSpPr>
        <p:spPr>
          <a:xfrm>
            <a:off x="1051560" y="3611880"/>
            <a:ext cx="2468880" cy="1005840"/>
          </a:xfrm>
          <a:prstGeom prst="rect">
            <a:avLst/>
          </a:prstGeom>
          <a:noFill/>
          <a:ln/>
        </p:spPr>
        <p:txBody>
          <a:bodyPr wrap="square" lIns="0" tIns="0" rIns="0" bIns="0" rtlCol="0" anchor="t"/>
          <a:lstStyle/>
          <a:p>
            <a:pPr indent="0" marL="0">
              <a:buNone/>
            </a:pPr>
            <a:r>
              <a:rPr lang="en-US" sz="1150" b="1" dirty="0">
                <a:solidFill>
                  <a:schemeClr val="bg1"/>
                </a:solidFill>
              </a:rPr>
              <a:t>private 10.20.1.0/24</a:t>
            </a:r>
            <a:endParaRPr lang="en-US" sz="1150" dirty="0"/>
          </a:p>
          <a:p>
            <a:pPr indent="0" marL="0">
              <a:buNone/>
            </a:pPr>
            <a:r>
              <a:rPr lang="en-US" sz="1150" dirty="0">
                <a:solidFill>
                  <a:schemeClr val="bg1"/>
                </a:solidFill>
              </a:rPr>
              <a:t>EKS worker node (t3.medium, AL2023)</a:t>
            </a:r>
            <a:endParaRPr lang="en-US" sz="1150" dirty="0"/>
          </a:p>
        </p:txBody>
      </p:sp>
      <p:sp>
        <p:nvSpPr>
          <p:cNvPr id="11" name="az-1"/>
          <p:cNvSpPr/>
          <p:nvPr/>
        </p:nvSpPr>
        <p:spPr>
          <a:xfrm>
            <a:off x="4069080" y="1965960"/>
            <a:ext cx="3017520" cy="2926080"/>
          </a:xfrm>
          <a:prstGeom prst="roundRect">
            <a:avLst>
              <a:gd name="adj" fmla="val 2500"/>
            </a:avLst>
          </a:prstGeom>
          <a:solidFill>
            <a:schemeClr val="bg1"/>
          </a:solidFill>
          <a:ln w="9525">
            <a:solidFill>
              <a:schemeClr val="accent6"/>
            </a:solidFill>
            <a:prstDash val="dash"/>
          </a:ln>
        </p:spPr>
      </p:sp>
      <p:sp>
        <p:nvSpPr>
          <p:cNvPr id="12" name="Text 10"/>
          <p:cNvSpPr txBox="1"/>
          <p:nvPr/>
        </p:nvSpPr>
        <p:spPr>
          <a:xfrm>
            <a:off x="4206240" y="2057400"/>
            <a:ext cx="2286000" cy="274320"/>
          </a:xfrm>
          <a:prstGeom prst="rect">
            <a:avLst/>
          </a:prstGeom>
          <a:noFill/>
          <a:ln/>
        </p:spPr>
        <p:txBody>
          <a:bodyPr wrap="square" lIns="0" tIns="0" rIns="0" bIns="0" rtlCol="0" anchor="t"/>
          <a:lstStyle/>
          <a:p>
            <a:pPr indent="0" marL="0">
              <a:buNone/>
            </a:pPr>
            <a:r>
              <a:rPr lang="en-US" sz="1100" b="1" dirty="0">
                <a:solidFill>
                  <a:schemeClr val="tx2"/>
                </a:solidFill>
              </a:rPr>
              <a:t>ap-south-1b</a:t>
            </a:r>
            <a:endParaRPr lang="en-US" sz="1100" dirty="0"/>
          </a:p>
        </p:txBody>
      </p:sp>
      <p:sp>
        <p:nvSpPr>
          <p:cNvPr id="13" name="public-1"/>
          <p:cNvSpPr/>
          <p:nvPr/>
        </p:nvSpPr>
        <p:spPr>
          <a:xfrm>
            <a:off x="4206240" y="2423160"/>
            <a:ext cx="2743200" cy="914400"/>
          </a:xfrm>
          <a:prstGeom prst="roundRect">
            <a:avLst>
              <a:gd name="adj" fmla="val 6000"/>
            </a:avLst>
          </a:prstGeom>
          <a:solidFill>
            <a:schemeClr val="accent1"/>
          </a:solidFill>
          <a:ln w="12700">
            <a:solidFill>
              <a:schemeClr val="accent1"/>
            </a:solidFill>
            <a:prstDash val="solid"/>
          </a:ln>
        </p:spPr>
      </p:sp>
      <p:sp>
        <p:nvSpPr>
          <p:cNvPr id="14" name="Text 12"/>
          <p:cNvSpPr txBox="1"/>
          <p:nvPr/>
        </p:nvSpPr>
        <p:spPr>
          <a:xfrm>
            <a:off x="4343400" y="2514600"/>
            <a:ext cx="2468880" cy="731520"/>
          </a:xfrm>
          <a:prstGeom prst="rect">
            <a:avLst/>
          </a:prstGeom>
          <a:noFill/>
          <a:ln/>
        </p:spPr>
        <p:txBody>
          <a:bodyPr wrap="square" lIns="0" tIns="0" rIns="0" bIns="0" rtlCol="0" anchor="t"/>
          <a:lstStyle/>
          <a:p>
            <a:pPr indent="0" marL="0">
              <a:buNone/>
            </a:pPr>
            <a:r>
              <a:rPr lang="en-US" sz="1150" b="1" dirty="0">
                <a:solidFill>
                  <a:schemeClr val="bg1"/>
                </a:solidFill>
              </a:rPr>
              <a:t>public 10.20.102.0/24</a:t>
            </a:r>
            <a:endParaRPr lang="en-US" sz="1150" dirty="0"/>
          </a:p>
          <a:p>
            <a:pPr indent="0" marL="0">
              <a:buNone/>
            </a:pPr>
            <a:r>
              <a:rPr lang="en-US" sz="1150" dirty="0">
                <a:solidFill>
                  <a:schemeClr val="bg1"/>
                </a:solidFill>
              </a:rPr>
              <a:t>load balancer</a:t>
            </a:r>
            <a:endParaRPr lang="en-US" sz="1150" dirty="0"/>
          </a:p>
        </p:txBody>
      </p:sp>
      <p:sp>
        <p:nvSpPr>
          <p:cNvPr id="15" name="private-1"/>
          <p:cNvSpPr/>
          <p:nvPr/>
        </p:nvSpPr>
        <p:spPr>
          <a:xfrm>
            <a:off x="4206240" y="3520440"/>
            <a:ext cx="2743200" cy="1188720"/>
          </a:xfrm>
          <a:prstGeom prst="roundRect">
            <a:avLst>
              <a:gd name="adj" fmla="val 4615"/>
            </a:avLst>
          </a:prstGeom>
          <a:solidFill>
            <a:schemeClr val="tx1"/>
          </a:solidFill>
          <a:ln w="12700">
            <a:solidFill>
              <a:schemeClr val="tx1"/>
            </a:solidFill>
            <a:prstDash val="solid"/>
          </a:ln>
        </p:spPr>
      </p:sp>
      <p:sp>
        <p:nvSpPr>
          <p:cNvPr id="16" name="Text 14"/>
          <p:cNvSpPr txBox="1"/>
          <p:nvPr/>
        </p:nvSpPr>
        <p:spPr>
          <a:xfrm>
            <a:off x="4343400" y="3611880"/>
            <a:ext cx="2468880" cy="1005840"/>
          </a:xfrm>
          <a:prstGeom prst="rect">
            <a:avLst/>
          </a:prstGeom>
          <a:noFill/>
          <a:ln/>
        </p:spPr>
        <p:txBody>
          <a:bodyPr wrap="square" lIns="0" tIns="0" rIns="0" bIns="0" rtlCol="0" anchor="t"/>
          <a:lstStyle/>
          <a:p>
            <a:pPr indent="0" marL="0">
              <a:buNone/>
            </a:pPr>
            <a:r>
              <a:rPr lang="en-US" sz="1150" b="1" dirty="0">
                <a:solidFill>
                  <a:schemeClr val="bg1"/>
                </a:solidFill>
              </a:rPr>
              <a:t>private 10.20.2.0/24</a:t>
            </a:r>
            <a:endParaRPr lang="en-US" sz="1150" dirty="0"/>
          </a:p>
          <a:p>
            <a:pPr indent="0" marL="0">
              <a:buNone/>
            </a:pPr>
            <a:r>
              <a:rPr lang="en-US" sz="1150" dirty="0">
                <a:solidFill>
                  <a:schemeClr val="bg1"/>
                </a:solidFill>
              </a:rPr>
              <a:t>EKS worker node (t3.medium, AL2023)</a:t>
            </a:r>
            <a:endParaRPr lang="en-US" sz="1150" dirty="0"/>
          </a:p>
        </p:txBody>
      </p:sp>
      <p:sp>
        <p:nvSpPr>
          <p:cNvPr id="17" name="eks-bar"/>
          <p:cNvSpPr/>
          <p:nvPr/>
        </p:nvSpPr>
        <p:spPr>
          <a:xfrm>
            <a:off x="777240" y="5029200"/>
            <a:ext cx="6309360" cy="685800"/>
          </a:xfrm>
          <a:prstGeom prst="roundRect">
            <a:avLst>
              <a:gd name="adj" fmla="val 10667"/>
            </a:avLst>
          </a:prstGeom>
          <a:solidFill>
            <a:schemeClr val="accent3"/>
          </a:solidFill>
          <a:ln w="12700">
            <a:solidFill>
              <a:schemeClr val="accent3"/>
            </a:solidFill>
            <a:prstDash val="solid"/>
          </a:ln>
        </p:spPr>
      </p:sp>
      <p:sp>
        <p:nvSpPr>
          <p:cNvPr id="18" name="Text 16"/>
          <p:cNvSpPr txBox="1"/>
          <p:nvPr/>
        </p:nvSpPr>
        <p:spPr>
          <a:xfrm>
            <a:off x="960120" y="5029200"/>
            <a:ext cx="5943600" cy="685800"/>
          </a:xfrm>
          <a:prstGeom prst="rect">
            <a:avLst/>
          </a:prstGeom>
          <a:noFill/>
          <a:ln/>
        </p:spPr>
        <p:txBody>
          <a:bodyPr wrap="square" lIns="0" tIns="0" rIns="0" bIns="0" rtlCol="0" anchor="ctr"/>
          <a:lstStyle/>
          <a:p>
            <a:pPr indent="0" marL="0">
              <a:buNone/>
            </a:pPr>
            <a:r>
              <a:rPr lang="en-US" sz="1200" b="1" dirty="0">
                <a:solidFill>
                  <a:schemeClr val="bg1"/>
                </a:solidFill>
              </a:rPr>
              <a:t>EKS 1.35 control plane · add-ons: vpc-cni, coredns, kube-proxy, pod-identity, metrics-server, EBS CSI</a:t>
            </a:r>
            <a:endParaRPr lang="en-US" sz="1200" dirty="0"/>
          </a:p>
        </p:txBody>
      </p:sp>
      <p:sp>
        <p:nvSpPr>
          <p:cNvPr id="19" name="plan-card"/>
          <p:cNvSpPr/>
          <p:nvPr/>
        </p:nvSpPr>
        <p:spPr>
          <a:xfrm>
            <a:off x="7680960" y="1371600"/>
            <a:ext cx="3959352" cy="1417320"/>
          </a:xfrm>
          <a:prstGeom prst="roundRect">
            <a:avLst>
              <a:gd name="adj" fmla="val 7742"/>
            </a:avLst>
          </a:prstGeom>
          <a:solidFill>
            <a:schemeClr val="bg2"/>
          </a:solidFill>
          <a:ln w="12700">
            <a:solidFill>
              <a:schemeClr val="bg2"/>
            </a:solidFill>
            <a:prstDash val="solid"/>
          </a:ln>
        </p:spPr>
      </p:sp>
      <p:sp>
        <p:nvSpPr>
          <p:cNvPr id="20" name="Text 18"/>
          <p:cNvSpPr txBox="1"/>
          <p:nvPr/>
        </p:nvSpPr>
        <p:spPr>
          <a:xfrm>
            <a:off x="7955280" y="1463040"/>
            <a:ext cx="1463040" cy="914400"/>
          </a:xfrm>
          <a:prstGeom prst="rect">
            <a:avLst/>
          </a:prstGeom>
          <a:noFill/>
          <a:ln/>
        </p:spPr>
        <p:txBody>
          <a:bodyPr wrap="square" lIns="0" tIns="0" rIns="0" bIns="0" rtlCol="0" anchor="ctr"/>
          <a:lstStyle/>
          <a:p>
            <a:pPr indent="0" marL="0">
              <a:buNone/>
            </a:pPr>
            <a:r>
              <a:rPr lang="en-US" sz="5200" b="1" dirty="0">
                <a:solidFill>
                  <a:schemeClr val="accent3"/>
                </a:solidFill>
              </a:rPr>
              <a:t>61</a:t>
            </a:r>
            <a:endParaRPr lang="en-US" sz="5200" dirty="0"/>
          </a:p>
        </p:txBody>
      </p:sp>
      <p:sp>
        <p:nvSpPr>
          <p:cNvPr id="21" name="Text 19"/>
          <p:cNvSpPr txBox="1"/>
          <p:nvPr/>
        </p:nvSpPr>
        <p:spPr>
          <a:xfrm>
            <a:off x="9464040" y="1572768"/>
            <a:ext cx="2103120" cy="1097280"/>
          </a:xfrm>
          <a:prstGeom prst="rect">
            <a:avLst/>
          </a:prstGeom>
          <a:noFill/>
          <a:ln/>
        </p:spPr>
        <p:txBody>
          <a:bodyPr wrap="square" lIns="0" tIns="0" rIns="0" bIns="0" rtlCol="0" anchor="t"/>
          <a:lstStyle/>
          <a:p>
            <a:pPr indent="0" marL="0">
              <a:buNone/>
            </a:pPr>
            <a:r>
              <a:rPr lang="en-US" sz="1300" dirty="0">
                <a:solidFill>
                  <a:schemeClr val="tx2"/>
                </a:solidFill>
              </a:rPr>
              <a:t>resources to add</a:t>
            </a:r>
            <a:endParaRPr lang="en-US" sz="1300" dirty="0"/>
          </a:p>
          <a:p>
            <a:pPr indent="0" marL="0">
              <a:buNone/>
            </a:pPr>
            <a:r>
              <a:rPr lang="en-US" sz="1300" dirty="0">
                <a:solidFill>
                  <a:schemeClr val="tx2"/>
                </a:solidFill>
              </a:rPr>
              <a:t>0 to change, 0 to destroy</a:t>
            </a:r>
            <a:endParaRPr lang="en-US" sz="1300" dirty="0"/>
          </a:p>
          <a:p>
            <a:pPr indent="0" marL="0">
              <a:buNone/>
            </a:pPr>
            <a:r>
              <a:rPr lang="en-US" sz="1300" dirty="0">
                <a:solidFill>
                  <a:schemeClr val="tx2"/>
                </a:solidFill>
              </a:rPr>
              <a:t>(terraform plan)</a:t>
            </a:r>
            <a:endParaRPr lang="en-US" sz="1300" dirty="0"/>
          </a:p>
        </p:txBody>
      </p:sp>
      <p:sp>
        <p:nvSpPr>
          <p:cNvPr id="22" name="Text 20"/>
          <p:cNvSpPr txBox="1"/>
          <p:nvPr/>
        </p:nvSpPr>
        <p:spPr>
          <a:xfrm>
            <a:off x="7680960" y="3017520"/>
            <a:ext cx="3959352" cy="292608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Why these choices</a:t>
            </a:r>
            <a:endParaRPr lang="en-US" sz="1300" dirty="0"/>
          </a:p>
          <a:p>
            <a:pPr marL="342900" indent="-342900">
              <a:spcAft>
                <a:spcPts val="600"/>
              </a:spcAft>
              <a:buSzPct val="100000"/>
              <a:buChar char="•"/>
            </a:pPr>
            <a:r>
              <a:rPr lang="en-US" sz="1300" dirty="0">
                <a:solidFill>
                  <a:schemeClr val="tx2"/>
                </a:solidFill>
              </a:rPr>
              <a:t>EKS 1.31 is no longer offered; 1.35 is in standard support</a:t>
            </a:r>
            <a:endParaRPr lang="en-US" sz="1300" dirty="0"/>
          </a:p>
          <a:p>
            <a:pPr marL="342900" indent="-342900">
              <a:spcAft>
                <a:spcPts val="600"/>
              </a:spcAft>
              <a:buSzPct val="100000"/>
              <a:buChar char="•"/>
            </a:pPr>
            <a:r>
              <a:rPr lang="en-US" sz="1300" dirty="0">
                <a:solidFill>
                  <a:schemeClr val="tx2"/>
                </a:solidFill>
              </a:rPr>
              <a:t>AL2 AMIs don't exist for ≥ 1.33 → AL2023 nodes</a:t>
            </a:r>
            <a:endParaRPr lang="en-US" sz="1300" dirty="0"/>
          </a:p>
          <a:p>
            <a:pPr marL="342900" indent="-342900">
              <a:spcAft>
                <a:spcPts val="600"/>
              </a:spcAft>
              <a:buSzPct val="100000"/>
              <a:buChar char="•"/>
            </a:pPr>
            <a:r>
              <a:rPr lang="en-US" sz="1300" dirty="0">
                <a:solidFill>
                  <a:schemeClr val="tx2"/>
                </a:solidFill>
              </a:rPr>
              <a:t>EBS CSI driver, or the Postgres PVC never binds</a:t>
            </a:r>
            <a:endParaRPr lang="en-US" sz="1300" dirty="0"/>
          </a:p>
          <a:p>
            <a:pPr marL="342900" indent="-342900">
              <a:spcAft>
                <a:spcPts val="600"/>
              </a:spcAft>
              <a:buSzPct val="100000"/>
              <a:buChar char="•"/>
            </a:pPr>
            <a:r>
              <a:rPr lang="en-US" sz="1300" dirty="0">
                <a:solidFill>
                  <a:schemeClr val="tx2"/>
                </a:solidFill>
              </a:rPr>
              <a:t>metrics-server, or the HPA has no CPU data</a:t>
            </a:r>
            <a:endParaRPr lang="en-US" sz="1300" dirty="0"/>
          </a:p>
          <a:p>
            <a:pPr marL="342900" indent="-342900">
              <a:spcAft>
                <a:spcPts val="600"/>
              </a:spcAft>
              <a:buSzPct val="100000"/>
              <a:buChar char="•"/>
            </a:pPr>
            <a:r>
              <a:rPr lang="en-US" sz="1300" dirty="0">
                <a:solidFill>
                  <a:schemeClr val="tx2"/>
                </a:solidFill>
              </a:rPr>
              <a:t>Single NAT gateway ≈ $0.27/h total: apply, demo, destroy</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Kubernetes + Helm: one chart, every environment</a:t>
            </a:r>
            <a:endParaRPr lang="en-US" sz="3400" dirty="0"/>
          </a:p>
        </p:txBody>
      </p:sp>
      <p:sp>
        <p:nvSpPr>
          <p:cNvPr id="3" name="terminal"/>
          <p:cNvSpPr/>
          <p:nvPr/>
        </p:nvSpPr>
        <p:spPr>
          <a:xfrm>
            <a:off x="548640" y="1371600"/>
            <a:ext cx="6675120" cy="4526280"/>
          </a:xfrm>
          <a:prstGeom prst="roundRect">
            <a:avLst>
              <a:gd name="adj" fmla="val 2424"/>
            </a:avLst>
          </a:prstGeom>
          <a:solidFill>
            <a:schemeClr val="tx1"/>
          </a:solidFill>
          <a:ln w="12700">
            <a:solidFill>
              <a:schemeClr val="tx1"/>
            </a:solidFill>
            <a:prstDash val="solid"/>
          </a:ln>
        </p:spPr>
      </p:sp>
      <p:sp>
        <p:nvSpPr>
          <p:cNvPr id="4" name="Text 2"/>
          <p:cNvSpPr txBox="1"/>
          <p:nvPr/>
        </p:nvSpPr>
        <p:spPr>
          <a:xfrm>
            <a:off x="868680" y="1645920"/>
            <a:ext cx="6126480" cy="4114800"/>
          </a:xfrm>
          <a:prstGeom prst="rect">
            <a:avLst/>
          </a:prstGeom>
          <a:noFill/>
          <a:ln/>
        </p:spPr>
        <p:txBody>
          <a:bodyPr wrap="square" lIns="0" tIns="0" rIns="0" bIns="0" rtlCol="0" anchor="t"/>
          <a:lstStyle/>
          <a:p>
            <a:pPr indent="0" marL="0">
              <a:buNone/>
            </a:pPr>
            <a:r>
              <a:rPr lang="en-US" sz="1350" dirty="0">
                <a:solidFill>
                  <a:schemeClr val="accent1"/>
                </a:solidFill>
                <a:latin typeface="Courier New" pitchFamily="34" charset="0"/>
                <a:ea typeface="Courier New" pitchFamily="34" charset="-122"/>
                <a:cs typeface="Courier New" pitchFamily="34" charset="-120"/>
              </a:rPr>
              <a:t>$ kubectl get pods -n taskboard</a:t>
            </a:r>
            <a:endParaRPr lang="en-US" sz="1350" dirty="0"/>
          </a:p>
          <a:p>
            <a:pPr indent="0" marL="0">
              <a:buNone/>
            </a:pPr>
            <a:r>
              <a:rPr lang="en-US" sz="1350" dirty="0">
                <a:solidFill>
                  <a:schemeClr val="accent6"/>
                </a:solidFill>
                <a:latin typeface="Courier New" pitchFamily="34" charset="0"/>
                <a:ea typeface="Courier New" pitchFamily="34" charset="-122"/>
                <a:cs typeface="Courier New" pitchFamily="34" charset="-120"/>
              </a:rPr>
              <a:t>NAME                              READY  STATUS</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taskboard-…-backend-7b8c…-k26s6   1/1    Running</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taskboard-…-backend-7b8c…-x2vst   1/1    Running</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taskboard-…-frontend-759b…-hgsvz  1/1    Running</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taskboard-…-frontend-759b…-zcdhz  1/1    Running</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taskboard-…-postgres-66ff…-w6rh7  1/1    Running</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chemeClr val="accent1"/>
                </a:solidFill>
                <a:latin typeface="Courier New" pitchFamily="34" charset="0"/>
                <a:ea typeface="Courier New" pitchFamily="34" charset="-122"/>
                <a:cs typeface="Courier New" pitchFamily="34" charset="-120"/>
              </a:rPr>
              <a:t>$ kubectl get ingress -n taskboard</a:t>
            </a:r>
            <a:endParaRPr lang="en-US" sz="1350" dirty="0"/>
          </a:p>
          <a:p>
            <a:pPr indent="0" marL="0">
              <a:buNone/>
            </a:pPr>
            <a:r>
              <a:rPr lang="en-US" sz="1350" dirty="0">
                <a:solidFill>
                  <a:schemeClr val="accent6"/>
                </a:solidFill>
                <a:latin typeface="Courier New" pitchFamily="34" charset="0"/>
                <a:ea typeface="Courier New" pitchFamily="34" charset="-122"/>
                <a:cs typeface="Courier New" pitchFamily="34" charset="-120"/>
              </a:rPr>
              <a:t>CLASS    HOSTS                PATHS</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traefik  taskboard.localhost  /api → backend, / → frontend</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chemeClr val="accent1"/>
                </a:solidFill>
                <a:latin typeface="Courier New" pitchFamily="34" charset="0"/>
                <a:ea typeface="Courier New" pitchFamily="34" charset="-122"/>
                <a:cs typeface="Courier New" pitchFamily="34" charset="-120"/>
              </a:rPr>
              <a:t>$ helm list -n taskboard</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taskboard  rev 3  deployed  taskboard-1.1.0</a:t>
            </a:r>
            <a:endParaRPr lang="en-US" sz="1350" dirty="0"/>
          </a:p>
        </p:txBody>
      </p:sp>
      <p:sp>
        <p:nvSpPr>
          <p:cNvPr id="5" name="k8s-badge-0-circle"/>
          <p:cNvSpPr/>
          <p:nvPr/>
        </p:nvSpPr>
        <p:spPr>
          <a:xfrm>
            <a:off x="7543800" y="1417320"/>
            <a:ext cx="502920" cy="502920"/>
          </a:xfrm>
          <a:prstGeom prst="ellipse">
            <a:avLst/>
          </a:prstGeom>
          <a:solidFill>
            <a:schemeClr val="accent1"/>
          </a:solidFill>
          <a:ln w="12700">
            <a:solidFill>
              <a:schemeClr val="accent1"/>
            </a:solidFill>
            <a:prstDash val="solid"/>
          </a:ln>
        </p:spPr>
      </p:sp>
      <p:pic>
        <p:nvPicPr>
          <p:cNvPr id="6" name="k8s-badge-0-icon" descr="preencoded.png">    </p:cNvPr>
          <p:cNvPicPr>
            <a:picLocks noChangeAspect="1"/>
          </p:cNvPicPr>
          <p:nvPr/>
        </p:nvPicPr>
        <p:blipFill>
          <a:blip r:embed="rId1"/>
          <a:stretch>
            <a:fillRect/>
          </a:stretch>
        </p:blipFill>
        <p:spPr>
          <a:xfrm>
            <a:off x="7669530" y="1543050"/>
            <a:ext cx="251460" cy="251460"/>
          </a:xfrm>
          <a:prstGeom prst="rect">
            <a:avLst/>
          </a:prstGeom>
        </p:spPr>
      </p:pic>
      <p:sp>
        <p:nvSpPr>
          <p:cNvPr id="7" name="Text 4"/>
          <p:cNvSpPr txBox="1"/>
          <p:nvPr/>
        </p:nvSpPr>
        <p:spPr>
          <a:xfrm>
            <a:off x="8229600" y="1371600"/>
            <a:ext cx="3429000" cy="320040"/>
          </a:xfrm>
          <a:prstGeom prst="rect">
            <a:avLst/>
          </a:prstGeom>
          <a:noFill/>
          <a:ln/>
        </p:spPr>
        <p:txBody>
          <a:bodyPr wrap="square" lIns="0" tIns="0" rIns="0" bIns="0" rtlCol="0" anchor="t"/>
          <a:lstStyle/>
          <a:p>
            <a:pPr indent="0" marL="0">
              <a:buNone/>
            </a:pPr>
            <a:r>
              <a:rPr lang="en-US" sz="1500" b="1" dirty="0">
                <a:solidFill>
                  <a:schemeClr val="tx1"/>
                </a:solidFill>
              </a:rPr>
              <a:t>Deployments</a:t>
            </a:r>
            <a:endParaRPr lang="en-US" sz="1500" dirty="0"/>
          </a:p>
        </p:txBody>
      </p:sp>
      <p:sp>
        <p:nvSpPr>
          <p:cNvPr id="8" name="Text 5"/>
          <p:cNvSpPr txBox="1"/>
          <p:nvPr/>
        </p:nvSpPr>
        <p:spPr>
          <a:xfrm>
            <a:off x="8229600" y="1700784"/>
            <a:ext cx="3429000" cy="731520"/>
          </a:xfrm>
          <a:prstGeom prst="rect">
            <a:avLst/>
          </a:prstGeom>
          <a:noFill/>
          <a:ln/>
        </p:spPr>
        <p:txBody>
          <a:bodyPr wrap="square" lIns="0" tIns="0" rIns="0" bIns="0" rtlCol="0" anchor="t"/>
          <a:lstStyle/>
          <a:p>
            <a:pPr indent="0" marL="0">
              <a:buNone/>
            </a:pPr>
            <a:r>
              <a:rPr lang="en-US" sz="1200" dirty="0">
                <a:solidFill>
                  <a:schemeClr val="tx2"/>
                </a:solidFill>
              </a:rPr>
              <a:t>backend 2–6 (HPA) · frontend 2 · probes: startup, /ready, /health</a:t>
            </a:r>
            <a:endParaRPr lang="en-US" sz="1200" dirty="0"/>
          </a:p>
        </p:txBody>
      </p:sp>
      <p:sp>
        <p:nvSpPr>
          <p:cNvPr id="9" name="k8s-badge-1-circle"/>
          <p:cNvSpPr/>
          <p:nvPr/>
        </p:nvSpPr>
        <p:spPr>
          <a:xfrm>
            <a:off x="7543800" y="2578608"/>
            <a:ext cx="502920" cy="502920"/>
          </a:xfrm>
          <a:prstGeom prst="ellipse">
            <a:avLst/>
          </a:prstGeom>
          <a:solidFill>
            <a:schemeClr val="accent1"/>
          </a:solidFill>
          <a:ln w="12700">
            <a:solidFill>
              <a:schemeClr val="accent1"/>
            </a:solidFill>
            <a:prstDash val="solid"/>
          </a:ln>
        </p:spPr>
      </p:sp>
      <p:pic>
        <p:nvPicPr>
          <p:cNvPr id="10" name="k8s-badge-1-icon" descr="preencoded.png">    </p:cNvPr>
          <p:cNvPicPr>
            <a:picLocks noChangeAspect="1"/>
          </p:cNvPicPr>
          <p:nvPr/>
        </p:nvPicPr>
        <p:blipFill>
          <a:blip r:embed="rId2"/>
          <a:stretch>
            <a:fillRect/>
          </a:stretch>
        </p:blipFill>
        <p:spPr>
          <a:xfrm>
            <a:off x="7669530" y="2704338"/>
            <a:ext cx="251460" cy="251460"/>
          </a:xfrm>
          <a:prstGeom prst="rect">
            <a:avLst/>
          </a:prstGeom>
        </p:spPr>
      </p:pic>
      <p:sp>
        <p:nvSpPr>
          <p:cNvPr id="11" name="Text 7"/>
          <p:cNvSpPr txBox="1"/>
          <p:nvPr/>
        </p:nvSpPr>
        <p:spPr>
          <a:xfrm>
            <a:off x="8229600" y="2532888"/>
            <a:ext cx="3429000" cy="320040"/>
          </a:xfrm>
          <a:prstGeom prst="rect">
            <a:avLst/>
          </a:prstGeom>
          <a:noFill/>
          <a:ln/>
        </p:spPr>
        <p:txBody>
          <a:bodyPr wrap="square" lIns="0" tIns="0" rIns="0" bIns="0" rtlCol="0" anchor="t"/>
          <a:lstStyle/>
          <a:p>
            <a:pPr indent="0" marL="0">
              <a:buNone/>
            </a:pPr>
            <a:r>
              <a:rPr lang="en-US" sz="1500" b="1" dirty="0">
                <a:solidFill>
                  <a:schemeClr val="tx1"/>
                </a:solidFill>
              </a:rPr>
              <a:t>Hardened pods</a:t>
            </a:r>
            <a:endParaRPr lang="en-US" sz="1500" dirty="0"/>
          </a:p>
        </p:txBody>
      </p:sp>
      <p:sp>
        <p:nvSpPr>
          <p:cNvPr id="12" name="Text 8"/>
          <p:cNvSpPr txBox="1"/>
          <p:nvPr/>
        </p:nvSpPr>
        <p:spPr>
          <a:xfrm>
            <a:off x="8229600" y="2862072"/>
            <a:ext cx="3429000" cy="731520"/>
          </a:xfrm>
          <a:prstGeom prst="rect">
            <a:avLst/>
          </a:prstGeom>
          <a:noFill/>
          <a:ln/>
        </p:spPr>
        <p:txBody>
          <a:bodyPr wrap="square" lIns="0" tIns="0" rIns="0" bIns="0" rtlCol="0" anchor="t"/>
          <a:lstStyle/>
          <a:p>
            <a:pPr indent="0" marL="0">
              <a:buNone/>
            </a:pPr>
            <a:r>
              <a:rPr lang="en-US" sz="1200" dirty="0">
                <a:solidFill>
                  <a:schemeClr val="tx2"/>
                </a:solidFill>
              </a:rPr>
              <a:t>runAsNonRoot, seccomp RuntimeDefault, no privilege escalation, caps dropped</a:t>
            </a:r>
            <a:endParaRPr lang="en-US" sz="1200" dirty="0"/>
          </a:p>
        </p:txBody>
      </p:sp>
      <p:sp>
        <p:nvSpPr>
          <p:cNvPr id="13" name="k8s-badge-2-circle"/>
          <p:cNvSpPr/>
          <p:nvPr/>
        </p:nvSpPr>
        <p:spPr>
          <a:xfrm>
            <a:off x="7543800" y="3739896"/>
            <a:ext cx="502920" cy="502920"/>
          </a:xfrm>
          <a:prstGeom prst="ellipse">
            <a:avLst/>
          </a:prstGeom>
          <a:solidFill>
            <a:schemeClr val="accent1"/>
          </a:solidFill>
          <a:ln w="12700">
            <a:solidFill>
              <a:schemeClr val="accent1"/>
            </a:solidFill>
            <a:prstDash val="solid"/>
          </a:ln>
        </p:spPr>
      </p:sp>
      <p:pic>
        <p:nvPicPr>
          <p:cNvPr id="14" name="k8s-badge-2-icon" descr="preencoded.png">    </p:cNvPr>
          <p:cNvPicPr>
            <a:picLocks noChangeAspect="1"/>
          </p:cNvPicPr>
          <p:nvPr/>
        </p:nvPicPr>
        <p:blipFill>
          <a:blip r:embed="rId3"/>
          <a:stretch>
            <a:fillRect/>
          </a:stretch>
        </p:blipFill>
        <p:spPr>
          <a:xfrm>
            <a:off x="7669530" y="3865626"/>
            <a:ext cx="251460" cy="251460"/>
          </a:xfrm>
          <a:prstGeom prst="rect">
            <a:avLst/>
          </a:prstGeom>
        </p:spPr>
      </p:pic>
      <p:sp>
        <p:nvSpPr>
          <p:cNvPr id="15" name="Text 10"/>
          <p:cNvSpPr txBox="1"/>
          <p:nvPr/>
        </p:nvSpPr>
        <p:spPr>
          <a:xfrm>
            <a:off x="8229600" y="3694176"/>
            <a:ext cx="3429000" cy="320040"/>
          </a:xfrm>
          <a:prstGeom prst="rect">
            <a:avLst/>
          </a:prstGeom>
          <a:noFill/>
          <a:ln/>
        </p:spPr>
        <p:txBody>
          <a:bodyPr wrap="square" lIns="0" tIns="0" rIns="0" bIns="0" rtlCol="0" anchor="t"/>
          <a:lstStyle/>
          <a:p>
            <a:pPr indent="0" marL="0">
              <a:buNone/>
            </a:pPr>
            <a:r>
              <a:rPr lang="en-US" sz="1500" b="1" dirty="0">
                <a:solidFill>
                  <a:schemeClr val="tx1"/>
                </a:solidFill>
              </a:rPr>
              <a:t>PostgreSQL</a:t>
            </a:r>
            <a:endParaRPr lang="en-US" sz="1500" dirty="0"/>
          </a:p>
        </p:txBody>
      </p:sp>
      <p:sp>
        <p:nvSpPr>
          <p:cNvPr id="16" name="Text 11"/>
          <p:cNvSpPr txBox="1"/>
          <p:nvPr/>
        </p:nvSpPr>
        <p:spPr>
          <a:xfrm>
            <a:off x="8229600" y="4023360"/>
            <a:ext cx="3429000" cy="731520"/>
          </a:xfrm>
          <a:prstGeom prst="rect">
            <a:avLst/>
          </a:prstGeom>
          <a:noFill/>
          <a:ln/>
        </p:spPr>
        <p:txBody>
          <a:bodyPr wrap="square" lIns="0" tIns="0" rIns="0" bIns="0" rtlCol="0" anchor="t"/>
          <a:lstStyle/>
          <a:p>
            <a:pPr indent="0" marL="0">
              <a:buNone/>
            </a:pPr>
            <a:r>
              <a:rPr lang="en-US" sz="1200" dirty="0">
                <a:solidFill>
                  <a:schemeClr val="tx2"/>
                </a:solidFill>
              </a:rPr>
              <a:t>Recreate strategy for RWO volume, PGDATA subdir, PVC kept on uninstall</a:t>
            </a:r>
            <a:endParaRPr lang="en-US" sz="1200" dirty="0"/>
          </a:p>
        </p:txBody>
      </p:sp>
      <p:sp>
        <p:nvSpPr>
          <p:cNvPr id="17" name="k8s-badge-3-circle"/>
          <p:cNvSpPr/>
          <p:nvPr/>
        </p:nvSpPr>
        <p:spPr>
          <a:xfrm>
            <a:off x="7543800" y="4901184"/>
            <a:ext cx="502920" cy="502920"/>
          </a:xfrm>
          <a:prstGeom prst="ellipse">
            <a:avLst/>
          </a:prstGeom>
          <a:solidFill>
            <a:schemeClr val="accent1"/>
          </a:solidFill>
          <a:ln w="12700">
            <a:solidFill>
              <a:schemeClr val="accent1"/>
            </a:solidFill>
            <a:prstDash val="solid"/>
          </a:ln>
        </p:spPr>
      </p:sp>
      <p:pic>
        <p:nvPicPr>
          <p:cNvPr id="18" name="k8s-badge-3-icon" descr="preencoded.png">    </p:cNvPr>
          <p:cNvPicPr>
            <a:picLocks noChangeAspect="1"/>
          </p:cNvPicPr>
          <p:nvPr/>
        </p:nvPicPr>
        <p:blipFill>
          <a:blip r:embed="rId4"/>
          <a:stretch>
            <a:fillRect/>
          </a:stretch>
        </p:blipFill>
        <p:spPr>
          <a:xfrm>
            <a:off x="7669530" y="5026914"/>
            <a:ext cx="251460" cy="251460"/>
          </a:xfrm>
          <a:prstGeom prst="rect">
            <a:avLst/>
          </a:prstGeom>
        </p:spPr>
      </p:pic>
      <p:sp>
        <p:nvSpPr>
          <p:cNvPr id="19" name="Text 13"/>
          <p:cNvSpPr txBox="1"/>
          <p:nvPr/>
        </p:nvSpPr>
        <p:spPr>
          <a:xfrm>
            <a:off x="8229600" y="4855464"/>
            <a:ext cx="3429000" cy="320040"/>
          </a:xfrm>
          <a:prstGeom prst="rect">
            <a:avLst/>
          </a:prstGeom>
          <a:noFill/>
          <a:ln/>
        </p:spPr>
        <p:txBody>
          <a:bodyPr wrap="square" lIns="0" tIns="0" rIns="0" bIns="0" rtlCol="0" anchor="t"/>
          <a:lstStyle/>
          <a:p>
            <a:pPr indent="0" marL="0">
              <a:buNone/>
            </a:pPr>
            <a:r>
              <a:rPr lang="en-US" sz="1500" b="1" dirty="0">
                <a:solidFill>
                  <a:schemeClr val="tx1"/>
                </a:solidFill>
              </a:rPr>
              <a:t>Ingress + HPA</a:t>
            </a:r>
            <a:endParaRPr lang="en-US" sz="1500" dirty="0"/>
          </a:p>
        </p:txBody>
      </p:sp>
      <p:sp>
        <p:nvSpPr>
          <p:cNvPr id="20" name="Text 14"/>
          <p:cNvSpPr txBox="1"/>
          <p:nvPr/>
        </p:nvSpPr>
        <p:spPr>
          <a:xfrm>
            <a:off x="8229600" y="5184648"/>
            <a:ext cx="3429000" cy="731520"/>
          </a:xfrm>
          <a:prstGeom prst="rect">
            <a:avLst/>
          </a:prstGeom>
          <a:noFill/>
          <a:ln/>
        </p:spPr>
        <p:txBody>
          <a:bodyPr wrap="square" lIns="0" tIns="0" rIns="0" bIns="0" rtlCol="0" anchor="t"/>
          <a:lstStyle/>
          <a:p>
            <a:pPr indent="0" marL="0">
              <a:buNone/>
            </a:pPr>
            <a:r>
              <a:rPr lang="en-US" sz="1200" dirty="0">
                <a:solidFill>
                  <a:schemeClr val="tx2"/>
                </a:solidFill>
              </a:rPr>
              <a:t>Traefik routes / and /api; HPA on 60 % CPU, Deployment omits replicas</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GitOps with Argo CD: Git is the source of truth</a:t>
            </a:r>
            <a:endParaRPr lang="en-US" sz="3400" dirty="0"/>
          </a:p>
        </p:txBody>
      </p:sp>
      <p:sp>
        <p:nvSpPr>
          <p:cNvPr id="3" name="loop-0"/>
          <p:cNvSpPr/>
          <p:nvPr/>
        </p:nvSpPr>
        <p:spPr>
          <a:xfrm>
            <a:off x="548640" y="1508760"/>
            <a:ext cx="2011680" cy="2377440"/>
          </a:xfrm>
          <a:prstGeom prst="roundRect">
            <a:avLst>
              <a:gd name="adj" fmla="val 5455"/>
            </a:avLst>
          </a:prstGeom>
          <a:solidFill>
            <a:schemeClr val="bg2"/>
          </a:solidFill>
          <a:ln w="12700">
            <a:solidFill>
              <a:schemeClr val="bg2"/>
            </a:solidFill>
            <a:prstDash val="solid"/>
          </a:ln>
        </p:spPr>
      </p:sp>
      <p:sp>
        <p:nvSpPr>
          <p:cNvPr id="4" name="loop-badge-0-circle"/>
          <p:cNvSpPr/>
          <p:nvPr/>
        </p:nvSpPr>
        <p:spPr>
          <a:xfrm>
            <a:off x="777240" y="1737360"/>
            <a:ext cx="548640" cy="548640"/>
          </a:xfrm>
          <a:prstGeom prst="ellipse">
            <a:avLst/>
          </a:prstGeom>
          <a:solidFill>
            <a:schemeClr val="accent3"/>
          </a:solidFill>
          <a:ln w="12700">
            <a:solidFill>
              <a:schemeClr val="accent3"/>
            </a:solidFill>
            <a:prstDash val="solid"/>
          </a:ln>
        </p:spPr>
      </p:sp>
      <p:pic>
        <p:nvPicPr>
          <p:cNvPr id="5" name="loop-badge-0-icon" descr="preencoded.png">    </p:cNvPr>
          <p:cNvPicPr>
            <a:picLocks noChangeAspect="1"/>
          </p:cNvPicPr>
          <p:nvPr/>
        </p:nvPicPr>
        <p:blipFill>
          <a:blip r:embed="rId1"/>
          <a:stretch>
            <a:fillRect/>
          </a:stretch>
        </p:blipFill>
        <p:spPr>
          <a:xfrm>
            <a:off x="914400" y="1874520"/>
            <a:ext cx="274320" cy="274320"/>
          </a:xfrm>
          <a:prstGeom prst="rect">
            <a:avLst/>
          </a:prstGeom>
        </p:spPr>
      </p:pic>
      <p:sp>
        <p:nvSpPr>
          <p:cNvPr id="6" name="Text 3"/>
          <p:cNvSpPr txBox="1"/>
          <p:nvPr/>
        </p:nvSpPr>
        <p:spPr>
          <a:xfrm>
            <a:off x="777240" y="2468880"/>
            <a:ext cx="1645920" cy="365760"/>
          </a:xfrm>
          <a:prstGeom prst="rect">
            <a:avLst/>
          </a:prstGeom>
          <a:noFill/>
          <a:ln/>
        </p:spPr>
        <p:txBody>
          <a:bodyPr wrap="square" lIns="0" tIns="0" rIns="0" bIns="0" rtlCol="0" anchor="t"/>
          <a:lstStyle/>
          <a:p>
            <a:pPr indent="0" marL="0">
              <a:buNone/>
            </a:pPr>
            <a:r>
              <a:rPr lang="en-US" sz="1600" b="1" dirty="0">
                <a:solidFill>
                  <a:schemeClr val="tx1"/>
                </a:solidFill>
              </a:rPr>
              <a:t>git push</a:t>
            </a:r>
            <a:endParaRPr lang="en-US" sz="1600" dirty="0"/>
          </a:p>
        </p:txBody>
      </p:sp>
      <p:sp>
        <p:nvSpPr>
          <p:cNvPr id="7" name="Text 4"/>
          <p:cNvSpPr txBox="1"/>
          <p:nvPr/>
        </p:nvSpPr>
        <p:spPr>
          <a:xfrm>
            <a:off x="777240" y="2880360"/>
            <a:ext cx="1645920" cy="914400"/>
          </a:xfrm>
          <a:prstGeom prst="rect">
            <a:avLst/>
          </a:prstGeom>
          <a:noFill/>
          <a:ln/>
        </p:spPr>
        <p:txBody>
          <a:bodyPr wrap="square" lIns="0" tIns="0" rIns="0" bIns="0" rtlCol="0" anchor="t"/>
          <a:lstStyle/>
          <a:p>
            <a:pPr indent="0" marL="0">
              <a:buNone/>
            </a:pPr>
            <a:r>
              <a:rPr lang="en-US" sz="1200" dirty="0">
                <a:solidFill>
                  <a:schemeClr val="tx2"/>
                </a:solidFill>
              </a:rPr>
              <a:t>developer commits to main</a:t>
            </a:r>
            <a:endParaRPr lang="en-US" sz="1200" dirty="0"/>
          </a:p>
        </p:txBody>
      </p:sp>
      <p:sp>
        <p:nvSpPr>
          <p:cNvPr id="8" name="loop-arrow-0"/>
          <p:cNvSpPr/>
          <p:nvPr/>
        </p:nvSpPr>
        <p:spPr>
          <a:xfrm>
            <a:off x="2578608" y="2697480"/>
            <a:ext cx="219456" cy="0"/>
          </a:xfrm>
          <a:prstGeom prst="line">
            <a:avLst/>
          </a:prstGeom>
          <a:noFill/>
          <a:ln w="22225">
            <a:solidFill>
              <a:schemeClr val="accent6"/>
            </a:solidFill>
            <a:prstDash val="solid"/>
            <a:tailEnd type="triangle"/>
          </a:ln>
        </p:spPr>
      </p:sp>
      <p:sp>
        <p:nvSpPr>
          <p:cNvPr id="9" name="loop-1"/>
          <p:cNvSpPr/>
          <p:nvPr/>
        </p:nvSpPr>
        <p:spPr>
          <a:xfrm>
            <a:off x="2816352" y="1508760"/>
            <a:ext cx="2011680" cy="2377440"/>
          </a:xfrm>
          <a:prstGeom prst="roundRect">
            <a:avLst>
              <a:gd name="adj" fmla="val 5455"/>
            </a:avLst>
          </a:prstGeom>
          <a:solidFill>
            <a:schemeClr val="bg2"/>
          </a:solidFill>
          <a:ln w="12700">
            <a:solidFill>
              <a:schemeClr val="bg2"/>
            </a:solidFill>
            <a:prstDash val="solid"/>
          </a:ln>
        </p:spPr>
      </p:sp>
      <p:sp>
        <p:nvSpPr>
          <p:cNvPr id="10" name="loop-badge-1-circle"/>
          <p:cNvSpPr/>
          <p:nvPr/>
        </p:nvSpPr>
        <p:spPr>
          <a:xfrm>
            <a:off x="3044952" y="1737360"/>
            <a:ext cx="548640" cy="548640"/>
          </a:xfrm>
          <a:prstGeom prst="ellipse">
            <a:avLst/>
          </a:prstGeom>
          <a:solidFill>
            <a:schemeClr val="accent3"/>
          </a:solidFill>
          <a:ln w="12700">
            <a:solidFill>
              <a:schemeClr val="accent3"/>
            </a:solidFill>
            <a:prstDash val="solid"/>
          </a:ln>
        </p:spPr>
      </p:sp>
      <p:pic>
        <p:nvPicPr>
          <p:cNvPr id="11" name="loop-badge-1-icon" descr="preencoded.png">    </p:cNvPr>
          <p:cNvPicPr>
            <a:picLocks noChangeAspect="1"/>
          </p:cNvPicPr>
          <p:nvPr/>
        </p:nvPicPr>
        <p:blipFill>
          <a:blip r:embed="rId2"/>
          <a:stretch>
            <a:fillRect/>
          </a:stretch>
        </p:blipFill>
        <p:spPr>
          <a:xfrm>
            <a:off x="3182112" y="1874520"/>
            <a:ext cx="274320" cy="274320"/>
          </a:xfrm>
          <a:prstGeom prst="rect">
            <a:avLst/>
          </a:prstGeom>
        </p:spPr>
      </p:pic>
      <p:sp>
        <p:nvSpPr>
          <p:cNvPr id="12" name="Text 8"/>
          <p:cNvSpPr txBox="1"/>
          <p:nvPr/>
        </p:nvSpPr>
        <p:spPr>
          <a:xfrm>
            <a:off x="3044952" y="2468880"/>
            <a:ext cx="1645920" cy="365760"/>
          </a:xfrm>
          <a:prstGeom prst="rect">
            <a:avLst/>
          </a:prstGeom>
          <a:noFill/>
          <a:ln/>
        </p:spPr>
        <p:txBody>
          <a:bodyPr wrap="square" lIns="0" tIns="0" rIns="0" bIns="0" rtlCol="0" anchor="t"/>
          <a:lstStyle/>
          <a:p>
            <a:pPr indent="0" marL="0">
              <a:buNone/>
            </a:pPr>
            <a:r>
              <a:rPr lang="en-US" sz="1600" b="1" dirty="0">
                <a:solidFill>
                  <a:schemeClr val="tx1"/>
                </a:solidFill>
              </a:rPr>
              <a:t>CI passes</a:t>
            </a:r>
            <a:endParaRPr lang="en-US" sz="1600" dirty="0"/>
          </a:p>
        </p:txBody>
      </p:sp>
      <p:sp>
        <p:nvSpPr>
          <p:cNvPr id="13" name="Text 9"/>
          <p:cNvSpPr txBox="1"/>
          <p:nvPr/>
        </p:nvSpPr>
        <p:spPr>
          <a:xfrm>
            <a:off x="3044952" y="2880360"/>
            <a:ext cx="1645920" cy="914400"/>
          </a:xfrm>
          <a:prstGeom prst="rect">
            <a:avLst/>
          </a:prstGeom>
          <a:noFill/>
          <a:ln/>
        </p:spPr>
        <p:txBody>
          <a:bodyPr wrap="square" lIns="0" tIns="0" rIns="0" bIns="0" rtlCol="0" anchor="t"/>
          <a:lstStyle/>
          <a:p>
            <a:pPr indent="0" marL="0">
              <a:buNone/>
            </a:pPr>
            <a:r>
              <a:rPr lang="en-US" sz="1200" dirty="0">
                <a:solidFill>
                  <a:schemeClr val="tx2"/>
                </a:solidFill>
              </a:rPr>
              <a:t>tests, Trivy gate, image :&lt;sha&gt; in GHCR</a:t>
            </a:r>
            <a:endParaRPr lang="en-US" sz="1200" dirty="0"/>
          </a:p>
        </p:txBody>
      </p:sp>
      <p:sp>
        <p:nvSpPr>
          <p:cNvPr id="14" name="loop-arrow-1"/>
          <p:cNvSpPr/>
          <p:nvPr/>
        </p:nvSpPr>
        <p:spPr>
          <a:xfrm>
            <a:off x="4846320" y="2697480"/>
            <a:ext cx="219456" cy="0"/>
          </a:xfrm>
          <a:prstGeom prst="line">
            <a:avLst/>
          </a:prstGeom>
          <a:noFill/>
          <a:ln w="22225">
            <a:solidFill>
              <a:schemeClr val="accent6"/>
            </a:solidFill>
            <a:prstDash val="solid"/>
            <a:tailEnd type="triangle"/>
          </a:ln>
        </p:spPr>
      </p:sp>
      <p:sp>
        <p:nvSpPr>
          <p:cNvPr id="15" name="loop-2"/>
          <p:cNvSpPr/>
          <p:nvPr/>
        </p:nvSpPr>
        <p:spPr>
          <a:xfrm>
            <a:off x="5084064" y="1508760"/>
            <a:ext cx="2011680" cy="2377440"/>
          </a:xfrm>
          <a:prstGeom prst="roundRect">
            <a:avLst>
              <a:gd name="adj" fmla="val 5455"/>
            </a:avLst>
          </a:prstGeom>
          <a:solidFill>
            <a:schemeClr val="bg2"/>
          </a:solidFill>
          <a:ln w="12700">
            <a:solidFill>
              <a:schemeClr val="bg2"/>
            </a:solidFill>
            <a:prstDash val="solid"/>
          </a:ln>
        </p:spPr>
      </p:sp>
      <p:sp>
        <p:nvSpPr>
          <p:cNvPr id="16" name="loop-badge-2-circle"/>
          <p:cNvSpPr/>
          <p:nvPr/>
        </p:nvSpPr>
        <p:spPr>
          <a:xfrm>
            <a:off x="5312664" y="1737360"/>
            <a:ext cx="548640" cy="548640"/>
          </a:xfrm>
          <a:prstGeom prst="ellipse">
            <a:avLst/>
          </a:prstGeom>
          <a:solidFill>
            <a:schemeClr val="accent3"/>
          </a:solidFill>
          <a:ln w="12700">
            <a:solidFill>
              <a:schemeClr val="accent3"/>
            </a:solidFill>
            <a:prstDash val="solid"/>
          </a:ln>
        </p:spPr>
      </p:sp>
      <p:pic>
        <p:nvPicPr>
          <p:cNvPr id="17" name="loop-badge-2-icon" descr="preencoded.png">    </p:cNvPr>
          <p:cNvPicPr>
            <a:picLocks noChangeAspect="1"/>
          </p:cNvPicPr>
          <p:nvPr/>
        </p:nvPicPr>
        <p:blipFill>
          <a:blip r:embed="rId3"/>
          <a:stretch>
            <a:fillRect/>
          </a:stretch>
        </p:blipFill>
        <p:spPr>
          <a:xfrm>
            <a:off x="5449824" y="1874520"/>
            <a:ext cx="274320" cy="274320"/>
          </a:xfrm>
          <a:prstGeom prst="rect">
            <a:avLst/>
          </a:prstGeom>
        </p:spPr>
      </p:pic>
      <p:sp>
        <p:nvSpPr>
          <p:cNvPr id="18" name="Text 13"/>
          <p:cNvSpPr txBox="1"/>
          <p:nvPr/>
        </p:nvSpPr>
        <p:spPr>
          <a:xfrm>
            <a:off x="5312664" y="2468880"/>
            <a:ext cx="1645920" cy="365760"/>
          </a:xfrm>
          <a:prstGeom prst="rect">
            <a:avLst/>
          </a:prstGeom>
          <a:noFill/>
          <a:ln/>
        </p:spPr>
        <p:txBody>
          <a:bodyPr wrap="square" lIns="0" tIns="0" rIns="0" bIns="0" rtlCol="0" anchor="t"/>
          <a:lstStyle/>
          <a:p>
            <a:pPr indent="0" marL="0">
              <a:buNone/>
            </a:pPr>
            <a:r>
              <a:rPr lang="en-US" sz="1600" b="1" dirty="0">
                <a:solidFill>
                  <a:schemeClr val="tx1"/>
                </a:solidFill>
              </a:rPr>
              <a:t>tag commit</a:t>
            </a:r>
            <a:endParaRPr lang="en-US" sz="1600" dirty="0"/>
          </a:p>
        </p:txBody>
      </p:sp>
      <p:sp>
        <p:nvSpPr>
          <p:cNvPr id="19" name="Text 14"/>
          <p:cNvSpPr txBox="1"/>
          <p:nvPr/>
        </p:nvSpPr>
        <p:spPr>
          <a:xfrm>
            <a:off x="5312664" y="2880360"/>
            <a:ext cx="1645920" cy="914400"/>
          </a:xfrm>
          <a:prstGeom prst="rect">
            <a:avLst/>
          </a:prstGeom>
          <a:noFill/>
          <a:ln/>
        </p:spPr>
        <p:txBody>
          <a:bodyPr wrap="square" lIns="0" tIns="0" rIns="0" bIns="0" rtlCol="0" anchor="t"/>
          <a:lstStyle/>
          <a:p>
            <a:pPr indent="0" marL="0">
              <a:buNone/>
            </a:pPr>
            <a:r>
              <a:rPr lang="en-US" sz="1200" dirty="0">
                <a:solidFill>
                  <a:schemeClr val="tx2"/>
                </a:solidFill>
              </a:rPr>
              <a:t>CI writes &lt;sha&gt; into values-prod.yaml</a:t>
            </a:r>
            <a:endParaRPr lang="en-US" sz="1200" dirty="0"/>
          </a:p>
        </p:txBody>
      </p:sp>
      <p:sp>
        <p:nvSpPr>
          <p:cNvPr id="20" name="loop-arrow-2"/>
          <p:cNvSpPr/>
          <p:nvPr/>
        </p:nvSpPr>
        <p:spPr>
          <a:xfrm>
            <a:off x="7114032" y="2697480"/>
            <a:ext cx="219456" cy="0"/>
          </a:xfrm>
          <a:prstGeom prst="line">
            <a:avLst/>
          </a:prstGeom>
          <a:noFill/>
          <a:ln w="22225">
            <a:solidFill>
              <a:schemeClr val="accent6"/>
            </a:solidFill>
            <a:prstDash val="solid"/>
            <a:tailEnd type="triangle"/>
          </a:ln>
        </p:spPr>
      </p:sp>
      <p:sp>
        <p:nvSpPr>
          <p:cNvPr id="21" name="loop-3"/>
          <p:cNvSpPr/>
          <p:nvPr/>
        </p:nvSpPr>
        <p:spPr>
          <a:xfrm>
            <a:off x="7351776" y="1508760"/>
            <a:ext cx="2011680" cy="2377440"/>
          </a:xfrm>
          <a:prstGeom prst="roundRect">
            <a:avLst>
              <a:gd name="adj" fmla="val 5455"/>
            </a:avLst>
          </a:prstGeom>
          <a:solidFill>
            <a:schemeClr val="accent3"/>
          </a:solidFill>
          <a:ln w="12700">
            <a:solidFill>
              <a:schemeClr val="accent3"/>
            </a:solidFill>
            <a:prstDash val="solid"/>
          </a:ln>
        </p:spPr>
      </p:sp>
      <p:sp>
        <p:nvSpPr>
          <p:cNvPr id="22" name="loop-badge-3-circle"/>
          <p:cNvSpPr/>
          <p:nvPr/>
        </p:nvSpPr>
        <p:spPr>
          <a:xfrm>
            <a:off x="7580376" y="1737360"/>
            <a:ext cx="548640" cy="548640"/>
          </a:xfrm>
          <a:prstGeom prst="ellipse">
            <a:avLst/>
          </a:prstGeom>
          <a:solidFill>
            <a:schemeClr val="tx1"/>
          </a:solidFill>
          <a:ln w="12700">
            <a:solidFill>
              <a:schemeClr val="tx1"/>
            </a:solidFill>
            <a:prstDash val="solid"/>
          </a:ln>
        </p:spPr>
      </p:sp>
      <p:pic>
        <p:nvPicPr>
          <p:cNvPr id="23" name="loop-badge-3-icon" descr="preencoded.png">    </p:cNvPr>
          <p:cNvPicPr>
            <a:picLocks noChangeAspect="1"/>
          </p:cNvPicPr>
          <p:nvPr/>
        </p:nvPicPr>
        <p:blipFill>
          <a:blip r:embed="rId4"/>
          <a:stretch>
            <a:fillRect/>
          </a:stretch>
        </p:blipFill>
        <p:spPr>
          <a:xfrm>
            <a:off x="7717536" y="1874520"/>
            <a:ext cx="274320" cy="274320"/>
          </a:xfrm>
          <a:prstGeom prst="rect">
            <a:avLst/>
          </a:prstGeom>
        </p:spPr>
      </p:pic>
      <p:sp>
        <p:nvSpPr>
          <p:cNvPr id="24" name="Text 18"/>
          <p:cNvSpPr txBox="1"/>
          <p:nvPr/>
        </p:nvSpPr>
        <p:spPr>
          <a:xfrm>
            <a:off x="7580376" y="2468880"/>
            <a:ext cx="1645920" cy="365760"/>
          </a:xfrm>
          <a:prstGeom prst="rect">
            <a:avLst/>
          </a:prstGeom>
          <a:noFill/>
          <a:ln/>
        </p:spPr>
        <p:txBody>
          <a:bodyPr wrap="square" lIns="0" tIns="0" rIns="0" bIns="0" rtlCol="0" anchor="t"/>
          <a:lstStyle/>
          <a:p>
            <a:pPr indent="0" marL="0">
              <a:buNone/>
            </a:pPr>
            <a:r>
              <a:rPr lang="en-US" sz="1600" b="1" dirty="0">
                <a:solidFill>
                  <a:schemeClr val="bg1"/>
                </a:solidFill>
              </a:rPr>
              <a:t>Argo CD sync</a:t>
            </a:r>
            <a:endParaRPr lang="en-US" sz="1600" dirty="0"/>
          </a:p>
        </p:txBody>
      </p:sp>
      <p:sp>
        <p:nvSpPr>
          <p:cNvPr id="25" name="Text 19"/>
          <p:cNvSpPr txBox="1"/>
          <p:nvPr/>
        </p:nvSpPr>
        <p:spPr>
          <a:xfrm>
            <a:off x="7580376" y="2880360"/>
            <a:ext cx="1645920" cy="914400"/>
          </a:xfrm>
          <a:prstGeom prst="rect">
            <a:avLst/>
          </a:prstGeom>
          <a:noFill/>
          <a:ln/>
        </p:spPr>
        <p:txBody>
          <a:bodyPr wrap="square" lIns="0" tIns="0" rIns="0" bIns="0" rtlCol="0" anchor="t"/>
          <a:lstStyle/>
          <a:p>
            <a:pPr indent="0" marL="0">
              <a:buNone/>
            </a:pPr>
            <a:r>
              <a:rPr lang="en-US" sz="1200" dirty="0">
                <a:solidFill>
                  <a:schemeClr val="bg1"/>
                </a:solidFill>
              </a:rPr>
              <a:t>detects the commit, renders the chart</a:t>
            </a:r>
            <a:endParaRPr lang="en-US" sz="1200" dirty="0"/>
          </a:p>
        </p:txBody>
      </p:sp>
      <p:sp>
        <p:nvSpPr>
          <p:cNvPr id="26" name="loop-arrow-3"/>
          <p:cNvSpPr/>
          <p:nvPr/>
        </p:nvSpPr>
        <p:spPr>
          <a:xfrm>
            <a:off x="9381744" y="2697480"/>
            <a:ext cx="219456" cy="0"/>
          </a:xfrm>
          <a:prstGeom prst="line">
            <a:avLst/>
          </a:prstGeom>
          <a:noFill/>
          <a:ln w="22225">
            <a:solidFill>
              <a:schemeClr val="accent6"/>
            </a:solidFill>
            <a:prstDash val="solid"/>
            <a:tailEnd type="triangle"/>
          </a:ln>
        </p:spPr>
      </p:sp>
      <p:sp>
        <p:nvSpPr>
          <p:cNvPr id="27" name="loop-4"/>
          <p:cNvSpPr/>
          <p:nvPr/>
        </p:nvSpPr>
        <p:spPr>
          <a:xfrm>
            <a:off x="9619488" y="1508760"/>
            <a:ext cx="2011680" cy="2377440"/>
          </a:xfrm>
          <a:prstGeom prst="roundRect">
            <a:avLst>
              <a:gd name="adj" fmla="val 5455"/>
            </a:avLst>
          </a:prstGeom>
          <a:solidFill>
            <a:schemeClr val="bg2"/>
          </a:solidFill>
          <a:ln w="12700">
            <a:solidFill>
              <a:schemeClr val="bg2"/>
            </a:solidFill>
            <a:prstDash val="solid"/>
          </a:ln>
        </p:spPr>
      </p:sp>
      <p:sp>
        <p:nvSpPr>
          <p:cNvPr id="28" name="loop-badge-4-circle"/>
          <p:cNvSpPr/>
          <p:nvPr/>
        </p:nvSpPr>
        <p:spPr>
          <a:xfrm>
            <a:off x="9848088" y="1737360"/>
            <a:ext cx="548640" cy="548640"/>
          </a:xfrm>
          <a:prstGeom prst="ellipse">
            <a:avLst/>
          </a:prstGeom>
          <a:solidFill>
            <a:schemeClr val="accent3"/>
          </a:solidFill>
          <a:ln w="12700">
            <a:solidFill>
              <a:schemeClr val="accent3"/>
            </a:solidFill>
            <a:prstDash val="solid"/>
          </a:ln>
        </p:spPr>
      </p:sp>
      <p:pic>
        <p:nvPicPr>
          <p:cNvPr id="29" name="loop-badge-4-icon" descr="preencoded.png">    </p:cNvPr>
          <p:cNvPicPr>
            <a:picLocks noChangeAspect="1"/>
          </p:cNvPicPr>
          <p:nvPr/>
        </p:nvPicPr>
        <p:blipFill>
          <a:blip r:embed="rId5"/>
          <a:stretch>
            <a:fillRect/>
          </a:stretch>
        </p:blipFill>
        <p:spPr>
          <a:xfrm>
            <a:off x="9985248" y="1874520"/>
            <a:ext cx="274320" cy="274320"/>
          </a:xfrm>
          <a:prstGeom prst="rect">
            <a:avLst/>
          </a:prstGeom>
        </p:spPr>
      </p:pic>
      <p:sp>
        <p:nvSpPr>
          <p:cNvPr id="30" name="Text 23"/>
          <p:cNvSpPr txBox="1"/>
          <p:nvPr/>
        </p:nvSpPr>
        <p:spPr>
          <a:xfrm>
            <a:off x="9848088" y="2468880"/>
            <a:ext cx="1645920" cy="365760"/>
          </a:xfrm>
          <a:prstGeom prst="rect">
            <a:avLst/>
          </a:prstGeom>
          <a:noFill/>
          <a:ln/>
        </p:spPr>
        <p:txBody>
          <a:bodyPr wrap="square" lIns="0" tIns="0" rIns="0" bIns="0" rtlCol="0" anchor="t"/>
          <a:lstStyle/>
          <a:p>
            <a:pPr indent="0" marL="0">
              <a:buNone/>
            </a:pPr>
            <a:r>
              <a:rPr lang="en-US" sz="1600" b="1" dirty="0">
                <a:solidFill>
                  <a:schemeClr val="tx1"/>
                </a:solidFill>
              </a:rPr>
              <a:t>EKS rolls out</a:t>
            </a:r>
            <a:endParaRPr lang="en-US" sz="1600" dirty="0"/>
          </a:p>
        </p:txBody>
      </p:sp>
      <p:sp>
        <p:nvSpPr>
          <p:cNvPr id="31" name="Text 24"/>
          <p:cNvSpPr txBox="1"/>
          <p:nvPr/>
        </p:nvSpPr>
        <p:spPr>
          <a:xfrm>
            <a:off x="9848088" y="2880360"/>
            <a:ext cx="1645920" cy="914400"/>
          </a:xfrm>
          <a:prstGeom prst="rect">
            <a:avLst/>
          </a:prstGeom>
          <a:noFill/>
          <a:ln/>
        </p:spPr>
        <p:txBody>
          <a:bodyPr wrap="square" lIns="0" tIns="0" rIns="0" bIns="0" rtlCol="0" anchor="t"/>
          <a:lstStyle/>
          <a:p>
            <a:pPr indent="0" marL="0">
              <a:buNone/>
            </a:pPr>
            <a:r>
              <a:rPr lang="en-US" sz="1200" dirty="0">
                <a:solidFill>
                  <a:schemeClr val="tx2"/>
                </a:solidFill>
              </a:rPr>
              <a:t>new pods; old ones drain</a:t>
            </a:r>
            <a:endParaRPr lang="en-US" sz="1200" dirty="0"/>
          </a:p>
        </p:txBody>
      </p:sp>
      <p:sp>
        <p:nvSpPr>
          <p:cNvPr id="32" name="prop-badge-0-circle"/>
          <p:cNvSpPr/>
          <p:nvPr/>
        </p:nvSpPr>
        <p:spPr>
          <a:xfrm>
            <a:off x="548640" y="4343400"/>
            <a:ext cx="457200" cy="457200"/>
          </a:xfrm>
          <a:prstGeom prst="ellipse">
            <a:avLst/>
          </a:prstGeom>
          <a:solidFill>
            <a:schemeClr val="tx1"/>
          </a:solidFill>
          <a:ln w="12700">
            <a:solidFill>
              <a:schemeClr val="tx1"/>
            </a:solidFill>
            <a:prstDash val="solid"/>
          </a:ln>
        </p:spPr>
      </p:sp>
      <p:pic>
        <p:nvPicPr>
          <p:cNvPr id="33" name="prop-badge-0-icon" descr="preencoded.png">    </p:cNvPr>
          <p:cNvPicPr>
            <a:picLocks noChangeAspect="1"/>
          </p:cNvPicPr>
          <p:nvPr/>
        </p:nvPicPr>
        <p:blipFill>
          <a:blip r:embed="rId6"/>
          <a:stretch>
            <a:fillRect/>
          </a:stretch>
        </p:blipFill>
        <p:spPr>
          <a:xfrm>
            <a:off x="662940" y="4457700"/>
            <a:ext cx="228600" cy="228600"/>
          </a:xfrm>
          <a:prstGeom prst="rect">
            <a:avLst/>
          </a:prstGeom>
        </p:spPr>
      </p:pic>
      <p:sp>
        <p:nvSpPr>
          <p:cNvPr id="34" name="Text 26"/>
          <p:cNvSpPr txBox="1"/>
          <p:nvPr/>
        </p:nvSpPr>
        <p:spPr>
          <a:xfrm>
            <a:off x="1188720" y="4325112"/>
            <a:ext cx="2926080" cy="32004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selfHeal</a:t>
            </a:r>
            <a:endParaRPr lang="en-US" sz="1500" dirty="0"/>
          </a:p>
        </p:txBody>
      </p:sp>
      <p:sp>
        <p:nvSpPr>
          <p:cNvPr id="35" name="Text 27"/>
          <p:cNvSpPr txBox="1"/>
          <p:nvPr/>
        </p:nvSpPr>
        <p:spPr>
          <a:xfrm>
            <a:off x="1188720" y="4672584"/>
            <a:ext cx="2926080" cy="640080"/>
          </a:xfrm>
          <a:prstGeom prst="rect">
            <a:avLst/>
          </a:prstGeom>
          <a:noFill/>
          <a:ln/>
        </p:spPr>
        <p:txBody>
          <a:bodyPr wrap="square" lIns="0" tIns="0" rIns="0" bIns="0" rtlCol="0" anchor="t"/>
          <a:lstStyle/>
          <a:p>
            <a:pPr indent="0" marL="0">
              <a:buNone/>
            </a:pPr>
            <a:r>
              <a:rPr lang="en-US" sz="1250" dirty="0">
                <a:solidFill>
                  <a:schemeClr val="tx2"/>
                </a:solidFill>
              </a:rPr>
              <a:t>a manual kubectl edit is reverted to what Git says</a:t>
            </a:r>
            <a:endParaRPr lang="en-US" sz="1250" dirty="0"/>
          </a:p>
        </p:txBody>
      </p:sp>
      <p:sp>
        <p:nvSpPr>
          <p:cNvPr id="36" name="prop-badge-1-circle"/>
          <p:cNvSpPr/>
          <p:nvPr/>
        </p:nvSpPr>
        <p:spPr>
          <a:xfrm>
            <a:off x="4297680" y="4343400"/>
            <a:ext cx="457200" cy="457200"/>
          </a:xfrm>
          <a:prstGeom prst="ellipse">
            <a:avLst/>
          </a:prstGeom>
          <a:solidFill>
            <a:schemeClr val="tx1"/>
          </a:solidFill>
          <a:ln w="12700">
            <a:solidFill>
              <a:schemeClr val="tx1"/>
            </a:solidFill>
            <a:prstDash val="solid"/>
          </a:ln>
        </p:spPr>
      </p:sp>
      <p:pic>
        <p:nvPicPr>
          <p:cNvPr id="37" name="prop-badge-1-icon" descr="preencoded.png">    </p:cNvPr>
          <p:cNvPicPr>
            <a:picLocks noChangeAspect="1"/>
          </p:cNvPicPr>
          <p:nvPr/>
        </p:nvPicPr>
        <p:blipFill>
          <a:blip r:embed="rId7"/>
          <a:stretch>
            <a:fillRect/>
          </a:stretch>
        </p:blipFill>
        <p:spPr>
          <a:xfrm>
            <a:off x="4411980" y="4457700"/>
            <a:ext cx="228600" cy="228600"/>
          </a:xfrm>
          <a:prstGeom prst="rect">
            <a:avLst/>
          </a:prstGeom>
        </p:spPr>
      </p:pic>
      <p:sp>
        <p:nvSpPr>
          <p:cNvPr id="38" name="Text 29"/>
          <p:cNvSpPr txBox="1"/>
          <p:nvPr/>
        </p:nvSpPr>
        <p:spPr>
          <a:xfrm>
            <a:off x="4937760" y="4325112"/>
            <a:ext cx="2926080" cy="32004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prune</a:t>
            </a:r>
            <a:endParaRPr lang="en-US" sz="1500" dirty="0"/>
          </a:p>
        </p:txBody>
      </p:sp>
      <p:sp>
        <p:nvSpPr>
          <p:cNvPr id="39" name="Text 30"/>
          <p:cNvSpPr txBox="1"/>
          <p:nvPr/>
        </p:nvSpPr>
        <p:spPr>
          <a:xfrm>
            <a:off x="4937760" y="4672584"/>
            <a:ext cx="2926080" cy="640080"/>
          </a:xfrm>
          <a:prstGeom prst="rect">
            <a:avLst/>
          </a:prstGeom>
          <a:noFill/>
          <a:ln/>
        </p:spPr>
        <p:txBody>
          <a:bodyPr wrap="square" lIns="0" tIns="0" rIns="0" bIns="0" rtlCol="0" anchor="t"/>
          <a:lstStyle/>
          <a:p>
            <a:pPr indent="0" marL="0">
              <a:buNone/>
            </a:pPr>
            <a:r>
              <a:rPr lang="en-US" sz="1250" dirty="0">
                <a:solidFill>
                  <a:schemeClr val="tx2"/>
                </a:solidFill>
              </a:rPr>
              <a:t>resources deleted from Git are deleted from the cluster</a:t>
            </a:r>
            <a:endParaRPr lang="en-US" sz="1250" dirty="0"/>
          </a:p>
        </p:txBody>
      </p:sp>
      <p:sp>
        <p:nvSpPr>
          <p:cNvPr id="40" name="prop-badge-2-circle"/>
          <p:cNvSpPr/>
          <p:nvPr/>
        </p:nvSpPr>
        <p:spPr>
          <a:xfrm>
            <a:off x="8046720" y="4343400"/>
            <a:ext cx="457200" cy="457200"/>
          </a:xfrm>
          <a:prstGeom prst="ellipse">
            <a:avLst/>
          </a:prstGeom>
          <a:solidFill>
            <a:schemeClr val="tx1"/>
          </a:solidFill>
          <a:ln w="12700">
            <a:solidFill>
              <a:schemeClr val="tx1"/>
            </a:solidFill>
            <a:prstDash val="solid"/>
          </a:ln>
        </p:spPr>
      </p:sp>
      <p:pic>
        <p:nvPicPr>
          <p:cNvPr id="41" name="prop-badge-2-icon" descr="preencoded.png">    </p:cNvPr>
          <p:cNvPicPr>
            <a:picLocks noChangeAspect="1"/>
          </p:cNvPicPr>
          <p:nvPr/>
        </p:nvPicPr>
        <p:blipFill>
          <a:blip r:embed="rId8"/>
          <a:stretch>
            <a:fillRect/>
          </a:stretch>
        </p:blipFill>
        <p:spPr>
          <a:xfrm>
            <a:off x="8161020" y="4457700"/>
            <a:ext cx="228600" cy="228600"/>
          </a:xfrm>
          <a:prstGeom prst="rect">
            <a:avLst/>
          </a:prstGeom>
        </p:spPr>
      </p:pic>
      <p:sp>
        <p:nvSpPr>
          <p:cNvPr id="42" name="Text 32"/>
          <p:cNvSpPr txBox="1"/>
          <p:nvPr/>
        </p:nvSpPr>
        <p:spPr>
          <a:xfrm>
            <a:off x="8686800" y="4325112"/>
            <a:ext cx="2926080" cy="32004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rollback</a:t>
            </a:r>
            <a:endParaRPr lang="en-US" sz="1500" dirty="0"/>
          </a:p>
        </p:txBody>
      </p:sp>
      <p:sp>
        <p:nvSpPr>
          <p:cNvPr id="43" name="Text 33"/>
          <p:cNvSpPr txBox="1"/>
          <p:nvPr/>
        </p:nvSpPr>
        <p:spPr>
          <a:xfrm>
            <a:off x="8686800" y="4672584"/>
            <a:ext cx="2926080" cy="640080"/>
          </a:xfrm>
          <a:prstGeom prst="rect">
            <a:avLst/>
          </a:prstGeom>
          <a:noFill/>
          <a:ln/>
        </p:spPr>
        <p:txBody>
          <a:bodyPr wrap="square" lIns="0" tIns="0" rIns="0" bIns="0" rtlCol="0" anchor="t"/>
          <a:lstStyle/>
          <a:p>
            <a:pPr indent="0" marL="0">
              <a:buNone/>
            </a:pPr>
            <a:r>
              <a:rPr lang="en-US" sz="1250" dirty="0">
                <a:solidFill>
                  <a:schemeClr val="tx2"/>
                </a:solidFill>
              </a:rPr>
              <a:t>git revert the tag commit; Argo CD does the rest</a:t>
            </a:r>
            <a:endParaRPr lang="en-US" sz="1250" dirty="0"/>
          </a:p>
        </p:txBody>
      </p:sp>
      <p:sp>
        <p:nvSpPr>
          <p:cNvPr id="44" name="Text 34"/>
          <p:cNvSpPr txBox="1"/>
          <p:nvPr/>
        </p:nvSpPr>
        <p:spPr>
          <a:xfrm>
            <a:off x="548640" y="5577840"/>
            <a:ext cx="7315200" cy="320040"/>
          </a:xfrm>
          <a:prstGeom prst="rect">
            <a:avLst/>
          </a:prstGeom>
          <a:noFill/>
          <a:ln/>
        </p:spPr>
        <p:txBody>
          <a:bodyPr wrap="square" lIns="0" tIns="0" rIns="0" bIns="0" rtlCol="0" anchor="t"/>
          <a:lstStyle/>
          <a:p>
            <a:pPr indent="0" marL="0">
              <a:buNone/>
            </a:pPr>
            <a:r>
              <a:rPr lang="en-US" sz="1200" i="1" dirty="0">
                <a:solidFill>
                  <a:schemeClr val="tx2"/>
                </a:solidFill>
              </a:rPr>
              <a:t>argocd/application.yaml · argocd/install.sh</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Proof: green pipeline, Argo CD in sync</a:t>
            </a:r>
            <a:endParaRPr lang="en-US" sz="3400" dirty="0"/>
          </a:p>
        </p:txBody>
      </p:sp>
      <p:pic>
        <p:nvPicPr>
          <p:cNvPr id="3" name="actions-screenshot" descr="/Users/healthbay/Desktop/capstone/devsecops-python/demo/screenshots/github-actions-run.png">    </p:cNvPr>
          <p:cNvPicPr>
            <a:picLocks noChangeAspect="1"/>
          </p:cNvPicPr>
          <p:nvPr/>
        </p:nvPicPr>
        <p:blipFill>
          <a:blip r:embed="rId1"/>
          <a:stretch>
            <a:fillRect/>
          </a:stretch>
        </p:blipFill>
        <p:spPr>
          <a:xfrm>
            <a:off x="548640" y="1371600"/>
            <a:ext cx="5349240" cy="3343275"/>
          </a:xfrm>
          <a:prstGeom prst="rect">
            <a:avLst/>
          </a:prstGeom>
          <a:effectLst>
            <a:outerShdw sx="100000" sy="100000" kx="0" ky="0" algn="bl" rotWithShape="0" blurRad="152400" dist="38100" dir="5400000">
              <a:srgbClr val="101828">
                <a:alpha val="25000"/>
              </a:srgbClr>
            </a:outerShdw>
          </a:effectLst>
        </p:spPr>
      </p:pic>
      <p:pic>
        <p:nvPicPr>
          <p:cNvPr id="4" name="argocd-screenshot" descr="/Users/healthbay/Desktop/capstone/devsecops-python/demo/screenshots/argocd-app.png">    </p:cNvPr>
          <p:cNvPicPr>
            <a:picLocks noChangeAspect="1"/>
          </p:cNvPicPr>
          <p:nvPr/>
        </p:nvPicPr>
        <p:blipFill>
          <a:blip r:embed="rId2"/>
          <a:stretch>
            <a:fillRect/>
          </a:stretch>
        </p:blipFill>
        <p:spPr>
          <a:xfrm>
            <a:off x="6291072" y="1371600"/>
            <a:ext cx="5349240" cy="3343275"/>
          </a:xfrm>
          <a:prstGeom prst="rect">
            <a:avLst/>
          </a:prstGeom>
          <a:effectLst>
            <a:outerShdw sx="100000" sy="100000" kx="0" ky="0" algn="bl" rotWithShape="0" blurRad="152400" dist="38100" dir="5400000">
              <a:srgbClr val="101828">
                <a:alpha val="25000"/>
              </a:srgbClr>
            </a:outerShdw>
          </a:effectLst>
        </p:spPr>
      </p:pic>
      <p:sp>
        <p:nvSpPr>
          <p:cNvPr id="5" name="Text 1"/>
          <p:cNvSpPr txBox="1"/>
          <p:nvPr/>
        </p:nvSpPr>
        <p:spPr>
          <a:xfrm>
            <a:off x="548640" y="4846320"/>
            <a:ext cx="5349240" cy="640080"/>
          </a:xfrm>
          <a:prstGeom prst="rect">
            <a:avLst/>
          </a:prstGeom>
          <a:noFill/>
          <a:ln/>
        </p:spPr>
        <p:txBody>
          <a:bodyPr wrap="square" lIns="0" tIns="0" rIns="0" bIns="0" rtlCol="0" anchor="t"/>
          <a:lstStyle/>
          <a:p>
            <a:pPr indent="0" marL="0">
              <a:buNone/>
            </a:pPr>
            <a:r>
              <a:rPr lang="en-US" sz="1300" b="1" dirty="0">
                <a:solidFill>
                  <a:schemeClr val="tx1"/>
                </a:solidFill>
              </a:rPr>
              <a:t>GitHub Actions: </a:t>
            </a:r>
            <a:pPr indent="0" marL="0">
              <a:buNone/>
            </a:pPr>
            <a:r>
              <a:rPr lang="en-US" sz="1300" dirty="0">
                <a:solidFill>
                  <a:schemeClr val="tx2"/>
                </a:solidFill>
              </a:rPr>
              <a:t>all 5 jobs green; images pushed to GHCR tagged with the commit SHA</a:t>
            </a:r>
            <a:endParaRPr lang="en-US" sz="1300" dirty="0"/>
          </a:p>
        </p:txBody>
      </p:sp>
      <p:sp>
        <p:nvSpPr>
          <p:cNvPr id="6" name="Text 2"/>
          <p:cNvSpPr txBox="1"/>
          <p:nvPr/>
        </p:nvSpPr>
        <p:spPr>
          <a:xfrm>
            <a:off x="6291072" y="4846320"/>
            <a:ext cx="5349240" cy="640080"/>
          </a:xfrm>
          <a:prstGeom prst="rect">
            <a:avLst/>
          </a:prstGeom>
          <a:noFill/>
          <a:ln/>
        </p:spPr>
        <p:txBody>
          <a:bodyPr wrap="square" lIns="0" tIns="0" rIns="0" bIns="0" rtlCol="0" anchor="t"/>
          <a:lstStyle/>
          <a:p>
            <a:pPr indent="0" marL="0">
              <a:buNone/>
            </a:pPr>
            <a:r>
              <a:rPr lang="en-US" sz="1300" b="1" dirty="0">
                <a:solidFill>
                  <a:schemeClr val="tx1"/>
                </a:solidFill>
              </a:rPr>
              <a:t>Argo CD: </a:t>
            </a:r>
            <a:pPr indent="0" marL="0">
              <a:buNone/>
            </a:pPr>
            <a:r>
              <a:rPr lang="en-US" sz="1300" dirty="0">
                <a:solidFill>
                  <a:schemeClr val="tx2"/>
                </a:solidFill>
              </a:rPr>
              <a:t>Synced + Healthy at the bot's chore(gitops) commit; manual scale-down reverted in ~6 s</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Observability: Prometheus + Grafana</a:t>
            </a:r>
            <a:endParaRPr lang="en-US" sz="3400" dirty="0"/>
          </a:p>
        </p:txBody>
      </p:sp>
      <p:pic>
        <p:nvPicPr>
          <p:cNvPr id="3" name="grafana-screenshot" descr="/Users/healthbay/Desktop/capstone/devsecops-python/demo/screenshots/grafana-dashboard.png">    </p:cNvPr>
          <p:cNvPicPr>
            <a:picLocks noChangeAspect="1"/>
          </p:cNvPicPr>
          <p:nvPr/>
        </p:nvPicPr>
        <p:blipFill>
          <a:blip r:embed="rId1"/>
          <a:stretch>
            <a:fillRect/>
          </a:stretch>
        </p:blipFill>
        <p:spPr>
          <a:xfrm>
            <a:off x="548640" y="1371600"/>
            <a:ext cx="6949440" cy="4343400"/>
          </a:xfrm>
          <a:prstGeom prst="rect">
            <a:avLst/>
          </a:prstGeom>
          <a:effectLst>
            <a:outerShdw sx="100000" sy="100000" kx="0" ky="0" algn="bl" rotWithShape="0" blurRad="152400" dist="38100" dir="5400000">
              <a:srgbClr val="101828">
                <a:alpha val="25000"/>
              </a:srgbClr>
            </a:outerShdw>
          </a:effectLst>
        </p:spPr>
      </p:pic>
      <p:sp>
        <p:nvSpPr>
          <p:cNvPr id="4" name="obs-badge-0-circle"/>
          <p:cNvSpPr/>
          <p:nvPr/>
        </p:nvSpPr>
        <p:spPr>
          <a:xfrm>
            <a:off x="7863840" y="1371600"/>
            <a:ext cx="502920" cy="502920"/>
          </a:xfrm>
          <a:prstGeom prst="ellipse">
            <a:avLst/>
          </a:prstGeom>
          <a:solidFill>
            <a:schemeClr val="accent2"/>
          </a:solidFill>
          <a:ln w="12700">
            <a:solidFill>
              <a:schemeClr val="accent2"/>
            </a:solidFill>
            <a:prstDash val="solid"/>
          </a:ln>
        </p:spPr>
      </p:sp>
      <p:pic>
        <p:nvPicPr>
          <p:cNvPr id="5" name="obs-badge-0-icon" descr="preencoded.png">    </p:cNvPr>
          <p:cNvPicPr>
            <a:picLocks noChangeAspect="1"/>
          </p:cNvPicPr>
          <p:nvPr/>
        </p:nvPicPr>
        <p:blipFill>
          <a:blip r:embed="rId2"/>
          <a:stretch>
            <a:fillRect/>
          </a:stretch>
        </p:blipFill>
        <p:spPr>
          <a:xfrm>
            <a:off x="7989570" y="1497330"/>
            <a:ext cx="251460" cy="251460"/>
          </a:xfrm>
          <a:prstGeom prst="rect">
            <a:avLst/>
          </a:prstGeom>
        </p:spPr>
      </p:pic>
      <p:sp>
        <p:nvSpPr>
          <p:cNvPr id="6" name="Text 2"/>
          <p:cNvSpPr txBox="1"/>
          <p:nvPr/>
        </p:nvSpPr>
        <p:spPr>
          <a:xfrm>
            <a:off x="8549640" y="1353312"/>
            <a:ext cx="3108960" cy="320040"/>
          </a:xfrm>
          <a:prstGeom prst="rect">
            <a:avLst/>
          </a:prstGeom>
          <a:noFill/>
          <a:ln/>
        </p:spPr>
        <p:txBody>
          <a:bodyPr wrap="square" lIns="0" tIns="0" rIns="0" bIns="0" rtlCol="0" anchor="t"/>
          <a:lstStyle/>
          <a:p>
            <a:pPr indent="0" marL="0">
              <a:buNone/>
            </a:pPr>
            <a:r>
              <a:rPr lang="en-US" sz="1500" b="1" dirty="0">
                <a:solidFill>
                  <a:schemeClr val="tx1"/>
                </a:solidFill>
              </a:rPr>
              <a:t>/metrics</a:t>
            </a:r>
            <a:endParaRPr lang="en-US" sz="1500" dirty="0"/>
          </a:p>
        </p:txBody>
      </p:sp>
      <p:sp>
        <p:nvSpPr>
          <p:cNvPr id="7" name="Text 3"/>
          <p:cNvSpPr txBox="1"/>
          <p:nvPr/>
        </p:nvSpPr>
        <p:spPr>
          <a:xfrm>
            <a:off x="8549640" y="1700784"/>
            <a:ext cx="3108960" cy="1005840"/>
          </a:xfrm>
          <a:prstGeom prst="rect">
            <a:avLst/>
          </a:prstGeom>
          <a:noFill/>
          <a:ln/>
        </p:spPr>
        <p:txBody>
          <a:bodyPr wrap="square" lIns="0" tIns="0" rIns="0" bIns="0" rtlCol="0" anchor="t"/>
          <a:lstStyle/>
          <a:p>
            <a:pPr indent="0" marL="0">
              <a:buNone/>
            </a:pPr>
            <a:r>
              <a:rPr lang="en-US" sz="1250" dirty="0">
                <a:solidFill>
                  <a:schemeClr val="tx2"/>
                </a:solidFill>
              </a:rPr>
              <a:t>request count + latency histograms, and a business counter taskboard_task_events_total</a:t>
            </a:r>
            <a:endParaRPr lang="en-US" sz="1250" dirty="0"/>
          </a:p>
        </p:txBody>
      </p:sp>
      <p:sp>
        <p:nvSpPr>
          <p:cNvPr id="8" name="obs-badge-1-circle"/>
          <p:cNvSpPr/>
          <p:nvPr/>
        </p:nvSpPr>
        <p:spPr>
          <a:xfrm>
            <a:off x="7863840" y="2834640"/>
            <a:ext cx="502920" cy="502920"/>
          </a:xfrm>
          <a:prstGeom prst="ellipse">
            <a:avLst/>
          </a:prstGeom>
          <a:solidFill>
            <a:schemeClr val="accent2"/>
          </a:solidFill>
          <a:ln w="12700">
            <a:solidFill>
              <a:schemeClr val="accent2"/>
            </a:solidFill>
            <a:prstDash val="solid"/>
          </a:ln>
        </p:spPr>
      </p:sp>
      <p:pic>
        <p:nvPicPr>
          <p:cNvPr id="9" name="obs-badge-1-icon" descr="preencoded.png">    </p:cNvPr>
          <p:cNvPicPr>
            <a:picLocks noChangeAspect="1"/>
          </p:cNvPicPr>
          <p:nvPr/>
        </p:nvPicPr>
        <p:blipFill>
          <a:blip r:embed="rId3"/>
          <a:stretch>
            <a:fillRect/>
          </a:stretch>
        </p:blipFill>
        <p:spPr>
          <a:xfrm>
            <a:off x="7989570" y="2960370"/>
            <a:ext cx="251460" cy="251460"/>
          </a:xfrm>
          <a:prstGeom prst="rect">
            <a:avLst/>
          </a:prstGeom>
        </p:spPr>
      </p:pic>
      <p:sp>
        <p:nvSpPr>
          <p:cNvPr id="10" name="Text 5"/>
          <p:cNvSpPr txBox="1"/>
          <p:nvPr/>
        </p:nvSpPr>
        <p:spPr>
          <a:xfrm>
            <a:off x="8549640" y="2816352"/>
            <a:ext cx="3108960" cy="320040"/>
          </a:xfrm>
          <a:prstGeom prst="rect">
            <a:avLst/>
          </a:prstGeom>
          <a:noFill/>
          <a:ln/>
        </p:spPr>
        <p:txBody>
          <a:bodyPr wrap="square" lIns="0" tIns="0" rIns="0" bIns="0" rtlCol="0" anchor="t"/>
          <a:lstStyle/>
          <a:p>
            <a:pPr indent="0" marL="0">
              <a:buNone/>
            </a:pPr>
            <a:r>
              <a:rPr lang="en-US" sz="1500" b="1" dirty="0">
                <a:solidFill>
                  <a:schemeClr val="tx1"/>
                </a:solidFill>
              </a:rPr>
              <a:t>ServiceMonitor</a:t>
            </a:r>
            <a:endParaRPr lang="en-US" sz="1500" dirty="0"/>
          </a:p>
        </p:txBody>
      </p:sp>
      <p:sp>
        <p:nvSpPr>
          <p:cNvPr id="11" name="Text 6"/>
          <p:cNvSpPr txBox="1"/>
          <p:nvPr/>
        </p:nvSpPr>
        <p:spPr>
          <a:xfrm>
            <a:off x="8549640" y="3163824"/>
            <a:ext cx="3108960" cy="1005840"/>
          </a:xfrm>
          <a:prstGeom prst="rect">
            <a:avLst/>
          </a:prstGeom>
          <a:noFill/>
          <a:ln/>
        </p:spPr>
        <p:txBody>
          <a:bodyPr wrap="square" lIns="0" tIns="0" rIns="0" bIns="0" rtlCol="0" anchor="t"/>
          <a:lstStyle/>
          <a:p>
            <a:pPr indent="0" marL="0">
              <a:buNone/>
            </a:pPr>
            <a:r>
              <a:rPr lang="en-US" sz="1250" dirty="0">
                <a:solidFill>
                  <a:schemeClr val="tx2"/>
                </a:solidFill>
              </a:rPr>
              <a:t>Prometheus Operator discovers every backend pod automatically — 4/4 targets UP after scaling</a:t>
            </a:r>
            <a:endParaRPr lang="en-US" sz="1250" dirty="0"/>
          </a:p>
        </p:txBody>
      </p:sp>
      <p:sp>
        <p:nvSpPr>
          <p:cNvPr id="12" name="obs-badge-2-circle"/>
          <p:cNvSpPr/>
          <p:nvPr/>
        </p:nvSpPr>
        <p:spPr>
          <a:xfrm>
            <a:off x="7863840" y="4297680"/>
            <a:ext cx="502920" cy="502920"/>
          </a:xfrm>
          <a:prstGeom prst="ellipse">
            <a:avLst/>
          </a:prstGeom>
          <a:solidFill>
            <a:schemeClr val="accent2"/>
          </a:solidFill>
          <a:ln w="12700">
            <a:solidFill>
              <a:schemeClr val="accent2"/>
            </a:solidFill>
            <a:prstDash val="solid"/>
          </a:ln>
        </p:spPr>
      </p:sp>
      <p:pic>
        <p:nvPicPr>
          <p:cNvPr id="13" name="obs-badge-2-icon" descr="preencoded.png">    </p:cNvPr>
          <p:cNvPicPr>
            <a:picLocks noChangeAspect="1"/>
          </p:cNvPicPr>
          <p:nvPr/>
        </p:nvPicPr>
        <p:blipFill>
          <a:blip r:embed="rId4"/>
          <a:stretch>
            <a:fillRect/>
          </a:stretch>
        </p:blipFill>
        <p:spPr>
          <a:xfrm>
            <a:off x="7989570" y="4423410"/>
            <a:ext cx="251460" cy="251460"/>
          </a:xfrm>
          <a:prstGeom prst="rect">
            <a:avLst/>
          </a:prstGeom>
        </p:spPr>
      </p:pic>
      <p:sp>
        <p:nvSpPr>
          <p:cNvPr id="14" name="Text 8"/>
          <p:cNvSpPr txBox="1"/>
          <p:nvPr/>
        </p:nvSpPr>
        <p:spPr>
          <a:xfrm>
            <a:off x="8549640" y="4279392"/>
            <a:ext cx="3108960" cy="320040"/>
          </a:xfrm>
          <a:prstGeom prst="rect">
            <a:avLst/>
          </a:prstGeom>
          <a:noFill/>
          <a:ln/>
        </p:spPr>
        <p:txBody>
          <a:bodyPr wrap="square" lIns="0" tIns="0" rIns="0" bIns="0" rtlCol="0" anchor="t"/>
          <a:lstStyle/>
          <a:p>
            <a:pPr indent="0" marL="0">
              <a:buNone/>
            </a:pPr>
            <a:r>
              <a:rPr lang="en-US" sz="1500" b="1" dirty="0">
                <a:solidFill>
                  <a:schemeClr val="tx1"/>
                </a:solidFill>
              </a:rPr>
              <a:t>Dashboard as code</a:t>
            </a:r>
            <a:endParaRPr lang="en-US" sz="1500" dirty="0"/>
          </a:p>
        </p:txBody>
      </p:sp>
      <p:sp>
        <p:nvSpPr>
          <p:cNvPr id="15" name="Text 9"/>
          <p:cNvSpPr txBox="1"/>
          <p:nvPr/>
        </p:nvSpPr>
        <p:spPr>
          <a:xfrm>
            <a:off x="8549640" y="4626864"/>
            <a:ext cx="3108960" cy="1005840"/>
          </a:xfrm>
          <a:prstGeom prst="rect">
            <a:avLst/>
          </a:prstGeom>
          <a:noFill/>
          <a:ln/>
        </p:spPr>
        <p:txBody>
          <a:bodyPr wrap="square" lIns="0" tIns="0" rIns="0" bIns="0" rtlCol="0" anchor="t"/>
          <a:lstStyle/>
          <a:p>
            <a:pPr indent="0" marL="0">
              <a:buNone/>
            </a:pPr>
            <a:r>
              <a:rPr lang="en-US" sz="1250" dirty="0">
                <a:solidFill>
                  <a:schemeClr val="tx2"/>
                </a:solidFill>
              </a:rPr>
              <a:t>Grafana JSON ships in the Helm chart; the sidecar loads it, no clicking</a:t>
            </a:r>
            <a:endParaRPr lang="en-US" sz="1250" dirty="0"/>
          </a:p>
        </p:txBody>
      </p:sp>
      <p:sp>
        <p:nvSpPr>
          <p:cNvPr id="16" name="Text 10"/>
          <p:cNvSpPr txBox="1"/>
          <p:nvPr/>
        </p:nvSpPr>
        <p:spPr>
          <a:xfrm>
            <a:off x="548640" y="5806440"/>
            <a:ext cx="6949440" cy="411480"/>
          </a:xfrm>
          <a:prstGeom prst="rect">
            <a:avLst/>
          </a:prstGeom>
          <a:noFill/>
          <a:ln/>
        </p:spPr>
        <p:txBody>
          <a:bodyPr wrap="square" lIns="0" tIns="0" rIns="0" bIns="0" rtlCol="0" anchor="t"/>
          <a:lstStyle/>
          <a:p>
            <a:pPr indent="0" marL="0">
              <a:buNone/>
            </a:pPr>
            <a:r>
              <a:rPr lang="en-US" sz="1100" i="1" dirty="0">
                <a:solidFill>
                  <a:schemeClr val="tx2"/>
                </a:solidFill>
              </a:rPr>
              <a:t>Live panels: request rate, p95 latency, 5xx ratio, targets UP, per-endpoint traffic, status classes, CPU per pod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Autoscaling in action: 2 → 4 pods under load</a:t>
            </a:r>
            <a:endParaRPr lang="en-US" sz="3400" dirty="0"/>
          </a:p>
        </p:txBody>
      </p:sp>
      <p:sp>
        <p:nvSpPr>
          <p:cNvPr id="3" name="timeline"/>
          <p:cNvSpPr/>
          <p:nvPr/>
        </p:nvSpPr>
        <p:spPr>
          <a:xfrm>
            <a:off x="960120" y="2057400"/>
            <a:ext cx="0" cy="3017520"/>
          </a:xfrm>
          <a:prstGeom prst="line">
            <a:avLst/>
          </a:prstGeom>
          <a:noFill/>
          <a:ln w="25400">
            <a:solidFill>
              <a:schemeClr val="accent6"/>
            </a:solidFill>
            <a:prstDash val="solid"/>
          </a:ln>
        </p:spPr>
      </p:sp>
      <p:sp>
        <p:nvSpPr>
          <p:cNvPr id="4" name="replica-dot-0"/>
          <p:cNvSpPr/>
          <p:nvPr/>
        </p:nvSpPr>
        <p:spPr>
          <a:xfrm>
            <a:off x="548640" y="1463040"/>
            <a:ext cx="822960" cy="822960"/>
          </a:xfrm>
          <a:prstGeom prst="ellipse">
            <a:avLst/>
          </a:prstGeom>
          <a:solidFill>
            <a:schemeClr val="accent6"/>
          </a:solidFill>
          <a:ln w="38100">
            <a:solidFill>
              <a:schemeClr val="bg1"/>
            </a:solidFill>
            <a:prstDash val="solid"/>
          </a:ln>
        </p:spPr>
      </p:sp>
      <p:sp>
        <p:nvSpPr>
          <p:cNvPr id="5" name="Text 3"/>
          <p:cNvSpPr txBox="1"/>
          <p:nvPr/>
        </p:nvSpPr>
        <p:spPr>
          <a:xfrm>
            <a:off x="548640" y="146304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6" name="Text 4"/>
          <p:cNvSpPr txBox="1"/>
          <p:nvPr/>
        </p:nvSpPr>
        <p:spPr>
          <a:xfrm>
            <a:off x="1600200" y="1508760"/>
            <a:ext cx="2743200" cy="320040"/>
          </a:xfrm>
          <a:prstGeom prst="rect">
            <a:avLst/>
          </a:prstGeom>
          <a:noFill/>
          <a:ln/>
        </p:spPr>
        <p:txBody>
          <a:bodyPr wrap="square" lIns="0" tIns="0" rIns="0" bIns="0" rtlCol="0" anchor="t"/>
          <a:lstStyle/>
          <a:p>
            <a:pPr indent="0" marL="0">
              <a:buNone/>
            </a:pPr>
            <a:r>
              <a:rPr lang="en-US" sz="1500" b="1" dirty="0">
                <a:solidFill>
                  <a:schemeClr val="tx1"/>
                </a:solidFill>
              </a:rPr>
              <a:t>baseline</a:t>
            </a:r>
            <a:endParaRPr lang="en-US" sz="1500" dirty="0"/>
          </a:p>
        </p:txBody>
      </p:sp>
      <p:sp>
        <p:nvSpPr>
          <p:cNvPr id="7" name="Text 5"/>
          <p:cNvSpPr txBox="1"/>
          <p:nvPr/>
        </p:nvSpPr>
        <p:spPr>
          <a:xfrm>
            <a:off x="1600200" y="1847088"/>
            <a:ext cx="4754880" cy="365760"/>
          </a:xfrm>
          <a:prstGeom prst="rect">
            <a:avLst/>
          </a:prstGeom>
          <a:noFill/>
          <a:ln/>
        </p:spPr>
        <p:txBody>
          <a:bodyPr wrap="square" lIns="0" tIns="0" rIns="0" bIns="0" rtlCol="0" anchor="t"/>
          <a:lstStyle/>
          <a:p>
            <a:pPr indent="0" marL="0">
              <a:buNone/>
            </a:pPr>
            <a:r>
              <a:rPr lang="en-US" sz="1250" dirty="0">
                <a:solidFill>
                  <a:schemeClr val="tx2"/>
                </a:solidFill>
                <a:latin typeface="Courier New" pitchFamily="34" charset="0"/>
                <a:ea typeface="Courier New" pitchFamily="34" charset="-122"/>
                <a:cs typeface="Courier New" pitchFamily="34" charset="-120"/>
              </a:rPr>
              <a:t>New size: 2; replicas below Spec.MinReplicas</a:t>
            </a:r>
            <a:endParaRPr lang="en-US" sz="1250" dirty="0"/>
          </a:p>
        </p:txBody>
      </p:sp>
      <p:sp>
        <p:nvSpPr>
          <p:cNvPr id="8" name="replica-dot-1"/>
          <p:cNvSpPr/>
          <p:nvPr/>
        </p:nvSpPr>
        <p:spPr>
          <a:xfrm>
            <a:off x="548640" y="2880360"/>
            <a:ext cx="822960" cy="822960"/>
          </a:xfrm>
          <a:prstGeom prst="ellipse">
            <a:avLst/>
          </a:prstGeom>
          <a:solidFill>
            <a:schemeClr val="accent2"/>
          </a:solidFill>
          <a:ln w="38100">
            <a:solidFill>
              <a:schemeClr val="bg1"/>
            </a:solidFill>
            <a:prstDash val="solid"/>
          </a:ln>
        </p:spPr>
      </p:sp>
      <p:sp>
        <p:nvSpPr>
          <p:cNvPr id="9" name="Text 7"/>
          <p:cNvSpPr txBox="1"/>
          <p:nvPr/>
        </p:nvSpPr>
        <p:spPr>
          <a:xfrm>
            <a:off x="548640" y="288036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0" name="Text 8"/>
          <p:cNvSpPr txBox="1"/>
          <p:nvPr/>
        </p:nvSpPr>
        <p:spPr>
          <a:xfrm>
            <a:off x="1600200" y="2926080"/>
            <a:ext cx="2743200" cy="320040"/>
          </a:xfrm>
          <a:prstGeom prst="rect">
            <a:avLst/>
          </a:prstGeom>
          <a:noFill/>
          <a:ln/>
        </p:spPr>
        <p:txBody>
          <a:bodyPr wrap="square" lIns="0" tIns="0" rIns="0" bIns="0" rtlCol="0" anchor="t"/>
          <a:lstStyle/>
          <a:p>
            <a:pPr indent="0" marL="0">
              <a:buNone/>
            </a:pPr>
            <a:r>
              <a:rPr lang="en-US" sz="1500" b="1" dirty="0">
                <a:solidFill>
                  <a:schemeClr val="tx1"/>
                </a:solidFill>
              </a:rPr>
              <a:t>+4m45s</a:t>
            </a:r>
            <a:endParaRPr lang="en-US" sz="1500" dirty="0"/>
          </a:p>
        </p:txBody>
      </p:sp>
      <p:sp>
        <p:nvSpPr>
          <p:cNvPr id="11" name="Text 9"/>
          <p:cNvSpPr txBox="1"/>
          <p:nvPr/>
        </p:nvSpPr>
        <p:spPr>
          <a:xfrm>
            <a:off x="1600200" y="3264408"/>
            <a:ext cx="4754880" cy="365760"/>
          </a:xfrm>
          <a:prstGeom prst="rect">
            <a:avLst/>
          </a:prstGeom>
          <a:noFill/>
          <a:ln/>
        </p:spPr>
        <p:txBody>
          <a:bodyPr wrap="square" lIns="0" tIns="0" rIns="0" bIns="0" rtlCol="0" anchor="t"/>
          <a:lstStyle/>
          <a:p>
            <a:pPr indent="0" marL="0">
              <a:buNone/>
            </a:pPr>
            <a:r>
              <a:rPr lang="en-US" sz="1250" dirty="0">
                <a:solidFill>
                  <a:schemeClr val="tx2"/>
                </a:solidFill>
                <a:latin typeface="Courier New" pitchFamily="34" charset="0"/>
                <a:ea typeface="Courier New" pitchFamily="34" charset="-122"/>
                <a:cs typeface="Courier New" pitchFamily="34" charset="-120"/>
              </a:rPr>
              <a:t>New size: 3; cpu utilization above target</a:t>
            </a:r>
            <a:endParaRPr lang="en-US" sz="1250" dirty="0"/>
          </a:p>
        </p:txBody>
      </p:sp>
      <p:sp>
        <p:nvSpPr>
          <p:cNvPr id="12" name="replica-dot-2"/>
          <p:cNvSpPr/>
          <p:nvPr/>
        </p:nvSpPr>
        <p:spPr>
          <a:xfrm>
            <a:off x="548640" y="4297680"/>
            <a:ext cx="822960" cy="822960"/>
          </a:xfrm>
          <a:prstGeom prst="ellipse">
            <a:avLst/>
          </a:prstGeom>
          <a:solidFill>
            <a:schemeClr val="accent1"/>
          </a:solidFill>
          <a:ln w="38100">
            <a:solidFill>
              <a:schemeClr val="bg1"/>
            </a:solidFill>
            <a:prstDash val="solid"/>
          </a:ln>
        </p:spPr>
      </p:sp>
      <p:sp>
        <p:nvSpPr>
          <p:cNvPr id="13" name="Text 11"/>
          <p:cNvSpPr txBox="1"/>
          <p:nvPr/>
        </p:nvSpPr>
        <p:spPr>
          <a:xfrm>
            <a:off x="548640" y="429768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4" name="Text 12"/>
          <p:cNvSpPr txBox="1"/>
          <p:nvPr/>
        </p:nvSpPr>
        <p:spPr>
          <a:xfrm>
            <a:off x="1600200" y="4343400"/>
            <a:ext cx="2743200" cy="320040"/>
          </a:xfrm>
          <a:prstGeom prst="rect">
            <a:avLst/>
          </a:prstGeom>
          <a:noFill/>
          <a:ln/>
        </p:spPr>
        <p:txBody>
          <a:bodyPr wrap="square" lIns="0" tIns="0" rIns="0" bIns="0" rtlCol="0" anchor="t"/>
          <a:lstStyle/>
          <a:p>
            <a:pPr indent="0" marL="0">
              <a:buNone/>
            </a:pPr>
            <a:r>
              <a:rPr lang="en-US" sz="1500" b="1" dirty="0">
                <a:solidFill>
                  <a:schemeClr val="tx1"/>
                </a:solidFill>
              </a:rPr>
              <a:t>+6m31s</a:t>
            </a:r>
            <a:endParaRPr lang="en-US" sz="1500" dirty="0"/>
          </a:p>
        </p:txBody>
      </p:sp>
      <p:sp>
        <p:nvSpPr>
          <p:cNvPr id="15" name="Text 13"/>
          <p:cNvSpPr txBox="1"/>
          <p:nvPr/>
        </p:nvSpPr>
        <p:spPr>
          <a:xfrm>
            <a:off x="1600200" y="4681728"/>
            <a:ext cx="4754880" cy="365760"/>
          </a:xfrm>
          <a:prstGeom prst="rect">
            <a:avLst/>
          </a:prstGeom>
          <a:noFill/>
          <a:ln/>
        </p:spPr>
        <p:txBody>
          <a:bodyPr wrap="square" lIns="0" tIns="0" rIns="0" bIns="0" rtlCol="0" anchor="t"/>
          <a:lstStyle/>
          <a:p>
            <a:pPr indent="0" marL="0">
              <a:buNone/>
            </a:pPr>
            <a:r>
              <a:rPr lang="en-US" sz="1250" dirty="0">
                <a:solidFill>
                  <a:schemeClr val="tx2"/>
                </a:solidFill>
                <a:latin typeface="Courier New" pitchFamily="34" charset="0"/>
                <a:ea typeface="Courier New" pitchFamily="34" charset="-122"/>
                <a:cs typeface="Courier New" pitchFamily="34" charset="-120"/>
              </a:rPr>
              <a:t>New size: 4; cpu utilization above target</a:t>
            </a:r>
            <a:endParaRPr lang="en-US" sz="1250" dirty="0"/>
          </a:p>
        </p:txBody>
      </p:sp>
      <p:sp>
        <p:nvSpPr>
          <p:cNvPr id="16" name="hpa-card"/>
          <p:cNvSpPr/>
          <p:nvPr/>
        </p:nvSpPr>
        <p:spPr>
          <a:xfrm>
            <a:off x="6766560" y="1463040"/>
            <a:ext cx="4873752" cy="4023360"/>
          </a:xfrm>
          <a:prstGeom prst="roundRect">
            <a:avLst>
              <a:gd name="adj" fmla="val 2727"/>
            </a:avLst>
          </a:prstGeom>
          <a:solidFill>
            <a:schemeClr val="bg2"/>
          </a:solidFill>
          <a:ln w="12700">
            <a:solidFill>
              <a:schemeClr val="bg2"/>
            </a:solidFill>
            <a:prstDash val="solid"/>
          </a:ln>
        </p:spPr>
      </p:sp>
      <p:sp>
        <p:nvSpPr>
          <p:cNvPr id="17" name="Text 15"/>
          <p:cNvSpPr txBox="1"/>
          <p:nvPr/>
        </p:nvSpPr>
        <p:spPr>
          <a:xfrm>
            <a:off x="7086600" y="1737360"/>
            <a:ext cx="4297680" cy="356616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How it works</a:t>
            </a:r>
            <a:endParaRPr lang="en-US" sz="1400" dirty="0"/>
          </a:p>
          <a:p>
            <a:pPr marL="342900" indent="-342900">
              <a:spcAft>
                <a:spcPts val="800"/>
              </a:spcAft>
              <a:buSzPct val="100000"/>
              <a:buChar char="•"/>
            </a:pPr>
            <a:r>
              <a:rPr lang="en-US" sz="1400" dirty="0">
                <a:solidFill>
                  <a:schemeClr val="tx2"/>
                </a:solidFill>
              </a:rPr>
              <a:t>metrics-server reports pod CPU against the 100m request</a:t>
            </a:r>
            <a:endParaRPr lang="en-US" sz="1400" dirty="0"/>
          </a:p>
          <a:p>
            <a:pPr marL="342900" indent="-342900">
              <a:spcAft>
                <a:spcPts val="800"/>
              </a:spcAft>
              <a:buSzPct val="100000"/>
              <a:buChar char="•"/>
            </a:pPr>
            <a:r>
              <a:rPr lang="en-US" sz="1400" dirty="0">
                <a:solidFill>
                  <a:schemeClr val="tx2"/>
                </a:solidFill>
              </a:rPr>
              <a:t>HPA targets 60 % average utilisation, min 2, max 6</a:t>
            </a:r>
            <a:endParaRPr lang="en-US" sz="1400" dirty="0"/>
          </a:p>
          <a:p>
            <a:pPr marL="342900" indent="-342900">
              <a:spcAft>
                <a:spcPts val="800"/>
              </a:spcAft>
              <a:buSzPct val="100000"/>
              <a:buChar char="•"/>
            </a:pPr>
            <a:r>
              <a:rPr lang="en-US" sz="1400" dirty="0">
                <a:solidFill>
                  <a:schemeClr val="tx2"/>
                </a:solidFill>
              </a:rPr>
              <a:t>scripts/load-test.sh drives /api traffic through the Ingress</a:t>
            </a:r>
            <a:endParaRPr lang="en-US" sz="1400" dirty="0"/>
          </a:p>
          <a:p>
            <a:pPr marL="342900" indent="-342900">
              <a:spcAft>
                <a:spcPts val="800"/>
              </a:spcAft>
              <a:buSzPct val="100000"/>
              <a:buChar char="•"/>
            </a:pPr>
            <a:r>
              <a:rPr lang="en-US" sz="1400" dirty="0">
                <a:solidFill>
                  <a:schemeClr val="tx2"/>
                </a:solidFill>
              </a:rPr>
              <a:t>Prometheus picked up each new pod as a target with no config change</a:t>
            </a:r>
            <a:endParaRPr lang="en-US" sz="1400" dirty="0"/>
          </a:p>
          <a:p>
            <a:pPr marL="342900" indent="-342900">
              <a:spcAft>
                <a:spcPts val="800"/>
              </a:spcAft>
              <a:buSzPct val="100000"/>
              <a:buChar char="•"/>
            </a:pPr>
            <a:r>
              <a:rPr lang="en-US" sz="1400" dirty="0">
                <a:solidFill>
                  <a:schemeClr val="tx2"/>
                </a:solidFill>
              </a:rPr>
              <a:t>Scale-down waits 5 minutes (stabilisation window)</a:t>
            </a:r>
            <a:endParaRPr lang="en-US" sz="1400" dirty="0"/>
          </a:p>
        </p:txBody>
      </p:sp>
      <p:sp>
        <p:nvSpPr>
          <p:cNvPr id="18" name="Text 16"/>
          <p:cNvSpPr txBox="1"/>
          <p:nvPr/>
        </p:nvSpPr>
        <p:spPr>
          <a:xfrm>
            <a:off x="548640" y="5760720"/>
            <a:ext cx="8229600" cy="320040"/>
          </a:xfrm>
          <a:prstGeom prst="rect">
            <a:avLst/>
          </a:prstGeom>
          <a:noFill/>
          <a:ln/>
        </p:spPr>
        <p:txBody>
          <a:bodyPr wrap="square" lIns="0" tIns="0" rIns="0" bIns="0" rtlCol="0" anchor="t"/>
          <a:lstStyle/>
          <a:p>
            <a:pPr indent="0" marL="0">
              <a:buNone/>
            </a:pPr>
            <a:r>
              <a:rPr lang="en-US" sz="1100" i="1" dirty="0">
                <a:solidFill>
                  <a:schemeClr val="tx2"/>
                </a:solidFill>
                <a:latin typeface="Courier New" pitchFamily="34" charset="0"/>
                <a:ea typeface="Courier New" pitchFamily="34" charset="-122"/>
                <a:cs typeface="Courier New" pitchFamily="34" charset="-120"/>
              </a:rPr>
              <a:t>kubectl get events -n taskboard --field-selector reason=SuccessfulRescale</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Making it work: 12 defects found and fixed</a:t>
            </a:r>
            <a:endParaRPr lang="en-US" sz="3400" dirty="0"/>
          </a:p>
        </p:txBody>
      </p:sp>
      <p:sp>
        <p:nvSpPr>
          <p:cNvPr id="3" name="bug-card-0"/>
          <p:cNvSpPr/>
          <p:nvPr/>
        </p:nvSpPr>
        <p:spPr>
          <a:xfrm>
            <a:off x="548640" y="1371600"/>
            <a:ext cx="3566160" cy="1005840"/>
          </a:xfrm>
          <a:prstGeom prst="roundRect">
            <a:avLst>
              <a:gd name="adj" fmla="val 10909"/>
            </a:avLst>
          </a:prstGeom>
          <a:solidFill>
            <a:schemeClr val="bg2"/>
          </a:solidFill>
          <a:ln w="12700">
            <a:solidFill>
              <a:schemeClr val="bg2"/>
            </a:solidFill>
            <a:prstDash val="solid"/>
          </a:ln>
        </p:spPr>
      </p:sp>
      <p:sp>
        <p:nvSpPr>
          <p:cNvPr id="4" name="bug-badge-0-circle"/>
          <p:cNvSpPr/>
          <p:nvPr/>
        </p:nvSpPr>
        <p:spPr>
          <a:xfrm>
            <a:off x="731520" y="1645920"/>
            <a:ext cx="411480" cy="411480"/>
          </a:xfrm>
          <a:prstGeom prst="ellipse">
            <a:avLst/>
          </a:prstGeom>
          <a:solidFill>
            <a:schemeClr val="accent1"/>
          </a:solidFill>
          <a:ln w="12700">
            <a:solidFill>
              <a:schemeClr val="accent1"/>
            </a:solidFill>
            <a:prstDash val="solid"/>
          </a:ln>
        </p:spPr>
      </p:sp>
      <p:pic>
        <p:nvPicPr>
          <p:cNvPr id="5" name="bug-badge-0-icon" descr="preencoded.png">    </p:cNvPr>
          <p:cNvPicPr>
            <a:picLocks noChangeAspect="1"/>
          </p:cNvPicPr>
          <p:nvPr/>
        </p:nvPicPr>
        <p:blipFill>
          <a:blip r:embed="rId1"/>
          <a:stretch>
            <a:fillRect/>
          </a:stretch>
        </p:blipFill>
        <p:spPr>
          <a:xfrm>
            <a:off x="834390" y="1748790"/>
            <a:ext cx="205740" cy="205740"/>
          </a:xfrm>
          <a:prstGeom prst="rect">
            <a:avLst/>
          </a:prstGeom>
        </p:spPr>
      </p:pic>
      <p:sp>
        <p:nvSpPr>
          <p:cNvPr id="6" name="Text 3"/>
          <p:cNvSpPr txBox="1"/>
          <p:nvPr/>
        </p:nvSpPr>
        <p:spPr>
          <a:xfrm>
            <a:off x="1280160" y="1527048"/>
            <a:ext cx="2697480" cy="347472"/>
          </a:xfrm>
          <a:prstGeom prst="rect">
            <a:avLst/>
          </a:prstGeom>
          <a:noFill/>
          <a:ln/>
        </p:spPr>
        <p:txBody>
          <a:bodyPr wrap="square" lIns="0" tIns="0" rIns="0" bIns="0" rtlCol="0" anchor="t"/>
          <a:lstStyle/>
          <a:p>
            <a:pPr indent="0" marL="0">
              <a:buNone/>
            </a:pPr>
            <a:r>
              <a:rPr lang="en-US" sz="1300" b="1" dirty="0">
                <a:solidFill>
                  <a:schemeClr val="tx1"/>
                </a:solidFill>
              </a:rPr>
              <a:t>Terraform HCL did not parse</a:t>
            </a:r>
            <a:endParaRPr lang="en-US" sz="1300" dirty="0"/>
          </a:p>
        </p:txBody>
      </p:sp>
      <p:sp>
        <p:nvSpPr>
          <p:cNvPr id="7" name="Text 4"/>
          <p:cNvSpPr txBox="1"/>
          <p:nvPr/>
        </p:nvSpPr>
        <p:spPr>
          <a:xfrm>
            <a:off x="1280160" y="1892808"/>
            <a:ext cx="2697480" cy="347472"/>
          </a:xfrm>
          <a:prstGeom prst="rect">
            <a:avLst/>
          </a:prstGeom>
          <a:noFill/>
          <a:ln/>
        </p:spPr>
        <p:txBody>
          <a:bodyPr wrap="square" lIns="0" tIns="0" rIns="0" bIns="0" rtlCol="0" anchor="t"/>
          <a:lstStyle/>
          <a:p>
            <a:pPr indent="0" marL="0">
              <a:buNone/>
            </a:pPr>
            <a:r>
              <a:rPr lang="en-US" sz="1150" dirty="0">
                <a:solidFill>
                  <a:schemeClr val="tx2"/>
                </a:solidFill>
              </a:rPr>
              <a:t>multi-attribute one-line blocks</a:t>
            </a:r>
            <a:endParaRPr lang="en-US" sz="1150" dirty="0"/>
          </a:p>
        </p:txBody>
      </p:sp>
      <p:sp>
        <p:nvSpPr>
          <p:cNvPr id="8" name="bug-card-1"/>
          <p:cNvSpPr/>
          <p:nvPr/>
        </p:nvSpPr>
        <p:spPr>
          <a:xfrm>
            <a:off x="4297680" y="1371600"/>
            <a:ext cx="3566160" cy="1005840"/>
          </a:xfrm>
          <a:prstGeom prst="roundRect">
            <a:avLst>
              <a:gd name="adj" fmla="val 10909"/>
            </a:avLst>
          </a:prstGeom>
          <a:solidFill>
            <a:schemeClr val="bg2"/>
          </a:solidFill>
          <a:ln w="12700">
            <a:solidFill>
              <a:schemeClr val="bg2"/>
            </a:solidFill>
            <a:prstDash val="solid"/>
          </a:ln>
        </p:spPr>
      </p:sp>
      <p:sp>
        <p:nvSpPr>
          <p:cNvPr id="9" name="bug-badge-1-circle"/>
          <p:cNvSpPr/>
          <p:nvPr/>
        </p:nvSpPr>
        <p:spPr>
          <a:xfrm>
            <a:off x="4480560" y="1645920"/>
            <a:ext cx="411480" cy="411480"/>
          </a:xfrm>
          <a:prstGeom prst="ellipse">
            <a:avLst/>
          </a:prstGeom>
          <a:solidFill>
            <a:schemeClr val="accent1"/>
          </a:solidFill>
          <a:ln w="12700">
            <a:solidFill>
              <a:schemeClr val="accent1"/>
            </a:solidFill>
            <a:prstDash val="solid"/>
          </a:ln>
        </p:spPr>
      </p:sp>
      <p:pic>
        <p:nvPicPr>
          <p:cNvPr id="10" name="bug-badge-1-icon" descr="preencoded.png">    </p:cNvPr>
          <p:cNvPicPr>
            <a:picLocks noChangeAspect="1"/>
          </p:cNvPicPr>
          <p:nvPr/>
        </p:nvPicPr>
        <p:blipFill>
          <a:blip r:embed="rId2"/>
          <a:stretch>
            <a:fillRect/>
          </a:stretch>
        </p:blipFill>
        <p:spPr>
          <a:xfrm>
            <a:off x="4583430" y="1748790"/>
            <a:ext cx="205740" cy="205740"/>
          </a:xfrm>
          <a:prstGeom prst="rect">
            <a:avLst/>
          </a:prstGeom>
        </p:spPr>
      </p:pic>
      <p:sp>
        <p:nvSpPr>
          <p:cNvPr id="11" name="Text 7"/>
          <p:cNvSpPr txBox="1"/>
          <p:nvPr/>
        </p:nvSpPr>
        <p:spPr>
          <a:xfrm>
            <a:off x="5029200" y="1527048"/>
            <a:ext cx="2697480" cy="347472"/>
          </a:xfrm>
          <a:prstGeom prst="rect">
            <a:avLst/>
          </a:prstGeom>
          <a:noFill/>
          <a:ln/>
        </p:spPr>
        <p:txBody>
          <a:bodyPr wrap="square" lIns="0" tIns="0" rIns="0" bIns="0" rtlCol="0" anchor="t"/>
          <a:lstStyle/>
          <a:p>
            <a:pPr indent="0" marL="0">
              <a:buNone/>
            </a:pPr>
            <a:r>
              <a:rPr lang="en-US" sz="1300" b="1" dirty="0">
                <a:solidFill>
                  <a:schemeClr val="tx1"/>
                </a:solidFill>
              </a:rPr>
              <a:t>EKS 1.31 no longer offered</a:t>
            </a:r>
            <a:endParaRPr lang="en-US" sz="1300" dirty="0"/>
          </a:p>
        </p:txBody>
      </p:sp>
      <p:sp>
        <p:nvSpPr>
          <p:cNvPr id="12" name="Text 8"/>
          <p:cNvSpPr txBox="1"/>
          <p:nvPr/>
        </p:nvSpPr>
        <p:spPr>
          <a:xfrm>
            <a:off x="5029200" y="1892808"/>
            <a:ext cx="2697480" cy="347472"/>
          </a:xfrm>
          <a:prstGeom prst="rect">
            <a:avLst/>
          </a:prstGeom>
          <a:noFill/>
          <a:ln/>
        </p:spPr>
        <p:txBody>
          <a:bodyPr wrap="square" lIns="0" tIns="0" rIns="0" bIns="0" rtlCol="0" anchor="t"/>
          <a:lstStyle/>
          <a:p>
            <a:pPr indent="0" marL="0">
              <a:buNone/>
            </a:pPr>
            <a:r>
              <a:rPr lang="en-US" sz="1150" dirty="0">
                <a:solidFill>
                  <a:schemeClr val="tx2"/>
                </a:solidFill>
              </a:rPr>
              <a:t>moved to 1.35 + AL2023 nodes</a:t>
            </a:r>
            <a:endParaRPr lang="en-US" sz="1150" dirty="0"/>
          </a:p>
        </p:txBody>
      </p:sp>
      <p:sp>
        <p:nvSpPr>
          <p:cNvPr id="13" name="bug-card-2"/>
          <p:cNvSpPr/>
          <p:nvPr/>
        </p:nvSpPr>
        <p:spPr>
          <a:xfrm>
            <a:off x="8046720" y="1371600"/>
            <a:ext cx="3566160" cy="1005840"/>
          </a:xfrm>
          <a:prstGeom prst="roundRect">
            <a:avLst>
              <a:gd name="adj" fmla="val 10909"/>
            </a:avLst>
          </a:prstGeom>
          <a:solidFill>
            <a:schemeClr val="bg2"/>
          </a:solidFill>
          <a:ln w="12700">
            <a:solidFill>
              <a:schemeClr val="bg2"/>
            </a:solidFill>
            <a:prstDash val="solid"/>
          </a:ln>
        </p:spPr>
      </p:sp>
      <p:sp>
        <p:nvSpPr>
          <p:cNvPr id="14" name="bug-badge-2-circle"/>
          <p:cNvSpPr/>
          <p:nvPr/>
        </p:nvSpPr>
        <p:spPr>
          <a:xfrm>
            <a:off x="8229600" y="1645920"/>
            <a:ext cx="411480" cy="411480"/>
          </a:xfrm>
          <a:prstGeom prst="ellipse">
            <a:avLst/>
          </a:prstGeom>
          <a:solidFill>
            <a:schemeClr val="accent1"/>
          </a:solidFill>
          <a:ln w="12700">
            <a:solidFill>
              <a:schemeClr val="accent1"/>
            </a:solidFill>
            <a:prstDash val="solid"/>
          </a:ln>
        </p:spPr>
      </p:sp>
      <p:pic>
        <p:nvPicPr>
          <p:cNvPr id="15" name="bug-badge-2-icon" descr="preencoded.png">    </p:cNvPr>
          <p:cNvPicPr>
            <a:picLocks noChangeAspect="1"/>
          </p:cNvPicPr>
          <p:nvPr/>
        </p:nvPicPr>
        <p:blipFill>
          <a:blip r:embed="rId3"/>
          <a:stretch>
            <a:fillRect/>
          </a:stretch>
        </p:blipFill>
        <p:spPr>
          <a:xfrm>
            <a:off x="8332470" y="1748790"/>
            <a:ext cx="205740" cy="205740"/>
          </a:xfrm>
          <a:prstGeom prst="rect">
            <a:avLst/>
          </a:prstGeom>
        </p:spPr>
      </p:pic>
      <p:sp>
        <p:nvSpPr>
          <p:cNvPr id="16" name="Text 11"/>
          <p:cNvSpPr txBox="1"/>
          <p:nvPr/>
        </p:nvSpPr>
        <p:spPr>
          <a:xfrm>
            <a:off x="8778240" y="1527048"/>
            <a:ext cx="2697480" cy="347472"/>
          </a:xfrm>
          <a:prstGeom prst="rect">
            <a:avLst/>
          </a:prstGeom>
          <a:noFill/>
          <a:ln/>
        </p:spPr>
        <p:txBody>
          <a:bodyPr wrap="square" lIns="0" tIns="0" rIns="0" bIns="0" rtlCol="0" anchor="t"/>
          <a:lstStyle/>
          <a:p>
            <a:pPr indent="0" marL="0">
              <a:buNone/>
            </a:pPr>
            <a:r>
              <a:rPr lang="en-US" sz="1300" b="1" dirty="0">
                <a:solidFill>
                  <a:schemeClr val="tx1"/>
                </a:solidFill>
              </a:rPr>
              <a:t>Ingress → wrong Service and port</a:t>
            </a:r>
            <a:endParaRPr lang="en-US" sz="1300" dirty="0"/>
          </a:p>
        </p:txBody>
      </p:sp>
      <p:sp>
        <p:nvSpPr>
          <p:cNvPr id="17" name="Text 12"/>
          <p:cNvSpPr txBox="1"/>
          <p:nvPr/>
        </p:nvSpPr>
        <p:spPr>
          <a:xfrm>
            <a:off x="8778240" y="1892808"/>
            <a:ext cx="2697480" cy="347472"/>
          </a:xfrm>
          <a:prstGeom prst="rect">
            <a:avLst/>
          </a:prstGeom>
          <a:noFill/>
          <a:ln/>
        </p:spPr>
        <p:txBody>
          <a:bodyPr wrap="square" lIns="0" tIns="0" rIns="0" bIns="0" rtlCol="0" anchor="t"/>
          <a:lstStyle/>
          <a:p>
            <a:pPr indent="0" marL="0">
              <a:buNone/>
            </a:pPr>
            <a:r>
              <a:rPr lang="en-US" sz="1150" dirty="0">
                <a:solidFill>
                  <a:schemeClr val="tx2"/>
                </a:solidFill>
              </a:rPr>
              <a:t>taskboard-backend:8080 didn't exist</a:t>
            </a:r>
            <a:endParaRPr lang="en-US" sz="1150" dirty="0"/>
          </a:p>
        </p:txBody>
      </p:sp>
      <p:sp>
        <p:nvSpPr>
          <p:cNvPr id="18" name="bug-card-3"/>
          <p:cNvSpPr/>
          <p:nvPr/>
        </p:nvSpPr>
        <p:spPr>
          <a:xfrm>
            <a:off x="548640" y="2542032"/>
            <a:ext cx="3566160" cy="1005840"/>
          </a:xfrm>
          <a:prstGeom prst="roundRect">
            <a:avLst>
              <a:gd name="adj" fmla="val 10909"/>
            </a:avLst>
          </a:prstGeom>
          <a:solidFill>
            <a:schemeClr val="bg2"/>
          </a:solidFill>
          <a:ln w="12700">
            <a:solidFill>
              <a:schemeClr val="bg2"/>
            </a:solidFill>
            <a:prstDash val="solid"/>
          </a:ln>
        </p:spPr>
      </p:sp>
      <p:sp>
        <p:nvSpPr>
          <p:cNvPr id="19" name="bug-badge-3-circle"/>
          <p:cNvSpPr/>
          <p:nvPr/>
        </p:nvSpPr>
        <p:spPr>
          <a:xfrm>
            <a:off x="731520" y="2816352"/>
            <a:ext cx="411480" cy="411480"/>
          </a:xfrm>
          <a:prstGeom prst="ellipse">
            <a:avLst/>
          </a:prstGeom>
          <a:solidFill>
            <a:schemeClr val="accent1"/>
          </a:solidFill>
          <a:ln w="12700">
            <a:solidFill>
              <a:schemeClr val="accent1"/>
            </a:solidFill>
            <a:prstDash val="solid"/>
          </a:ln>
        </p:spPr>
      </p:sp>
      <p:pic>
        <p:nvPicPr>
          <p:cNvPr id="20" name="bug-badge-3-icon" descr="preencoded.png">    </p:cNvPr>
          <p:cNvPicPr>
            <a:picLocks noChangeAspect="1"/>
          </p:cNvPicPr>
          <p:nvPr/>
        </p:nvPicPr>
        <p:blipFill>
          <a:blip r:embed="rId4"/>
          <a:stretch>
            <a:fillRect/>
          </a:stretch>
        </p:blipFill>
        <p:spPr>
          <a:xfrm>
            <a:off x="834390" y="2919222"/>
            <a:ext cx="205740" cy="205740"/>
          </a:xfrm>
          <a:prstGeom prst="rect">
            <a:avLst/>
          </a:prstGeom>
        </p:spPr>
      </p:pic>
      <p:sp>
        <p:nvSpPr>
          <p:cNvPr id="21" name="Text 15"/>
          <p:cNvSpPr txBox="1"/>
          <p:nvPr/>
        </p:nvSpPr>
        <p:spPr>
          <a:xfrm>
            <a:off x="1280160" y="2697480"/>
            <a:ext cx="2697480" cy="347472"/>
          </a:xfrm>
          <a:prstGeom prst="rect">
            <a:avLst/>
          </a:prstGeom>
          <a:noFill/>
          <a:ln/>
        </p:spPr>
        <p:txBody>
          <a:bodyPr wrap="square" lIns="0" tIns="0" rIns="0" bIns="0" rtlCol="0" anchor="t"/>
          <a:lstStyle/>
          <a:p>
            <a:pPr indent="0" marL="0">
              <a:buNone/>
            </a:pPr>
            <a:r>
              <a:rPr lang="en-US" sz="1300" b="1" dirty="0">
                <a:solidFill>
                  <a:schemeClr val="tx1"/>
                </a:solidFill>
              </a:rPr>
              <a:t>Nginx proxied to host 'backend'</a:t>
            </a:r>
            <a:endParaRPr lang="en-US" sz="1300" dirty="0"/>
          </a:p>
        </p:txBody>
      </p:sp>
      <p:sp>
        <p:nvSpPr>
          <p:cNvPr id="22" name="Text 16"/>
          <p:cNvSpPr txBox="1"/>
          <p:nvPr/>
        </p:nvSpPr>
        <p:spPr>
          <a:xfrm>
            <a:off x="1280160" y="3063240"/>
            <a:ext cx="2697480" cy="347472"/>
          </a:xfrm>
          <a:prstGeom prst="rect">
            <a:avLst/>
          </a:prstGeom>
          <a:noFill/>
          <a:ln/>
        </p:spPr>
        <p:txBody>
          <a:bodyPr wrap="square" lIns="0" tIns="0" rIns="0" bIns="0" rtlCol="0" anchor="t"/>
          <a:lstStyle/>
          <a:p>
            <a:pPr indent="0" marL="0">
              <a:buNone/>
            </a:pPr>
            <a:r>
              <a:rPr lang="en-US" sz="1150" dirty="0">
                <a:solidFill>
                  <a:schemeClr val="tx2"/>
                </a:solidFill>
              </a:rPr>
              <a:t>templated BACKEND_URL per environment</a:t>
            </a:r>
            <a:endParaRPr lang="en-US" sz="1150" dirty="0"/>
          </a:p>
        </p:txBody>
      </p:sp>
      <p:sp>
        <p:nvSpPr>
          <p:cNvPr id="23" name="bug-card-4"/>
          <p:cNvSpPr/>
          <p:nvPr/>
        </p:nvSpPr>
        <p:spPr>
          <a:xfrm>
            <a:off x="4297680" y="2542032"/>
            <a:ext cx="3566160" cy="1005840"/>
          </a:xfrm>
          <a:prstGeom prst="roundRect">
            <a:avLst>
              <a:gd name="adj" fmla="val 10909"/>
            </a:avLst>
          </a:prstGeom>
          <a:solidFill>
            <a:schemeClr val="bg2"/>
          </a:solidFill>
          <a:ln w="12700">
            <a:solidFill>
              <a:schemeClr val="bg2"/>
            </a:solidFill>
            <a:prstDash val="solid"/>
          </a:ln>
        </p:spPr>
      </p:sp>
      <p:sp>
        <p:nvSpPr>
          <p:cNvPr id="24" name="bug-badge-4-circle"/>
          <p:cNvSpPr/>
          <p:nvPr/>
        </p:nvSpPr>
        <p:spPr>
          <a:xfrm>
            <a:off x="4480560" y="2816352"/>
            <a:ext cx="411480" cy="411480"/>
          </a:xfrm>
          <a:prstGeom prst="ellipse">
            <a:avLst/>
          </a:prstGeom>
          <a:solidFill>
            <a:schemeClr val="accent1"/>
          </a:solidFill>
          <a:ln w="12700">
            <a:solidFill>
              <a:schemeClr val="accent1"/>
            </a:solidFill>
            <a:prstDash val="solid"/>
          </a:ln>
        </p:spPr>
      </p:sp>
      <p:pic>
        <p:nvPicPr>
          <p:cNvPr id="25" name="bug-badge-4-icon" descr="preencoded.png">    </p:cNvPr>
          <p:cNvPicPr>
            <a:picLocks noChangeAspect="1"/>
          </p:cNvPicPr>
          <p:nvPr/>
        </p:nvPicPr>
        <p:blipFill>
          <a:blip r:embed="rId5"/>
          <a:stretch>
            <a:fillRect/>
          </a:stretch>
        </p:blipFill>
        <p:spPr>
          <a:xfrm>
            <a:off x="4583430" y="2919222"/>
            <a:ext cx="205740" cy="205740"/>
          </a:xfrm>
          <a:prstGeom prst="rect">
            <a:avLst/>
          </a:prstGeom>
        </p:spPr>
      </p:pic>
      <p:sp>
        <p:nvSpPr>
          <p:cNvPr id="26" name="Text 19"/>
          <p:cNvSpPr txBox="1"/>
          <p:nvPr/>
        </p:nvSpPr>
        <p:spPr>
          <a:xfrm>
            <a:off x="5029200" y="2697480"/>
            <a:ext cx="2697480" cy="347472"/>
          </a:xfrm>
          <a:prstGeom prst="rect">
            <a:avLst/>
          </a:prstGeom>
          <a:noFill/>
          <a:ln/>
        </p:spPr>
        <p:txBody>
          <a:bodyPr wrap="square" lIns="0" tIns="0" rIns="0" bIns="0" rtlCol="0" anchor="t"/>
          <a:lstStyle/>
          <a:p>
            <a:pPr indent="0" marL="0">
              <a:buNone/>
            </a:pPr>
            <a:r>
              <a:rPr lang="en-US" sz="1300" b="1" dirty="0">
                <a:solidFill>
                  <a:schemeClr val="tx1"/>
                </a:solidFill>
              </a:rPr>
              <a:t>Pipeline never pushed to GHCR</a:t>
            </a:r>
            <a:endParaRPr lang="en-US" sz="1300" dirty="0"/>
          </a:p>
        </p:txBody>
      </p:sp>
      <p:sp>
        <p:nvSpPr>
          <p:cNvPr id="27" name="Text 20"/>
          <p:cNvSpPr txBox="1"/>
          <p:nvPr/>
        </p:nvSpPr>
        <p:spPr>
          <a:xfrm>
            <a:off x="5029200" y="3063240"/>
            <a:ext cx="2697480" cy="347472"/>
          </a:xfrm>
          <a:prstGeom prst="rect">
            <a:avLst/>
          </a:prstGeom>
          <a:noFill/>
          <a:ln/>
        </p:spPr>
        <p:txBody>
          <a:bodyPr wrap="square" lIns="0" tIns="0" rIns="0" bIns="0" rtlCol="0" anchor="t"/>
          <a:lstStyle/>
          <a:p>
            <a:pPr indent="0" marL="0">
              <a:buNone/>
            </a:pPr>
            <a:r>
              <a:rPr lang="en-US" sz="1150" dirty="0">
                <a:solidFill>
                  <a:schemeClr val="tx2"/>
                </a:solidFill>
              </a:rPr>
              <a:t>Docker Hub, :latest tags, 3 rebuilds</a:t>
            </a:r>
            <a:endParaRPr lang="en-US" sz="1150" dirty="0"/>
          </a:p>
        </p:txBody>
      </p:sp>
      <p:sp>
        <p:nvSpPr>
          <p:cNvPr id="28" name="bug-card-5"/>
          <p:cNvSpPr/>
          <p:nvPr/>
        </p:nvSpPr>
        <p:spPr>
          <a:xfrm>
            <a:off x="8046720" y="2542032"/>
            <a:ext cx="3566160" cy="1005840"/>
          </a:xfrm>
          <a:prstGeom prst="roundRect">
            <a:avLst>
              <a:gd name="adj" fmla="val 10909"/>
            </a:avLst>
          </a:prstGeom>
          <a:solidFill>
            <a:schemeClr val="bg2"/>
          </a:solidFill>
          <a:ln w="12700">
            <a:solidFill>
              <a:schemeClr val="bg2"/>
            </a:solidFill>
            <a:prstDash val="solid"/>
          </a:ln>
        </p:spPr>
      </p:sp>
      <p:sp>
        <p:nvSpPr>
          <p:cNvPr id="29" name="bug-badge-5-circle"/>
          <p:cNvSpPr/>
          <p:nvPr/>
        </p:nvSpPr>
        <p:spPr>
          <a:xfrm>
            <a:off x="8229600" y="2816352"/>
            <a:ext cx="411480" cy="411480"/>
          </a:xfrm>
          <a:prstGeom prst="ellipse">
            <a:avLst/>
          </a:prstGeom>
          <a:solidFill>
            <a:schemeClr val="accent1"/>
          </a:solidFill>
          <a:ln w="12700">
            <a:solidFill>
              <a:schemeClr val="accent1"/>
            </a:solidFill>
            <a:prstDash val="solid"/>
          </a:ln>
        </p:spPr>
      </p:sp>
      <p:pic>
        <p:nvPicPr>
          <p:cNvPr id="30" name="bug-badge-5-icon" descr="preencoded.png">    </p:cNvPr>
          <p:cNvPicPr>
            <a:picLocks noChangeAspect="1"/>
          </p:cNvPicPr>
          <p:nvPr/>
        </p:nvPicPr>
        <p:blipFill>
          <a:blip r:embed="rId6"/>
          <a:stretch>
            <a:fillRect/>
          </a:stretch>
        </p:blipFill>
        <p:spPr>
          <a:xfrm>
            <a:off x="8332470" y="2919222"/>
            <a:ext cx="205740" cy="205740"/>
          </a:xfrm>
          <a:prstGeom prst="rect">
            <a:avLst/>
          </a:prstGeom>
        </p:spPr>
      </p:pic>
      <p:sp>
        <p:nvSpPr>
          <p:cNvPr id="31" name="Text 23"/>
          <p:cNvSpPr txBox="1"/>
          <p:nvPr/>
        </p:nvSpPr>
        <p:spPr>
          <a:xfrm>
            <a:off x="8778240" y="2697480"/>
            <a:ext cx="2697480" cy="347472"/>
          </a:xfrm>
          <a:prstGeom prst="rect">
            <a:avLst/>
          </a:prstGeom>
          <a:noFill/>
          <a:ln/>
        </p:spPr>
        <p:txBody>
          <a:bodyPr wrap="square" lIns="0" tIns="0" rIns="0" bIns="0" rtlCol="0" anchor="t"/>
          <a:lstStyle/>
          <a:p>
            <a:pPr indent="0" marL="0">
              <a:buNone/>
            </a:pPr>
            <a:r>
              <a:rPr lang="en-US" sz="1300" b="1" dirty="0">
                <a:solidFill>
                  <a:schemeClr val="tx1"/>
                </a:solidFill>
              </a:rPr>
              <a:t>Trivy could never fail the build</a:t>
            </a:r>
            <a:endParaRPr lang="en-US" sz="1300" dirty="0"/>
          </a:p>
        </p:txBody>
      </p:sp>
      <p:sp>
        <p:nvSpPr>
          <p:cNvPr id="32" name="Text 24"/>
          <p:cNvSpPr txBox="1"/>
          <p:nvPr/>
        </p:nvSpPr>
        <p:spPr>
          <a:xfrm>
            <a:off x="8778240" y="3063240"/>
            <a:ext cx="2697480" cy="347472"/>
          </a:xfrm>
          <a:prstGeom prst="rect">
            <a:avLst/>
          </a:prstGeom>
          <a:noFill/>
          <a:ln/>
        </p:spPr>
        <p:txBody>
          <a:bodyPr wrap="square" lIns="0" tIns="0" rIns="0" bIns="0" rtlCol="0" anchor="t"/>
          <a:lstStyle/>
          <a:p>
            <a:pPr indent="0" marL="0">
              <a:buNone/>
            </a:pPr>
            <a:r>
              <a:rPr lang="en-US" sz="1150" dirty="0">
                <a:solidFill>
                  <a:schemeClr val="tx2"/>
                </a:solidFill>
              </a:rPr>
              <a:t>added --exit-code 1</a:t>
            </a:r>
            <a:endParaRPr lang="en-US" sz="1150" dirty="0"/>
          </a:p>
        </p:txBody>
      </p:sp>
      <p:sp>
        <p:nvSpPr>
          <p:cNvPr id="33" name="bug-card-6"/>
          <p:cNvSpPr/>
          <p:nvPr/>
        </p:nvSpPr>
        <p:spPr>
          <a:xfrm>
            <a:off x="548640" y="3712464"/>
            <a:ext cx="3566160" cy="1005840"/>
          </a:xfrm>
          <a:prstGeom prst="roundRect">
            <a:avLst>
              <a:gd name="adj" fmla="val 10909"/>
            </a:avLst>
          </a:prstGeom>
          <a:solidFill>
            <a:schemeClr val="bg2"/>
          </a:solidFill>
          <a:ln w="12700">
            <a:solidFill>
              <a:schemeClr val="bg2"/>
            </a:solidFill>
            <a:prstDash val="solid"/>
          </a:ln>
        </p:spPr>
      </p:sp>
      <p:sp>
        <p:nvSpPr>
          <p:cNvPr id="34" name="bug-badge-6-circle"/>
          <p:cNvSpPr/>
          <p:nvPr/>
        </p:nvSpPr>
        <p:spPr>
          <a:xfrm>
            <a:off x="731520" y="3986784"/>
            <a:ext cx="411480" cy="411480"/>
          </a:xfrm>
          <a:prstGeom prst="ellipse">
            <a:avLst/>
          </a:prstGeom>
          <a:solidFill>
            <a:schemeClr val="accent1"/>
          </a:solidFill>
          <a:ln w="12700">
            <a:solidFill>
              <a:schemeClr val="accent1"/>
            </a:solidFill>
            <a:prstDash val="solid"/>
          </a:ln>
        </p:spPr>
      </p:sp>
      <p:pic>
        <p:nvPicPr>
          <p:cNvPr id="35" name="bug-badge-6-icon" descr="preencoded.png">    </p:cNvPr>
          <p:cNvPicPr>
            <a:picLocks noChangeAspect="1"/>
          </p:cNvPicPr>
          <p:nvPr/>
        </p:nvPicPr>
        <p:blipFill>
          <a:blip r:embed="rId7"/>
          <a:stretch>
            <a:fillRect/>
          </a:stretch>
        </p:blipFill>
        <p:spPr>
          <a:xfrm>
            <a:off x="834390" y="4089654"/>
            <a:ext cx="205740" cy="205740"/>
          </a:xfrm>
          <a:prstGeom prst="rect">
            <a:avLst/>
          </a:prstGeom>
        </p:spPr>
      </p:pic>
      <p:sp>
        <p:nvSpPr>
          <p:cNvPr id="36" name="Text 27"/>
          <p:cNvSpPr txBox="1"/>
          <p:nvPr/>
        </p:nvSpPr>
        <p:spPr>
          <a:xfrm>
            <a:off x="1280160" y="3867912"/>
            <a:ext cx="2697480" cy="347472"/>
          </a:xfrm>
          <a:prstGeom prst="rect">
            <a:avLst/>
          </a:prstGeom>
          <a:noFill/>
          <a:ln/>
        </p:spPr>
        <p:txBody>
          <a:bodyPr wrap="square" lIns="0" tIns="0" rIns="0" bIns="0" rtlCol="0" anchor="t"/>
          <a:lstStyle/>
          <a:p>
            <a:pPr indent="0" marL="0">
              <a:buNone/>
            </a:pPr>
            <a:r>
              <a:rPr lang="en-US" sz="1300" b="1" dirty="0">
                <a:solidFill>
                  <a:schemeClr val="tx1"/>
                </a:solidFill>
              </a:rPr>
              <a:t>Frontend ran Nginx as root</a:t>
            </a:r>
            <a:endParaRPr lang="en-US" sz="1300" dirty="0"/>
          </a:p>
        </p:txBody>
      </p:sp>
      <p:sp>
        <p:nvSpPr>
          <p:cNvPr id="37" name="Text 28"/>
          <p:cNvSpPr txBox="1"/>
          <p:nvPr/>
        </p:nvSpPr>
        <p:spPr>
          <a:xfrm>
            <a:off x="1280160" y="4233672"/>
            <a:ext cx="2697480" cy="347472"/>
          </a:xfrm>
          <a:prstGeom prst="rect">
            <a:avLst/>
          </a:prstGeom>
          <a:noFill/>
          <a:ln/>
        </p:spPr>
        <p:txBody>
          <a:bodyPr wrap="square" lIns="0" tIns="0" rIns="0" bIns="0" rtlCol="0" anchor="t"/>
          <a:lstStyle/>
          <a:p>
            <a:pPr indent="0" marL="0">
              <a:buNone/>
            </a:pPr>
            <a:r>
              <a:rPr lang="en-US" sz="1150" dirty="0">
                <a:solidFill>
                  <a:schemeClr val="tx2"/>
                </a:solidFill>
              </a:rPr>
              <a:t>unprivileged image on :8080</a:t>
            </a:r>
            <a:endParaRPr lang="en-US" sz="1150" dirty="0"/>
          </a:p>
        </p:txBody>
      </p:sp>
      <p:sp>
        <p:nvSpPr>
          <p:cNvPr id="38" name="bug-card-7"/>
          <p:cNvSpPr/>
          <p:nvPr/>
        </p:nvSpPr>
        <p:spPr>
          <a:xfrm>
            <a:off x="4297680" y="3712464"/>
            <a:ext cx="3566160" cy="1005840"/>
          </a:xfrm>
          <a:prstGeom prst="roundRect">
            <a:avLst>
              <a:gd name="adj" fmla="val 10909"/>
            </a:avLst>
          </a:prstGeom>
          <a:solidFill>
            <a:schemeClr val="bg2"/>
          </a:solidFill>
          <a:ln w="12700">
            <a:solidFill>
              <a:schemeClr val="bg2"/>
            </a:solidFill>
            <a:prstDash val="solid"/>
          </a:ln>
        </p:spPr>
      </p:sp>
      <p:sp>
        <p:nvSpPr>
          <p:cNvPr id="39" name="bug-badge-7-circle"/>
          <p:cNvSpPr/>
          <p:nvPr/>
        </p:nvSpPr>
        <p:spPr>
          <a:xfrm>
            <a:off x="4480560" y="3986784"/>
            <a:ext cx="411480" cy="411480"/>
          </a:xfrm>
          <a:prstGeom prst="ellipse">
            <a:avLst/>
          </a:prstGeom>
          <a:solidFill>
            <a:schemeClr val="accent1"/>
          </a:solidFill>
          <a:ln w="12700">
            <a:solidFill>
              <a:schemeClr val="accent1"/>
            </a:solidFill>
            <a:prstDash val="solid"/>
          </a:ln>
        </p:spPr>
      </p:sp>
      <p:pic>
        <p:nvPicPr>
          <p:cNvPr id="40" name="bug-badge-7-icon" descr="preencoded.png">    </p:cNvPr>
          <p:cNvPicPr>
            <a:picLocks noChangeAspect="1"/>
          </p:cNvPicPr>
          <p:nvPr/>
        </p:nvPicPr>
        <p:blipFill>
          <a:blip r:embed="rId8"/>
          <a:stretch>
            <a:fillRect/>
          </a:stretch>
        </p:blipFill>
        <p:spPr>
          <a:xfrm>
            <a:off x="4583430" y="4089654"/>
            <a:ext cx="205740" cy="205740"/>
          </a:xfrm>
          <a:prstGeom prst="rect">
            <a:avLst/>
          </a:prstGeom>
        </p:spPr>
      </p:pic>
      <p:sp>
        <p:nvSpPr>
          <p:cNvPr id="41" name="Text 31"/>
          <p:cNvSpPr txBox="1"/>
          <p:nvPr/>
        </p:nvSpPr>
        <p:spPr>
          <a:xfrm>
            <a:off x="5029200" y="3867912"/>
            <a:ext cx="2697480" cy="347472"/>
          </a:xfrm>
          <a:prstGeom prst="rect">
            <a:avLst/>
          </a:prstGeom>
          <a:noFill/>
          <a:ln/>
        </p:spPr>
        <p:txBody>
          <a:bodyPr wrap="square" lIns="0" tIns="0" rIns="0" bIns="0" rtlCol="0" anchor="t"/>
          <a:lstStyle/>
          <a:p>
            <a:pPr indent="0" marL="0">
              <a:buNone/>
            </a:pPr>
            <a:r>
              <a:rPr lang="en-US" sz="1300" b="1" dirty="0">
                <a:solidFill>
                  <a:schemeClr val="tx1"/>
                </a:solidFill>
              </a:rPr>
              <a:t>Init container waited forever</a:t>
            </a:r>
            <a:endParaRPr lang="en-US" sz="1300" dirty="0"/>
          </a:p>
        </p:txBody>
      </p:sp>
      <p:sp>
        <p:nvSpPr>
          <p:cNvPr id="42" name="Text 32"/>
          <p:cNvSpPr txBox="1"/>
          <p:nvPr/>
        </p:nvSpPr>
        <p:spPr>
          <a:xfrm>
            <a:off x="5029200" y="4233672"/>
            <a:ext cx="2697480" cy="347472"/>
          </a:xfrm>
          <a:prstGeom prst="rect">
            <a:avLst/>
          </a:prstGeom>
          <a:noFill/>
          <a:ln/>
        </p:spPr>
        <p:txBody>
          <a:bodyPr wrap="square" lIns="0" tIns="0" rIns="0" bIns="0" rtlCol="0" anchor="t"/>
          <a:lstStyle/>
          <a:p>
            <a:pPr indent="0" marL="0">
              <a:buNone/>
            </a:pPr>
            <a:r>
              <a:rPr lang="en-US" sz="1150" dirty="0">
                <a:solidFill>
                  <a:schemeClr val="tx2"/>
                </a:solidFill>
              </a:rPr>
              <a:t>pg_isready as uid 10001: pass -U/-d</a:t>
            </a:r>
            <a:endParaRPr lang="en-US" sz="1150" dirty="0"/>
          </a:p>
        </p:txBody>
      </p:sp>
      <p:sp>
        <p:nvSpPr>
          <p:cNvPr id="43" name="bug-card-8"/>
          <p:cNvSpPr/>
          <p:nvPr/>
        </p:nvSpPr>
        <p:spPr>
          <a:xfrm>
            <a:off x="8046720" y="3712464"/>
            <a:ext cx="3566160" cy="1005840"/>
          </a:xfrm>
          <a:prstGeom prst="roundRect">
            <a:avLst>
              <a:gd name="adj" fmla="val 10909"/>
            </a:avLst>
          </a:prstGeom>
          <a:solidFill>
            <a:schemeClr val="bg2"/>
          </a:solidFill>
          <a:ln w="12700">
            <a:solidFill>
              <a:schemeClr val="bg2"/>
            </a:solidFill>
            <a:prstDash val="solid"/>
          </a:ln>
        </p:spPr>
      </p:sp>
      <p:sp>
        <p:nvSpPr>
          <p:cNvPr id="44" name="bug-badge-8-circle"/>
          <p:cNvSpPr/>
          <p:nvPr/>
        </p:nvSpPr>
        <p:spPr>
          <a:xfrm>
            <a:off x="8229600" y="3986784"/>
            <a:ext cx="411480" cy="411480"/>
          </a:xfrm>
          <a:prstGeom prst="ellipse">
            <a:avLst/>
          </a:prstGeom>
          <a:solidFill>
            <a:schemeClr val="accent1"/>
          </a:solidFill>
          <a:ln w="12700">
            <a:solidFill>
              <a:schemeClr val="accent1"/>
            </a:solidFill>
            <a:prstDash val="solid"/>
          </a:ln>
        </p:spPr>
      </p:sp>
      <p:pic>
        <p:nvPicPr>
          <p:cNvPr id="45" name="bug-badge-8-icon" descr="preencoded.png">    </p:cNvPr>
          <p:cNvPicPr>
            <a:picLocks noChangeAspect="1"/>
          </p:cNvPicPr>
          <p:nvPr/>
        </p:nvPicPr>
        <p:blipFill>
          <a:blip r:embed="rId9"/>
          <a:stretch>
            <a:fillRect/>
          </a:stretch>
        </p:blipFill>
        <p:spPr>
          <a:xfrm>
            <a:off x="8332470" y="4089654"/>
            <a:ext cx="205740" cy="205740"/>
          </a:xfrm>
          <a:prstGeom prst="rect">
            <a:avLst/>
          </a:prstGeom>
        </p:spPr>
      </p:pic>
      <p:sp>
        <p:nvSpPr>
          <p:cNvPr id="46" name="Text 35"/>
          <p:cNvSpPr txBox="1"/>
          <p:nvPr/>
        </p:nvSpPr>
        <p:spPr>
          <a:xfrm>
            <a:off x="8778240" y="3867912"/>
            <a:ext cx="2697480" cy="347472"/>
          </a:xfrm>
          <a:prstGeom prst="rect">
            <a:avLst/>
          </a:prstGeom>
          <a:noFill/>
          <a:ln/>
        </p:spPr>
        <p:txBody>
          <a:bodyPr wrap="square" lIns="0" tIns="0" rIns="0" bIns="0" rtlCol="0" anchor="t"/>
          <a:lstStyle/>
          <a:p>
            <a:pPr indent="0" marL="0">
              <a:buNone/>
            </a:pPr>
            <a:r>
              <a:rPr lang="en-US" sz="1300" b="1" dirty="0">
                <a:solidFill>
                  <a:schemeClr val="tx1"/>
                </a:solidFill>
              </a:rPr>
              <a:t>Create-task modal never closed</a:t>
            </a:r>
            <a:endParaRPr lang="en-US" sz="1300" dirty="0"/>
          </a:p>
        </p:txBody>
      </p:sp>
      <p:sp>
        <p:nvSpPr>
          <p:cNvPr id="47" name="Text 36"/>
          <p:cNvSpPr txBox="1"/>
          <p:nvPr/>
        </p:nvSpPr>
        <p:spPr>
          <a:xfrm>
            <a:off x="8778240" y="4233672"/>
            <a:ext cx="2697480" cy="347472"/>
          </a:xfrm>
          <a:prstGeom prst="rect">
            <a:avLst/>
          </a:prstGeom>
          <a:noFill/>
          <a:ln/>
        </p:spPr>
        <p:txBody>
          <a:bodyPr wrap="square" lIns="0" tIns="0" rIns="0" bIns="0" rtlCol="0" anchor="t"/>
          <a:lstStyle/>
          <a:p>
            <a:pPr indent="0" marL="0">
              <a:buNone/>
            </a:pPr>
            <a:r>
              <a:rPr lang="en-US" sz="1150" dirty="0">
                <a:solidFill>
                  <a:schemeClr val="tx2"/>
                </a:solidFill>
              </a:rPr>
              <a:t>React currentTarget is null after await</a:t>
            </a:r>
            <a:endParaRPr lang="en-US" sz="1150" dirty="0"/>
          </a:p>
        </p:txBody>
      </p:sp>
      <p:sp>
        <p:nvSpPr>
          <p:cNvPr id="48" name="bug-card-9"/>
          <p:cNvSpPr/>
          <p:nvPr/>
        </p:nvSpPr>
        <p:spPr>
          <a:xfrm>
            <a:off x="548640" y="4882896"/>
            <a:ext cx="3566160" cy="1005840"/>
          </a:xfrm>
          <a:prstGeom prst="roundRect">
            <a:avLst>
              <a:gd name="adj" fmla="val 10909"/>
            </a:avLst>
          </a:prstGeom>
          <a:solidFill>
            <a:schemeClr val="bg2"/>
          </a:solidFill>
          <a:ln w="12700">
            <a:solidFill>
              <a:schemeClr val="bg2"/>
            </a:solidFill>
            <a:prstDash val="solid"/>
          </a:ln>
        </p:spPr>
      </p:sp>
      <p:sp>
        <p:nvSpPr>
          <p:cNvPr id="49" name="bug-badge-9-circle"/>
          <p:cNvSpPr/>
          <p:nvPr/>
        </p:nvSpPr>
        <p:spPr>
          <a:xfrm>
            <a:off x="731520" y="5157216"/>
            <a:ext cx="411480" cy="411480"/>
          </a:xfrm>
          <a:prstGeom prst="ellipse">
            <a:avLst/>
          </a:prstGeom>
          <a:solidFill>
            <a:schemeClr val="accent1"/>
          </a:solidFill>
          <a:ln w="12700">
            <a:solidFill>
              <a:schemeClr val="accent1"/>
            </a:solidFill>
            <a:prstDash val="solid"/>
          </a:ln>
        </p:spPr>
      </p:sp>
      <p:pic>
        <p:nvPicPr>
          <p:cNvPr id="50" name="bug-badge-9-icon" descr="preencoded.png">    </p:cNvPr>
          <p:cNvPicPr>
            <a:picLocks noChangeAspect="1"/>
          </p:cNvPicPr>
          <p:nvPr/>
        </p:nvPicPr>
        <p:blipFill>
          <a:blip r:embed="rId10"/>
          <a:stretch>
            <a:fillRect/>
          </a:stretch>
        </p:blipFill>
        <p:spPr>
          <a:xfrm>
            <a:off x="834390" y="5260086"/>
            <a:ext cx="205740" cy="205740"/>
          </a:xfrm>
          <a:prstGeom prst="rect">
            <a:avLst/>
          </a:prstGeom>
        </p:spPr>
      </p:pic>
      <p:sp>
        <p:nvSpPr>
          <p:cNvPr id="51" name="Text 39"/>
          <p:cNvSpPr txBox="1"/>
          <p:nvPr/>
        </p:nvSpPr>
        <p:spPr>
          <a:xfrm>
            <a:off x="1280160" y="5038344"/>
            <a:ext cx="2697480" cy="347472"/>
          </a:xfrm>
          <a:prstGeom prst="rect">
            <a:avLst/>
          </a:prstGeom>
          <a:noFill/>
          <a:ln/>
        </p:spPr>
        <p:txBody>
          <a:bodyPr wrap="square" lIns="0" tIns="0" rIns="0" bIns="0" rtlCol="0" anchor="t"/>
          <a:lstStyle/>
          <a:p>
            <a:pPr indent="0" marL="0">
              <a:buNone/>
            </a:pPr>
            <a:r>
              <a:rPr lang="en-US" sz="1300" b="1" dirty="0">
                <a:solidFill>
                  <a:schemeClr val="tx1"/>
                </a:solidFill>
              </a:rPr>
              <a:t>Postgres initdb fails on EBS</a:t>
            </a:r>
            <a:endParaRPr lang="en-US" sz="1300" dirty="0"/>
          </a:p>
        </p:txBody>
      </p:sp>
      <p:sp>
        <p:nvSpPr>
          <p:cNvPr id="52" name="Text 40"/>
          <p:cNvSpPr txBox="1"/>
          <p:nvPr/>
        </p:nvSpPr>
        <p:spPr>
          <a:xfrm>
            <a:off x="1280160" y="5404104"/>
            <a:ext cx="2697480" cy="347472"/>
          </a:xfrm>
          <a:prstGeom prst="rect">
            <a:avLst/>
          </a:prstGeom>
          <a:noFill/>
          <a:ln/>
        </p:spPr>
        <p:txBody>
          <a:bodyPr wrap="square" lIns="0" tIns="0" rIns="0" bIns="0" rtlCol="0" anchor="t"/>
          <a:lstStyle/>
          <a:p>
            <a:pPr indent="0" marL="0">
              <a:buNone/>
            </a:pPr>
            <a:r>
              <a:rPr lang="en-US" sz="1150" dirty="0">
                <a:solidFill>
                  <a:schemeClr val="tx2"/>
                </a:solidFill>
              </a:rPr>
              <a:t>lost+found → PGDATA subdirectory</a:t>
            </a:r>
            <a:endParaRPr lang="en-US" sz="1150" dirty="0"/>
          </a:p>
        </p:txBody>
      </p:sp>
      <p:sp>
        <p:nvSpPr>
          <p:cNvPr id="53" name="bug-card-10"/>
          <p:cNvSpPr/>
          <p:nvPr/>
        </p:nvSpPr>
        <p:spPr>
          <a:xfrm>
            <a:off x="4297680" y="4882896"/>
            <a:ext cx="3566160" cy="1005840"/>
          </a:xfrm>
          <a:prstGeom prst="roundRect">
            <a:avLst>
              <a:gd name="adj" fmla="val 10909"/>
            </a:avLst>
          </a:prstGeom>
          <a:solidFill>
            <a:schemeClr val="bg2"/>
          </a:solidFill>
          <a:ln w="12700">
            <a:solidFill>
              <a:schemeClr val="bg2"/>
            </a:solidFill>
            <a:prstDash val="solid"/>
          </a:ln>
        </p:spPr>
      </p:sp>
      <p:sp>
        <p:nvSpPr>
          <p:cNvPr id="54" name="bug-badge-10-circle"/>
          <p:cNvSpPr/>
          <p:nvPr/>
        </p:nvSpPr>
        <p:spPr>
          <a:xfrm>
            <a:off x="4480560" y="5157216"/>
            <a:ext cx="411480" cy="411480"/>
          </a:xfrm>
          <a:prstGeom prst="ellipse">
            <a:avLst/>
          </a:prstGeom>
          <a:solidFill>
            <a:schemeClr val="accent1"/>
          </a:solidFill>
          <a:ln w="12700">
            <a:solidFill>
              <a:schemeClr val="accent1"/>
            </a:solidFill>
            <a:prstDash val="solid"/>
          </a:ln>
        </p:spPr>
      </p:sp>
      <p:pic>
        <p:nvPicPr>
          <p:cNvPr id="55" name="bug-badge-10-icon" descr="preencoded.png">    </p:cNvPr>
          <p:cNvPicPr>
            <a:picLocks noChangeAspect="1"/>
          </p:cNvPicPr>
          <p:nvPr/>
        </p:nvPicPr>
        <p:blipFill>
          <a:blip r:embed="rId11"/>
          <a:stretch>
            <a:fillRect/>
          </a:stretch>
        </p:blipFill>
        <p:spPr>
          <a:xfrm>
            <a:off x="4583430" y="5260086"/>
            <a:ext cx="205740" cy="205740"/>
          </a:xfrm>
          <a:prstGeom prst="rect">
            <a:avLst/>
          </a:prstGeom>
        </p:spPr>
      </p:pic>
      <p:sp>
        <p:nvSpPr>
          <p:cNvPr id="56" name="Text 43"/>
          <p:cNvSpPr txBox="1"/>
          <p:nvPr/>
        </p:nvSpPr>
        <p:spPr>
          <a:xfrm>
            <a:off x="5029200" y="5038344"/>
            <a:ext cx="2697480" cy="347472"/>
          </a:xfrm>
          <a:prstGeom prst="rect">
            <a:avLst/>
          </a:prstGeom>
          <a:noFill/>
          <a:ln/>
        </p:spPr>
        <p:txBody>
          <a:bodyPr wrap="square" lIns="0" tIns="0" rIns="0" bIns="0" rtlCol="0" anchor="t"/>
          <a:lstStyle/>
          <a:p>
            <a:pPr indent="0" marL="0">
              <a:buNone/>
            </a:pPr>
            <a:r>
              <a:rPr lang="en-US" sz="1300" b="1" dirty="0">
                <a:solidFill>
                  <a:schemeClr val="tx1"/>
                </a:solidFill>
              </a:rPr>
              <a:t>Compose start-up races</a:t>
            </a:r>
            <a:endParaRPr lang="en-US" sz="1300" dirty="0"/>
          </a:p>
        </p:txBody>
      </p:sp>
      <p:sp>
        <p:nvSpPr>
          <p:cNvPr id="57" name="Text 44"/>
          <p:cNvSpPr txBox="1"/>
          <p:nvPr/>
        </p:nvSpPr>
        <p:spPr>
          <a:xfrm>
            <a:off x="5029200" y="5404104"/>
            <a:ext cx="2697480" cy="347472"/>
          </a:xfrm>
          <a:prstGeom prst="rect">
            <a:avLst/>
          </a:prstGeom>
          <a:noFill/>
          <a:ln/>
        </p:spPr>
        <p:txBody>
          <a:bodyPr wrap="square" lIns="0" tIns="0" rIns="0" bIns="0" rtlCol="0" anchor="t"/>
          <a:lstStyle/>
          <a:p>
            <a:pPr indent="0" marL="0">
              <a:buNone/>
            </a:pPr>
            <a:r>
              <a:rPr lang="en-US" sz="1150" dirty="0">
                <a:solidFill>
                  <a:schemeClr val="tx2"/>
                </a:solidFill>
              </a:rPr>
              <a:t>health-gated depends_on</a:t>
            </a:r>
            <a:endParaRPr lang="en-US" sz="1150" dirty="0"/>
          </a:p>
        </p:txBody>
      </p:sp>
      <p:sp>
        <p:nvSpPr>
          <p:cNvPr id="58" name="bug-card-11"/>
          <p:cNvSpPr/>
          <p:nvPr/>
        </p:nvSpPr>
        <p:spPr>
          <a:xfrm>
            <a:off x="8046720" y="4882896"/>
            <a:ext cx="3566160" cy="1005840"/>
          </a:xfrm>
          <a:prstGeom prst="roundRect">
            <a:avLst>
              <a:gd name="adj" fmla="val 10909"/>
            </a:avLst>
          </a:prstGeom>
          <a:solidFill>
            <a:schemeClr val="bg2"/>
          </a:solidFill>
          <a:ln w="12700">
            <a:solidFill>
              <a:schemeClr val="bg2"/>
            </a:solidFill>
            <a:prstDash val="solid"/>
          </a:ln>
        </p:spPr>
      </p:sp>
      <p:sp>
        <p:nvSpPr>
          <p:cNvPr id="59" name="bug-badge-11-circle"/>
          <p:cNvSpPr/>
          <p:nvPr/>
        </p:nvSpPr>
        <p:spPr>
          <a:xfrm>
            <a:off x="8229600" y="5157216"/>
            <a:ext cx="411480" cy="411480"/>
          </a:xfrm>
          <a:prstGeom prst="ellipse">
            <a:avLst/>
          </a:prstGeom>
          <a:solidFill>
            <a:schemeClr val="accent1"/>
          </a:solidFill>
          <a:ln w="12700">
            <a:solidFill>
              <a:schemeClr val="accent1"/>
            </a:solidFill>
            <a:prstDash val="solid"/>
          </a:ln>
        </p:spPr>
      </p:sp>
      <p:pic>
        <p:nvPicPr>
          <p:cNvPr id="60" name="bug-badge-11-icon" descr="preencoded.png">    </p:cNvPr>
          <p:cNvPicPr>
            <a:picLocks noChangeAspect="1"/>
          </p:cNvPicPr>
          <p:nvPr/>
        </p:nvPicPr>
        <p:blipFill>
          <a:blip r:embed="rId12"/>
          <a:stretch>
            <a:fillRect/>
          </a:stretch>
        </p:blipFill>
        <p:spPr>
          <a:xfrm>
            <a:off x="8332470" y="5260086"/>
            <a:ext cx="205740" cy="205740"/>
          </a:xfrm>
          <a:prstGeom prst="rect">
            <a:avLst/>
          </a:prstGeom>
        </p:spPr>
      </p:pic>
      <p:sp>
        <p:nvSpPr>
          <p:cNvPr id="61" name="Text 47"/>
          <p:cNvSpPr txBox="1"/>
          <p:nvPr/>
        </p:nvSpPr>
        <p:spPr>
          <a:xfrm>
            <a:off x="8778240" y="5038344"/>
            <a:ext cx="2697480" cy="347472"/>
          </a:xfrm>
          <a:prstGeom prst="rect">
            <a:avLst/>
          </a:prstGeom>
          <a:noFill/>
          <a:ln/>
        </p:spPr>
        <p:txBody>
          <a:bodyPr wrap="square" lIns="0" tIns="0" rIns="0" bIns="0" rtlCol="0" anchor="t"/>
          <a:lstStyle/>
          <a:p>
            <a:pPr indent="0" marL="0">
              <a:buNone/>
            </a:pPr>
            <a:r>
              <a:rPr lang="en-US" sz="1300" b="1" dirty="0">
                <a:solidFill>
                  <a:schemeClr val="tx1"/>
                </a:solidFill>
              </a:rPr>
              <a:t>ingress-nginx retired (2026)</a:t>
            </a:r>
            <a:endParaRPr lang="en-US" sz="1300" dirty="0"/>
          </a:p>
        </p:txBody>
      </p:sp>
      <p:sp>
        <p:nvSpPr>
          <p:cNvPr id="62" name="Text 48"/>
          <p:cNvSpPr txBox="1"/>
          <p:nvPr/>
        </p:nvSpPr>
        <p:spPr>
          <a:xfrm>
            <a:off x="8778240" y="5404104"/>
            <a:ext cx="2697480" cy="347472"/>
          </a:xfrm>
          <a:prstGeom prst="rect">
            <a:avLst/>
          </a:prstGeom>
          <a:noFill/>
          <a:ln/>
        </p:spPr>
        <p:txBody>
          <a:bodyPr wrap="square" lIns="0" tIns="0" rIns="0" bIns="0" rtlCol="0" anchor="t"/>
          <a:lstStyle/>
          <a:p>
            <a:pPr indent="0" marL="0">
              <a:buNone/>
            </a:pPr>
            <a:r>
              <a:rPr lang="en-US" sz="1150" dirty="0">
                <a:solidFill>
                  <a:schemeClr val="tx2"/>
                </a:solidFill>
              </a:rPr>
              <a:t>switched to Traefik</a:t>
            </a:r>
            <a:endParaRPr lang="en-US" sz="11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Key learnings and next steps</a:t>
            </a:r>
            <a:endParaRPr lang="en-US" sz="3400" dirty="0"/>
          </a:p>
        </p:txBody>
      </p:sp>
      <p:sp>
        <p:nvSpPr>
          <p:cNvPr id="3" name="learn-card-0"/>
          <p:cNvSpPr/>
          <p:nvPr/>
        </p:nvSpPr>
        <p:spPr>
          <a:xfrm>
            <a:off x="548640" y="1371600"/>
            <a:ext cx="5394960" cy="4526280"/>
          </a:xfrm>
          <a:prstGeom prst="roundRect">
            <a:avLst>
              <a:gd name="adj" fmla="val 2424"/>
            </a:avLst>
          </a:prstGeom>
          <a:solidFill>
            <a:schemeClr val="bg2"/>
          </a:solidFill>
          <a:ln w="12700">
            <a:solidFill>
              <a:schemeClr val="bg2"/>
            </a:solidFill>
            <a:prstDash val="solid"/>
          </a:ln>
        </p:spPr>
      </p:sp>
      <p:sp>
        <p:nvSpPr>
          <p:cNvPr id="4" name="learn-badge-0-circle"/>
          <p:cNvSpPr/>
          <p:nvPr/>
        </p:nvSpPr>
        <p:spPr>
          <a:xfrm>
            <a:off x="822960" y="1645920"/>
            <a:ext cx="548640" cy="548640"/>
          </a:xfrm>
          <a:prstGeom prst="ellipse">
            <a:avLst/>
          </a:prstGeom>
          <a:solidFill>
            <a:schemeClr val="accent1"/>
          </a:solidFill>
          <a:ln w="12700">
            <a:solidFill>
              <a:schemeClr val="accent1"/>
            </a:solidFill>
            <a:prstDash val="solid"/>
          </a:ln>
        </p:spPr>
      </p:sp>
      <p:pic>
        <p:nvPicPr>
          <p:cNvPr id="5" name="learn-badge-0-icon" descr="preencoded.png">    </p:cNvPr>
          <p:cNvPicPr>
            <a:picLocks noChangeAspect="1"/>
          </p:cNvPicPr>
          <p:nvPr/>
        </p:nvPicPr>
        <p:blipFill>
          <a:blip r:embed="rId1"/>
          <a:stretch>
            <a:fillRect/>
          </a:stretch>
        </p:blipFill>
        <p:spPr>
          <a:xfrm>
            <a:off x="960120" y="1783080"/>
            <a:ext cx="274320" cy="274320"/>
          </a:xfrm>
          <a:prstGeom prst="rect">
            <a:avLst/>
          </a:prstGeom>
        </p:spPr>
      </p:pic>
      <p:sp>
        <p:nvSpPr>
          <p:cNvPr id="6" name="Text 3"/>
          <p:cNvSpPr txBox="1"/>
          <p:nvPr/>
        </p:nvSpPr>
        <p:spPr>
          <a:xfrm>
            <a:off x="1554480" y="1719072"/>
            <a:ext cx="3657600" cy="411480"/>
          </a:xfrm>
          <a:prstGeom prst="rect">
            <a:avLst/>
          </a:prstGeom>
          <a:noFill/>
          <a:ln/>
        </p:spPr>
        <p:txBody>
          <a:bodyPr wrap="square" lIns="0" tIns="0" rIns="0" bIns="0" rtlCol="0" anchor="t"/>
          <a:lstStyle/>
          <a:p>
            <a:pPr indent="0" marL="0">
              <a:buNone/>
            </a:pPr>
            <a:r>
              <a:rPr lang="en-US" sz="2000" b="1" dirty="0">
                <a:solidFill>
                  <a:schemeClr val="tx1"/>
                </a:solidFill>
              </a:rPr>
              <a:t>Learnings</a:t>
            </a:r>
            <a:endParaRPr lang="en-US" sz="2000" dirty="0"/>
          </a:p>
        </p:txBody>
      </p:sp>
      <p:sp>
        <p:nvSpPr>
          <p:cNvPr id="7" name="Text 4"/>
          <p:cNvSpPr txBox="1"/>
          <p:nvPr/>
        </p:nvSpPr>
        <p:spPr>
          <a:xfrm>
            <a:off x="822960" y="242316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Run every layer for real; reading YAML hides broken wiring</a:t>
            </a:r>
            <a:endParaRPr lang="en-US" sz="1500" dirty="0"/>
          </a:p>
          <a:p>
            <a:pPr marL="342900" indent="-342900">
              <a:spcAft>
                <a:spcPts val="1000"/>
              </a:spcAft>
              <a:buSzPct val="100000"/>
              <a:buChar char="•"/>
            </a:pPr>
            <a:r>
              <a:rPr lang="en-US" sz="1500" dirty="0">
                <a:solidFill>
                  <a:schemeClr val="tx1"/>
                </a:solidFill>
              </a:rPr>
              <a:t>Gates must be able to fail: a scanner without --exit-code is decoration</a:t>
            </a:r>
            <a:endParaRPr lang="en-US" sz="1500" dirty="0"/>
          </a:p>
          <a:p>
            <a:pPr marL="342900" indent="-342900">
              <a:spcAft>
                <a:spcPts val="1000"/>
              </a:spcAft>
              <a:buSzPct val="100000"/>
              <a:buChar char="•"/>
            </a:pPr>
            <a:r>
              <a:rPr lang="en-US" sz="1500" dirty="0">
                <a:solidFill>
                  <a:schemeClr val="tx1"/>
                </a:solidFill>
              </a:rPr>
              <a:t>Liveness ≠ readiness: a DB outage should drain pods, not restart them</a:t>
            </a:r>
            <a:endParaRPr lang="en-US" sz="1500" dirty="0"/>
          </a:p>
          <a:p>
            <a:pPr marL="342900" indent="-342900">
              <a:spcAft>
                <a:spcPts val="1000"/>
              </a:spcAft>
              <a:buSzPct val="100000"/>
              <a:buChar char="•"/>
            </a:pPr>
            <a:r>
              <a:rPr lang="en-US" sz="1500" dirty="0">
                <a:solidFill>
                  <a:schemeClr val="tx1"/>
                </a:solidFill>
              </a:rPr>
              <a:t>Pin versions and keep them current: EKS, AMIs and Ingress controllers retire</a:t>
            </a:r>
            <a:endParaRPr lang="en-US" sz="1500" dirty="0"/>
          </a:p>
          <a:p>
            <a:pPr marL="342900" indent="-342900">
              <a:spcAft>
                <a:spcPts val="1000"/>
              </a:spcAft>
              <a:buSzPct val="100000"/>
              <a:buChar char="•"/>
            </a:pPr>
            <a:r>
              <a:rPr lang="en-US" sz="1500" dirty="0">
                <a:solidFill>
                  <a:schemeClr val="tx1"/>
                </a:solidFill>
              </a:rPr>
              <a:t>Git as the deployment API makes rollback a git revert</a:t>
            </a:r>
            <a:endParaRPr lang="en-US" sz="1500" dirty="0"/>
          </a:p>
        </p:txBody>
      </p:sp>
      <p:sp>
        <p:nvSpPr>
          <p:cNvPr id="8" name="learn-card-1"/>
          <p:cNvSpPr/>
          <p:nvPr/>
        </p:nvSpPr>
        <p:spPr>
          <a:xfrm>
            <a:off x="6217920" y="1371600"/>
            <a:ext cx="5394960" cy="4526280"/>
          </a:xfrm>
          <a:prstGeom prst="roundRect">
            <a:avLst>
              <a:gd name="adj" fmla="val 2424"/>
            </a:avLst>
          </a:prstGeom>
          <a:solidFill>
            <a:schemeClr val="bg2"/>
          </a:solidFill>
          <a:ln w="12700">
            <a:solidFill>
              <a:schemeClr val="bg2"/>
            </a:solidFill>
            <a:prstDash val="solid"/>
          </a:ln>
        </p:spPr>
      </p:sp>
      <p:sp>
        <p:nvSpPr>
          <p:cNvPr id="9" name="learn-badge-1-circle"/>
          <p:cNvSpPr/>
          <p:nvPr/>
        </p:nvSpPr>
        <p:spPr>
          <a:xfrm>
            <a:off x="6492240" y="1645920"/>
            <a:ext cx="548640" cy="548640"/>
          </a:xfrm>
          <a:prstGeom prst="ellipse">
            <a:avLst/>
          </a:prstGeom>
          <a:solidFill>
            <a:schemeClr val="accent3"/>
          </a:solidFill>
          <a:ln w="12700">
            <a:solidFill>
              <a:schemeClr val="accent3"/>
            </a:solidFill>
            <a:prstDash val="solid"/>
          </a:ln>
        </p:spPr>
      </p:sp>
      <p:pic>
        <p:nvPicPr>
          <p:cNvPr id="10" name="learn-badge-1-icon" descr="preencoded.png">    </p:cNvPr>
          <p:cNvPicPr>
            <a:picLocks noChangeAspect="1"/>
          </p:cNvPicPr>
          <p:nvPr/>
        </p:nvPicPr>
        <p:blipFill>
          <a:blip r:embed="rId2"/>
          <a:stretch>
            <a:fillRect/>
          </a:stretch>
        </p:blipFill>
        <p:spPr>
          <a:xfrm>
            <a:off x="6629400" y="1783080"/>
            <a:ext cx="274320" cy="274320"/>
          </a:xfrm>
          <a:prstGeom prst="rect">
            <a:avLst/>
          </a:prstGeom>
        </p:spPr>
      </p:pic>
      <p:sp>
        <p:nvSpPr>
          <p:cNvPr id="11" name="Text 7"/>
          <p:cNvSpPr txBox="1"/>
          <p:nvPr/>
        </p:nvSpPr>
        <p:spPr>
          <a:xfrm>
            <a:off x="7223760" y="1719072"/>
            <a:ext cx="3657600" cy="411480"/>
          </a:xfrm>
          <a:prstGeom prst="rect">
            <a:avLst/>
          </a:prstGeom>
          <a:noFill/>
          <a:ln/>
        </p:spPr>
        <p:txBody>
          <a:bodyPr wrap="square" lIns="0" tIns="0" rIns="0" bIns="0" rtlCol="0" anchor="t"/>
          <a:lstStyle/>
          <a:p>
            <a:pPr indent="0" marL="0">
              <a:buNone/>
            </a:pPr>
            <a:r>
              <a:rPr lang="en-US" sz="2000" b="1" dirty="0">
                <a:solidFill>
                  <a:schemeClr val="tx1"/>
                </a:solidFill>
              </a:rPr>
              <a:t>Next steps</a:t>
            </a:r>
            <a:endParaRPr lang="en-US" sz="2000" dirty="0"/>
          </a:p>
        </p:txBody>
      </p:sp>
      <p:sp>
        <p:nvSpPr>
          <p:cNvPr id="12" name="Text 8"/>
          <p:cNvSpPr txBox="1"/>
          <p:nvPr/>
        </p:nvSpPr>
        <p:spPr>
          <a:xfrm>
            <a:off x="6492240" y="242316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Amazon RDS instead of in-cluster Postgres</a:t>
            </a:r>
            <a:endParaRPr lang="en-US" sz="1500" dirty="0"/>
          </a:p>
          <a:p>
            <a:pPr marL="342900" indent="-342900">
              <a:spcAft>
                <a:spcPts val="1000"/>
              </a:spcAft>
              <a:buSzPct val="100000"/>
              <a:buChar char="•"/>
            </a:pPr>
            <a:r>
              <a:rPr lang="en-US" sz="1500" dirty="0">
                <a:solidFill>
                  <a:schemeClr val="tx1"/>
                </a:solidFill>
              </a:rPr>
              <a:t>External Secrets + AWS Secrets Manager</a:t>
            </a:r>
            <a:endParaRPr lang="en-US" sz="1500" dirty="0"/>
          </a:p>
          <a:p>
            <a:pPr marL="342900" indent="-342900">
              <a:spcAft>
                <a:spcPts val="1000"/>
              </a:spcAft>
              <a:buSzPct val="100000"/>
              <a:buChar char="•"/>
            </a:pPr>
            <a:r>
              <a:rPr lang="en-US" sz="1500" dirty="0">
                <a:solidFill>
                  <a:schemeClr val="tx1"/>
                </a:solidFill>
              </a:rPr>
              <a:t>cert-manager TLS on the Ingress</a:t>
            </a:r>
            <a:endParaRPr lang="en-US" sz="1500" dirty="0"/>
          </a:p>
          <a:p>
            <a:pPr marL="342900" indent="-342900">
              <a:spcAft>
                <a:spcPts val="1000"/>
              </a:spcAft>
              <a:buSzPct val="100000"/>
              <a:buChar char="•"/>
            </a:pPr>
            <a:r>
              <a:rPr lang="en-US" sz="1500" dirty="0">
                <a:solidFill>
                  <a:schemeClr val="tx1"/>
                </a:solidFill>
              </a:rPr>
              <a:t>S3 remote state with locking for Terraform</a:t>
            </a:r>
            <a:endParaRPr lang="en-US" sz="1500" dirty="0"/>
          </a:p>
          <a:p>
            <a:pPr marL="342900" indent="-342900">
              <a:spcAft>
                <a:spcPts val="1000"/>
              </a:spcAft>
              <a:buSzPct val="100000"/>
              <a:buChar char="•"/>
            </a:pPr>
            <a:r>
              <a:rPr lang="en-US" sz="1500" dirty="0">
                <a:solidFill>
                  <a:schemeClr val="tx1"/>
                </a:solidFill>
              </a:rPr>
              <a:t>App authentication; alerting rules in Alertmanager</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6583680" cy="1371600"/>
          </a:xfrm>
          <a:prstGeom prst="rect">
            <a:avLst/>
          </a:prstGeom>
          <a:noFill/>
          <a:ln/>
        </p:spPr>
        <p:txBody>
          <a:bodyPr wrap="square" lIns="0" tIns="0" rIns="0" bIns="0" rtlCol="0" anchor="b"/>
          <a:lstStyle/>
          <a:p>
            <a:pPr algn="l" indent="0" marL="0">
              <a:buNone/>
            </a:pPr>
            <a:r>
              <a:rPr lang="en-US" sz="5400" b="1" dirty="0">
                <a:solidFill>
                  <a:schemeClr val="bg1"/>
                </a:solidFill>
              </a:rPr>
              <a:t>Live demo</a:t>
            </a:r>
            <a:endParaRPr lang="en-US" sz="5400" dirty="0"/>
          </a:p>
        </p:txBody>
      </p:sp>
      <p:sp>
        <p:nvSpPr>
          <p:cNvPr id="3" name="Text 0"/>
          <p:cNvSpPr/>
          <p:nvPr>
            <p:ph idx="101" type="body" hasCustomPrompt="1"/>
          </p:nvPr>
        </p:nvSpPr>
        <p:spPr>
          <a:xfrm>
            <a:off x="548640" y="3429000"/>
            <a:ext cx="6035040" cy="1280160"/>
          </a:xfrm>
          <a:prstGeom prst="rect">
            <a:avLst/>
          </a:prstGeom>
          <a:noFill/>
          <a:ln/>
        </p:spPr>
        <p:txBody>
          <a:bodyPr wrap="square" lIns="0" tIns="0" rIns="0" bIns="0" rtlCol="0" anchor="t"/>
          <a:lstStyle/>
          <a:p>
            <a:pPr algn="l" indent="0" marL="0">
              <a:buNone/>
            </a:pPr>
            <a:r>
              <a:rPr lang="en-US" sz="2000" dirty="0">
                <a:solidFill>
                  <a:schemeClr val="accent6"/>
                </a:solidFill>
              </a:rPr>
              <a:t>Pipeline run · Terraform plan · Argo CD sync · kubectl · Prometheus targets · Grafana</a:t>
            </a:r>
            <a:endParaRPr lang="en-US" sz="2000" dirty="0"/>
          </a:p>
        </p:txBody>
      </p:sp>
      <p:sp>
        <p:nvSpPr>
          <p:cNvPr id="4" name="demo-badge-0-circle"/>
          <p:cNvSpPr/>
          <p:nvPr/>
        </p:nvSpPr>
        <p:spPr>
          <a:xfrm>
            <a:off x="7589520" y="1234440"/>
            <a:ext cx="411480" cy="411480"/>
          </a:xfrm>
          <a:prstGeom prst="ellipse">
            <a:avLst/>
          </a:prstGeom>
          <a:solidFill>
            <a:schemeClr val="accent1"/>
          </a:solidFill>
          <a:ln w="12700">
            <a:solidFill>
              <a:schemeClr val="accent1"/>
            </a:solidFill>
            <a:prstDash val="solid"/>
          </a:ln>
        </p:spPr>
      </p:sp>
      <p:pic>
        <p:nvPicPr>
          <p:cNvPr id="5" name="demo-badge-0-icon" descr="preencoded.png">    </p:cNvPr>
          <p:cNvPicPr>
            <a:picLocks noChangeAspect="1"/>
          </p:cNvPicPr>
          <p:nvPr/>
        </p:nvPicPr>
        <p:blipFill>
          <a:blip r:embed="rId1"/>
          <a:stretch>
            <a:fillRect/>
          </a:stretch>
        </p:blipFill>
        <p:spPr>
          <a:xfrm>
            <a:off x="7692390" y="1337310"/>
            <a:ext cx="205740" cy="205740"/>
          </a:xfrm>
          <a:prstGeom prst="rect">
            <a:avLst/>
          </a:prstGeom>
        </p:spPr>
      </p:pic>
      <p:sp>
        <p:nvSpPr>
          <p:cNvPr id="6" name="Text 3"/>
          <p:cNvSpPr txBox="1"/>
          <p:nvPr/>
        </p:nvSpPr>
        <p:spPr>
          <a:xfrm>
            <a:off x="8183880" y="1280160"/>
            <a:ext cx="3749040" cy="365760"/>
          </a:xfrm>
          <a:prstGeom prst="rect">
            <a:avLst/>
          </a:prstGeom>
          <a:noFill/>
          <a:ln/>
        </p:spPr>
        <p:txBody>
          <a:bodyPr wrap="square" lIns="0" tIns="0" rIns="0" bIns="0" rtlCol="0" anchor="ctr"/>
          <a:lstStyle/>
          <a:p>
            <a:pPr indent="0" marL="0">
              <a:buNone/>
            </a:pPr>
            <a:r>
              <a:rPr lang="en-US" sz="1500" dirty="0">
                <a:solidFill>
                  <a:schemeClr val="bg1"/>
                </a:solidFill>
              </a:rPr>
              <a:t>git push → GitHub Actions green</a:t>
            </a:r>
            <a:endParaRPr lang="en-US" sz="1500" dirty="0"/>
          </a:p>
        </p:txBody>
      </p:sp>
      <p:sp>
        <p:nvSpPr>
          <p:cNvPr id="7" name="demo-badge-1-circle"/>
          <p:cNvSpPr/>
          <p:nvPr/>
        </p:nvSpPr>
        <p:spPr>
          <a:xfrm>
            <a:off x="7589520" y="1947672"/>
            <a:ext cx="411480" cy="411480"/>
          </a:xfrm>
          <a:prstGeom prst="ellipse">
            <a:avLst/>
          </a:prstGeom>
          <a:solidFill>
            <a:schemeClr val="accent1"/>
          </a:solidFill>
          <a:ln w="12700">
            <a:solidFill>
              <a:schemeClr val="accent1"/>
            </a:solidFill>
            <a:prstDash val="solid"/>
          </a:ln>
        </p:spPr>
      </p:sp>
      <p:pic>
        <p:nvPicPr>
          <p:cNvPr id="8" name="demo-badge-1-icon" descr="preencoded.png">    </p:cNvPr>
          <p:cNvPicPr>
            <a:picLocks noChangeAspect="1"/>
          </p:cNvPicPr>
          <p:nvPr/>
        </p:nvPicPr>
        <p:blipFill>
          <a:blip r:embed="rId2"/>
          <a:stretch>
            <a:fillRect/>
          </a:stretch>
        </p:blipFill>
        <p:spPr>
          <a:xfrm>
            <a:off x="7692390" y="2050542"/>
            <a:ext cx="205740" cy="205740"/>
          </a:xfrm>
          <a:prstGeom prst="rect">
            <a:avLst/>
          </a:prstGeom>
        </p:spPr>
      </p:pic>
      <p:sp>
        <p:nvSpPr>
          <p:cNvPr id="9" name="Text 5"/>
          <p:cNvSpPr txBox="1"/>
          <p:nvPr/>
        </p:nvSpPr>
        <p:spPr>
          <a:xfrm>
            <a:off x="8183880" y="1993392"/>
            <a:ext cx="3749040" cy="365760"/>
          </a:xfrm>
          <a:prstGeom prst="rect">
            <a:avLst/>
          </a:prstGeom>
          <a:noFill/>
          <a:ln/>
        </p:spPr>
        <p:txBody>
          <a:bodyPr wrap="square" lIns="0" tIns="0" rIns="0" bIns="0" rtlCol="0" anchor="ctr"/>
          <a:lstStyle/>
          <a:p>
            <a:pPr indent="0" marL="0">
              <a:buNone/>
            </a:pPr>
            <a:r>
              <a:rPr lang="en-US" sz="1500" dirty="0">
                <a:solidFill>
                  <a:schemeClr val="bg1"/>
                </a:solidFill>
              </a:rPr>
              <a:t>terraform plan / AWS console</a:t>
            </a:r>
            <a:endParaRPr lang="en-US" sz="1500" dirty="0"/>
          </a:p>
        </p:txBody>
      </p:sp>
      <p:sp>
        <p:nvSpPr>
          <p:cNvPr id="10" name="demo-badge-2-circle"/>
          <p:cNvSpPr/>
          <p:nvPr/>
        </p:nvSpPr>
        <p:spPr>
          <a:xfrm>
            <a:off x="7589520" y="2660904"/>
            <a:ext cx="411480" cy="411480"/>
          </a:xfrm>
          <a:prstGeom prst="ellipse">
            <a:avLst/>
          </a:prstGeom>
          <a:solidFill>
            <a:schemeClr val="accent1"/>
          </a:solidFill>
          <a:ln w="12700">
            <a:solidFill>
              <a:schemeClr val="accent1"/>
            </a:solidFill>
            <a:prstDash val="solid"/>
          </a:ln>
        </p:spPr>
      </p:sp>
      <p:pic>
        <p:nvPicPr>
          <p:cNvPr id="11" name="demo-badge-2-icon" descr="preencoded.png">    </p:cNvPr>
          <p:cNvPicPr>
            <a:picLocks noChangeAspect="1"/>
          </p:cNvPicPr>
          <p:nvPr/>
        </p:nvPicPr>
        <p:blipFill>
          <a:blip r:embed="rId3"/>
          <a:stretch>
            <a:fillRect/>
          </a:stretch>
        </p:blipFill>
        <p:spPr>
          <a:xfrm>
            <a:off x="7692390" y="2763774"/>
            <a:ext cx="205740" cy="205740"/>
          </a:xfrm>
          <a:prstGeom prst="rect">
            <a:avLst/>
          </a:prstGeom>
        </p:spPr>
      </p:pic>
      <p:sp>
        <p:nvSpPr>
          <p:cNvPr id="12" name="Text 7"/>
          <p:cNvSpPr txBox="1"/>
          <p:nvPr/>
        </p:nvSpPr>
        <p:spPr>
          <a:xfrm>
            <a:off x="8183880" y="2706624"/>
            <a:ext cx="3749040" cy="365760"/>
          </a:xfrm>
          <a:prstGeom prst="rect">
            <a:avLst/>
          </a:prstGeom>
          <a:noFill/>
          <a:ln/>
        </p:spPr>
        <p:txBody>
          <a:bodyPr wrap="square" lIns="0" tIns="0" rIns="0" bIns="0" rtlCol="0" anchor="ctr"/>
          <a:lstStyle/>
          <a:p>
            <a:pPr indent="0" marL="0">
              <a:buNone/>
            </a:pPr>
            <a:r>
              <a:rPr lang="en-US" sz="1500" dirty="0">
                <a:solidFill>
                  <a:schemeClr val="bg1"/>
                </a:solidFill>
              </a:rPr>
              <a:t>Argo CD: Synced + Healthy</a:t>
            </a:r>
            <a:endParaRPr lang="en-US" sz="1500" dirty="0"/>
          </a:p>
        </p:txBody>
      </p:sp>
      <p:sp>
        <p:nvSpPr>
          <p:cNvPr id="13" name="demo-badge-3-circle"/>
          <p:cNvSpPr/>
          <p:nvPr/>
        </p:nvSpPr>
        <p:spPr>
          <a:xfrm>
            <a:off x="7589520" y="3374136"/>
            <a:ext cx="411480" cy="411480"/>
          </a:xfrm>
          <a:prstGeom prst="ellipse">
            <a:avLst/>
          </a:prstGeom>
          <a:solidFill>
            <a:schemeClr val="accent1"/>
          </a:solidFill>
          <a:ln w="12700">
            <a:solidFill>
              <a:schemeClr val="accent1"/>
            </a:solidFill>
            <a:prstDash val="solid"/>
          </a:ln>
        </p:spPr>
      </p:sp>
      <p:pic>
        <p:nvPicPr>
          <p:cNvPr id="14" name="demo-badge-3-icon" descr="preencoded.png">    </p:cNvPr>
          <p:cNvPicPr>
            <a:picLocks noChangeAspect="1"/>
          </p:cNvPicPr>
          <p:nvPr/>
        </p:nvPicPr>
        <p:blipFill>
          <a:blip r:embed="rId4"/>
          <a:stretch>
            <a:fillRect/>
          </a:stretch>
        </p:blipFill>
        <p:spPr>
          <a:xfrm>
            <a:off x="7692390" y="3477006"/>
            <a:ext cx="205740" cy="205740"/>
          </a:xfrm>
          <a:prstGeom prst="rect">
            <a:avLst/>
          </a:prstGeom>
        </p:spPr>
      </p:pic>
      <p:sp>
        <p:nvSpPr>
          <p:cNvPr id="15" name="Text 9"/>
          <p:cNvSpPr txBox="1"/>
          <p:nvPr/>
        </p:nvSpPr>
        <p:spPr>
          <a:xfrm>
            <a:off x="8183880" y="3419856"/>
            <a:ext cx="3749040" cy="365760"/>
          </a:xfrm>
          <a:prstGeom prst="rect">
            <a:avLst/>
          </a:prstGeom>
          <a:noFill/>
          <a:ln/>
        </p:spPr>
        <p:txBody>
          <a:bodyPr wrap="square" lIns="0" tIns="0" rIns="0" bIns="0" rtlCol="0" anchor="ctr"/>
          <a:lstStyle/>
          <a:p>
            <a:pPr indent="0" marL="0">
              <a:buNone/>
            </a:pPr>
            <a:r>
              <a:rPr lang="en-US" sz="1500" dirty="0">
                <a:solidFill>
                  <a:schemeClr val="bg1"/>
                </a:solidFill>
              </a:rPr>
              <a:t>kubectl get pods,svc,ingress,hpa</a:t>
            </a:r>
            <a:endParaRPr lang="en-US" sz="1500" dirty="0"/>
          </a:p>
        </p:txBody>
      </p:sp>
      <p:sp>
        <p:nvSpPr>
          <p:cNvPr id="16" name="demo-badge-4-circle"/>
          <p:cNvSpPr/>
          <p:nvPr/>
        </p:nvSpPr>
        <p:spPr>
          <a:xfrm>
            <a:off x="7589520" y="4087368"/>
            <a:ext cx="411480" cy="411480"/>
          </a:xfrm>
          <a:prstGeom prst="ellipse">
            <a:avLst/>
          </a:prstGeom>
          <a:solidFill>
            <a:schemeClr val="accent1"/>
          </a:solidFill>
          <a:ln w="12700">
            <a:solidFill>
              <a:schemeClr val="accent1"/>
            </a:solidFill>
            <a:prstDash val="solid"/>
          </a:ln>
        </p:spPr>
      </p:sp>
      <p:pic>
        <p:nvPicPr>
          <p:cNvPr id="17" name="demo-badge-4-icon" descr="preencoded.png">    </p:cNvPr>
          <p:cNvPicPr>
            <a:picLocks noChangeAspect="1"/>
          </p:cNvPicPr>
          <p:nvPr/>
        </p:nvPicPr>
        <p:blipFill>
          <a:blip r:embed="rId5"/>
          <a:stretch>
            <a:fillRect/>
          </a:stretch>
        </p:blipFill>
        <p:spPr>
          <a:xfrm>
            <a:off x="7692390" y="4190238"/>
            <a:ext cx="205740" cy="205740"/>
          </a:xfrm>
          <a:prstGeom prst="rect">
            <a:avLst/>
          </a:prstGeom>
        </p:spPr>
      </p:pic>
      <p:sp>
        <p:nvSpPr>
          <p:cNvPr id="18" name="Text 11"/>
          <p:cNvSpPr txBox="1"/>
          <p:nvPr/>
        </p:nvSpPr>
        <p:spPr>
          <a:xfrm>
            <a:off x="8183880" y="4133088"/>
            <a:ext cx="3749040" cy="365760"/>
          </a:xfrm>
          <a:prstGeom prst="rect">
            <a:avLst/>
          </a:prstGeom>
          <a:noFill/>
          <a:ln/>
        </p:spPr>
        <p:txBody>
          <a:bodyPr wrap="square" lIns="0" tIns="0" rIns="0" bIns="0" rtlCol="0" anchor="ctr"/>
          <a:lstStyle/>
          <a:p>
            <a:pPr indent="0" marL="0">
              <a:buNone/>
            </a:pPr>
            <a:r>
              <a:rPr lang="en-US" sz="1500" dirty="0">
                <a:solidFill>
                  <a:schemeClr val="bg1"/>
                </a:solidFill>
              </a:rPr>
              <a:t>Prometheus /targets: UP</a:t>
            </a:r>
            <a:endParaRPr lang="en-US" sz="1500" dirty="0"/>
          </a:p>
        </p:txBody>
      </p:sp>
      <p:sp>
        <p:nvSpPr>
          <p:cNvPr id="19" name="demo-badge-5-circle"/>
          <p:cNvSpPr/>
          <p:nvPr/>
        </p:nvSpPr>
        <p:spPr>
          <a:xfrm>
            <a:off x="7589520" y="4800600"/>
            <a:ext cx="411480" cy="411480"/>
          </a:xfrm>
          <a:prstGeom prst="ellipse">
            <a:avLst/>
          </a:prstGeom>
          <a:solidFill>
            <a:schemeClr val="accent1"/>
          </a:solidFill>
          <a:ln w="12700">
            <a:solidFill>
              <a:schemeClr val="accent1"/>
            </a:solidFill>
            <a:prstDash val="solid"/>
          </a:ln>
        </p:spPr>
      </p:sp>
      <p:pic>
        <p:nvPicPr>
          <p:cNvPr id="20" name="demo-badge-5-icon" descr="preencoded.png">    </p:cNvPr>
          <p:cNvPicPr>
            <a:picLocks noChangeAspect="1"/>
          </p:cNvPicPr>
          <p:nvPr/>
        </p:nvPicPr>
        <p:blipFill>
          <a:blip r:embed="rId6"/>
          <a:stretch>
            <a:fillRect/>
          </a:stretch>
        </p:blipFill>
        <p:spPr>
          <a:xfrm>
            <a:off x="7692390" y="4903470"/>
            <a:ext cx="205740" cy="205740"/>
          </a:xfrm>
          <a:prstGeom prst="rect">
            <a:avLst/>
          </a:prstGeom>
        </p:spPr>
      </p:pic>
      <p:sp>
        <p:nvSpPr>
          <p:cNvPr id="21" name="Text 13"/>
          <p:cNvSpPr txBox="1"/>
          <p:nvPr/>
        </p:nvSpPr>
        <p:spPr>
          <a:xfrm>
            <a:off x="8183880" y="4846320"/>
            <a:ext cx="3749040" cy="365760"/>
          </a:xfrm>
          <a:prstGeom prst="rect">
            <a:avLst/>
          </a:prstGeom>
          <a:noFill/>
          <a:ln/>
        </p:spPr>
        <p:txBody>
          <a:bodyPr wrap="square" lIns="0" tIns="0" rIns="0" bIns="0" rtlCol="0" anchor="ctr"/>
          <a:lstStyle/>
          <a:p>
            <a:pPr indent="0" marL="0">
              <a:buNone/>
            </a:pPr>
            <a:r>
              <a:rPr lang="en-US" sz="1500" dirty="0">
                <a:solidFill>
                  <a:schemeClr val="bg1"/>
                </a:solidFill>
              </a:rPr>
              <a:t>Grafana: live panels under load</a:t>
            </a:r>
            <a:endParaRPr lang="en-US" sz="1500" dirty="0"/>
          </a:p>
        </p:txBody>
      </p:sp>
      <p:sp>
        <p:nvSpPr>
          <p:cNvPr id="22" name="Text 14"/>
          <p:cNvSpPr txBox="1"/>
          <p:nvPr/>
        </p:nvSpPr>
        <p:spPr>
          <a:xfrm>
            <a:off x="548640" y="5669280"/>
            <a:ext cx="5486400" cy="365760"/>
          </a:xfrm>
          <a:prstGeom prst="rect">
            <a:avLst/>
          </a:prstGeom>
          <a:noFill/>
          <a:ln/>
        </p:spPr>
        <p:txBody>
          <a:bodyPr wrap="square" lIns="0" tIns="0" rIns="0" bIns="0" rtlCol="0" anchor="t"/>
          <a:lstStyle/>
          <a:p>
            <a:pPr indent="0" marL="0">
              <a:buNone/>
            </a:pPr>
            <a:r>
              <a:rPr lang="en-US" sz="1600" dirty="0">
                <a:solidFill>
                  <a:schemeClr val="bg1"/>
                </a:solidFill>
              </a:rPr>
              <a:t>Thank you  ·  Krish Jaiswal</a:t>
            </a:r>
            <a:endParaRPr lang="en-US" sz="1600" dirty="0"/>
          </a:p>
        </p:txBody>
      </p:sp>
    </p:spTree>
  </p:cSld>
  <p:clrMapOvr>
    <a:masterClrMapping/>
  </p:clrMapOvr>
</p:sld>
</file>

<file path=ppt/theme/theme1.xml><?xml version="1.0" encoding="utf-8"?>
<a:theme xmlns:a="http://schemas.openxmlformats.org/drawingml/2006/main" name="TaskBoard Ink">
  <a:themeElements>
    <a:clrScheme name="TaskBoard Ink">
      <a:dk1>
        <a:srgbClr val="101828"/>
      </a:dk1>
      <a:lt1>
        <a:srgbClr val="FFFFFF"/>
      </a:lt1>
      <a:dk2>
        <a:srgbClr val="475467"/>
      </a:dk2>
      <a:lt2>
        <a:srgbClr val="F2F4F7"/>
      </a:lt2>
      <a:accent1>
        <a:srgbClr val="12B886"/>
      </a:accent1>
      <a:accent2>
        <a:srgbClr val="F59F00"/>
      </a:accent2>
      <a:accent3>
        <a:srgbClr val="7C5CFF"/>
      </a:accent3>
      <a:accent4>
        <a:srgbClr val="E5484D"/>
      </a:accent4>
      <a:accent5>
        <a:srgbClr val="1F2A3D"/>
      </a:accent5>
      <a:accent6>
        <a:srgbClr val="98A2B3"/>
      </a:accent6>
      <a:hlink>
        <a:srgbClr val="12B886"/>
      </a:hlink>
      <a:folHlink>
        <a:srgbClr val="7C5CFF"/>
      </a:folHlink>
    </a:clrScheme>
    <a:fontScheme name="TaskBoard In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TaskBoard — DevSecOps Capstone</dc:title>
  <dc:subject>From laptop to a monitored, autoscaled Kubernetes cluster</dc:subject>
  <dc:creator>Krish Jaiswal</dc:creator>
  <cp:lastModifiedBy>Krish Jaiswal</cp:lastModifiedBy>
  <cp:revision>1</cp:revision>
  <dcterms:created xsi:type="dcterms:W3CDTF">2026-10-21T10:14:40Z</dcterms:created>
  <dcterms:modified xsi:type="dcterms:W3CDTF">2026-10-21T10:14:40Z</dcterms:modified>
</cp:coreProperties>
</file>